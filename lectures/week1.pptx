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4" r:id="rId1"/>
  </p:sldMasterIdLst>
  <p:notesMasterIdLst>
    <p:notesMasterId r:id="rId3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9" d="100"/>
          <a:sy n="49" d="100"/>
        </p:scale>
        <p:origin x="1512" y="4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4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84DBC-83C8-44E5-AAA4-6B20A1515A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104874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74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4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FAF73C-044D-4845-83A3-036647CC804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73C94-CB80-4577-A2FC-9F31AEA68CD7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857062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8754-9B9F-4EEF-B5BA-041F43416100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310231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5BA7A-546E-42E0-801D-73E21C5A782F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924207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1DBF-3BB9-46A2-845C-3993709514E2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90251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799D-2E60-4141-A40F-9B36E43E1BFB}" type="datetime1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07890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C2669-4B41-4CE2-9AE9-B6B6AC09120F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106129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14D5A-41EA-4375-9B19-3087565957F1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953359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82D1C-6E3C-47ED-91C1-57CBC91D510E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689013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FCFD-E956-4845-8A88-48B071A87EA6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985631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9D4B-DB09-4F2A-A7AF-E5D2956F62AA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827128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CF97-72FE-43A7-B5BB-910D4C15716B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710199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D631-7732-4C94-8494-B783C2D628D4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1803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0DF46-6E96-4D6D-BD41-8EA4A9BD0084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894798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F4D3-5905-4FB7-B8CB-7FE7BE326784}" type="datetime1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646755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EBE14-527F-4CB3-9E5C-7248B9ACEFB2}" type="datetime1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505871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4CAF-D099-4BA2-A503-885FA498C28B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329626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0A59-2032-4BC1-904C-1208E3D91F4D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424673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Holder 2"/>
          <p:cNvSpPr>
            <a:spLocks noGrp="1"/>
          </p:cNvSpPr>
          <p:nvPr>
            <p:ph type="ctrTitle"/>
          </p:nvPr>
        </p:nvSpPr>
        <p:spPr>
          <a:xfrm>
            <a:off x="904872" y="3413602"/>
            <a:ext cx="3472179" cy="155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1048729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48730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731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D672B-3887-4D7E-8EBF-1F8FA6304320}" type="datetime1">
              <a:rPr lang="en-US" smtClean="0"/>
              <a:t>1/28/2026</a:t>
            </a:fld>
            <a:endParaRPr lang="en-US"/>
          </a:p>
        </p:txBody>
      </p:sp>
      <p:sp>
        <p:nvSpPr>
          <p:cNvPr id="1048732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806993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A6DC7EE-9A40-43BF-822D-F25917CA5A24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272217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object 2"/>
          <p:cNvSpPr txBox="1">
            <a:spLocks noGrp="1"/>
          </p:cNvSpPr>
          <p:nvPr>
            <p:ph type="title"/>
          </p:nvPr>
        </p:nvSpPr>
        <p:spPr>
          <a:xfrm>
            <a:off x="533400" y="1720491"/>
            <a:ext cx="10820400" cy="88222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369695" marR="5080" indent="-1357630">
              <a:lnSpc>
                <a:spcPts val="6450"/>
              </a:lnSpc>
              <a:spcBef>
                <a:spcPts val="940"/>
              </a:spcBef>
            </a:pPr>
            <a:r>
              <a:rPr lang="en-US" sz="4800" dirty="0"/>
              <a:t>     Parallel and </a:t>
            </a:r>
            <a:r>
              <a:rPr sz="4800" dirty="0"/>
              <a:t>Distribute</a:t>
            </a:r>
            <a:r>
              <a:rPr lang="en-US" sz="4800" dirty="0"/>
              <a:t> </a:t>
            </a:r>
            <a:r>
              <a:rPr sz="4800" spc="-10" dirty="0"/>
              <a:t>Computing</a:t>
            </a:r>
            <a:endParaRPr sz="4800" dirty="0"/>
          </a:p>
        </p:txBody>
      </p:sp>
      <p:sp>
        <p:nvSpPr>
          <p:cNvPr id="104858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76876" y="6467712"/>
            <a:ext cx="1938323" cy="156068"/>
          </a:xfrm>
          <a:noFill/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10485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1</a:t>
            </a:fld>
            <a:endParaRPr lang="en-US" spc="-25" dirty="0"/>
          </a:p>
        </p:txBody>
      </p:sp>
      <p:sp>
        <p:nvSpPr>
          <p:cNvPr id="1048587" name="object 3"/>
          <p:cNvSpPr txBox="1"/>
          <p:nvPr/>
        </p:nvSpPr>
        <p:spPr>
          <a:xfrm>
            <a:off x="2971800" y="3513465"/>
            <a:ext cx="5798707" cy="18676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500" marR="1452880" indent="520700">
              <a:lnSpc>
                <a:spcPct val="1089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BS(CS)-</a:t>
            </a:r>
            <a:r>
              <a:rPr sz="2200" spc="-25" dirty="0">
                <a:latin typeface="Times New Roman"/>
                <a:cs typeface="Times New Roman"/>
              </a:rPr>
              <a:t>VII</a:t>
            </a:r>
            <a:r>
              <a:rPr lang="en-US" sz="2200" spc="-25" dirty="0">
                <a:latin typeface="Times New Roman"/>
                <a:cs typeface="Times New Roman"/>
              </a:rPr>
              <a:t>I</a:t>
            </a:r>
            <a:endParaRPr sz="2200" dirty="0">
              <a:latin typeface="Times New Roman"/>
              <a:cs typeface="Times New Roman"/>
            </a:endParaRPr>
          </a:p>
          <a:p>
            <a:pPr marL="1934845" marR="5080" indent="-1922780">
              <a:lnSpc>
                <a:spcPts val="2850"/>
              </a:lnSpc>
              <a:spcBef>
                <a:spcPts val="130"/>
              </a:spcBef>
            </a:pPr>
            <a:r>
              <a:rPr lang="en-US" sz="2200" dirty="0">
                <a:latin typeface="Times New Roman"/>
                <a:cs typeface="Times New Roman"/>
              </a:rPr>
              <a:t>      </a:t>
            </a:r>
            <a:r>
              <a:rPr sz="2200" dirty="0">
                <a:latin typeface="Times New Roman"/>
                <a:cs typeface="Times New Roman"/>
              </a:rPr>
              <a:t>Sukkur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IBA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University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Kandhkot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Campus </a:t>
            </a:r>
            <a:endParaRPr lang="en-US" sz="2200" spc="-10" dirty="0">
              <a:latin typeface="Times New Roman"/>
              <a:cs typeface="Times New Roman"/>
            </a:endParaRPr>
          </a:p>
          <a:p>
            <a:pPr marL="1934845" marR="5080" indent="-1922780">
              <a:lnSpc>
                <a:spcPts val="2850"/>
              </a:lnSpc>
              <a:spcBef>
                <a:spcPts val="130"/>
              </a:spcBef>
            </a:pPr>
            <a:r>
              <a:rPr lang="en-US" sz="2200" spc="-10" dirty="0">
                <a:latin typeface="Times New Roman"/>
                <a:cs typeface="Times New Roman"/>
              </a:rPr>
              <a:t>                               </a:t>
            </a:r>
            <a:r>
              <a:rPr sz="2200" dirty="0">
                <a:latin typeface="Times New Roman"/>
                <a:cs typeface="Times New Roman"/>
              </a:rPr>
              <a:t>Week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-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01</a:t>
            </a:r>
            <a:endParaRPr sz="2200" dirty="0">
              <a:latin typeface="Times New Roman"/>
              <a:cs typeface="Times New Roman"/>
            </a:endParaRPr>
          </a:p>
          <a:p>
            <a:pPr marL="956310" marR="947419" indent="532130">
              <a:lnSpc>
                <a:spcPts val="2850"/>
              </a:lnSpc>
            </a:pPr>
            <a:r>
              <a:rPr lang="en-US" sz="2200" dirty="0">
                <a:latin typeface="Times New Roman"/>
                <a:cs typeface="Times New Roman"/>
              </a:rPr>
              <a:t>    </a:t>
            </a:r>
            <a:r>
              <a:rPr sz="2200" dirty="0">
                <a:latin typeface="Times New Roman"/>
                <a:cs typeface="Times New Roman"/>
              </a:rPr>
              <a:t>Lecture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 01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lang="en-US" sz="2200" spc="-25" dirty="0">
                <a:latin typeface="Times New Roman"/>
                <a:cs typeface="Times New Roman"/>
              </a:rPr>
              <a:t>– 03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endParaRPr lang="en-US" sz="2200" spc="-25" dirty="0">
              <a:latin typeface="Times New Roman"/>
              <a:cs typeface="Times New Roman"/>
            </a:endParaRPr>
          </a:p>
          <a:p>
            <a:pPr marL="956310" marR="947419" indent="532130">
              <a:lnSpc>
                <a:spcPts val="2850"/>
              </a:lnSpc>
            </a:pPr>
            <a:r>
              <a:rPr lang="en-US" sz="2200" dirty="0">
                <a:latin typeface="Times New Roman"/>
                <a:cs typeface="Times New Roman"/>
              </a:rPr>
              <a:t>Instructor Mr. Raees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2842260">
              <a:lnSpc>
                <a:spcPct val="100000"/>
              </a:lnSpc>
              <a:spcBef>
                <a:spcPts val="100"/>
              </a:spcBef>
            </a:pPr>
            <a:r>
              <a:rPr dirty="0"/>
              <a:t>About</a:t>
            </a:r>
            <a:r>
              <a:rPr spc="-135" dirty="0"/>
              <a:t> </a:t>
            </a:r>
            <a:r>
              <a:rPr spc="-10" dirty="0"/>
              <a:t>Course</a:t>
            </a:r>
          </a:p>
        </p:txBody>
      </p:sp>
      <p:sp>
        <p:nvSpPr>
          <p:cNvPr id="1048595" name="object 5"/>
          <p:cNvSpPr txBox="1">
            <a:spLocks noGrp="1"/>
          </p:cNvSpPr>
          <p:nvPr>
            <p:ph type="ftr" sz="quarter" idx="11"/>
          </p:nvPr>
        </p:nvSpPr>
        <p:spPr>
          <a:xfrm>
            <a:off x="5376876" y="6467713"/>
            <a:ext cx="178592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59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pic>
        <p:nvPicPr>
          <p:cNvPr id="2097153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76568" y="2039145"/>
            <a:ext cx="5838813" cy="4076691"/>
          </a:xfrm>
          <a:prstGeom prst="rect">
            <a:avLst/>
          </a:prstGeom>
        </p:spPr>
      </p:pic>
      <p:pic>
        <p:nvPicPr>
          <p:cNvPr id="2097154" name="object 4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374" y="247579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2350770">
              <a:lnSpc>
                <a:spcPct val="100000"/>
              </a:lnSpc>
              <a:spcBef>
                <a:spcPts val="100"/>
              </a:spcBef>
            </a:pPr>
            <a:r>
              <a:rPr dirty="0"/>
              <a:t>Course</a:t>
            </a:r>
            <a:r>
              <a:rPr spc="-15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1048599" name="object 5"/>
          <p:cNvSpPr txBox="1">
            <a:spLocks noGrp="1"/>
          </p:cNvSpPr>
          <p:nvPr>
            <p:ph type="ftr" sz="quarter" idx="11"/>
          </p:nvPr>
        </p:nvSpPr>
        <p:spPr>
          <a:xfrm>
            <a:off x="5376876" y="6467713"/>
            <a:ext cx="170972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00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048598" name="object 3"/>
          <p:cNvSpPr txBox="1"/>
          <p:nvPr/>
        </p:nvSpPr>
        <p:spPr>
          <a:xfrm>
            <a:off x="911223" y="1721383"/>
            <a:ext cx="9486265" cy="3013646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study:</a:t>
            </a:r>
            <a:endParaRPr sz="2800" dirty="0">
              <a:latin typeface="Times New Roman"/>
              <a:cs typeface="Times New Roman"/>
            </a:endParaRPr>
          </a:p>
          <a:p>
            <a:pPr marL="240029" indent="-174625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Fundamental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Concepts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lang="en-US" sz="2800" spc="-30" dirty="0">
                <a:latin typeface="Times New Roman"/>
                <a:cs typeface="Times New Roman"/>
              </a:rPr>
              <a:t>Parallel, </a:t>
            </a:r>
            <a:r>
              <a:rPr sz="2800" dirty="0">
                <a:latin typeface="Times New Roman"/>
                <a:cs typeface="Times New Roman"/>
              </a:rPr>
              <a:t>distributed,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grid,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cluster,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Cloud</a:t>
            </a:r>
            <a:r>
              <a:rPr lang="en-US" sz="2800" spc="-2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Computing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utility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computing architectures</a:t>
            </a:r>
            <a:endParaRPr sz="2800" dirty="0">
              <a:latin typeface="Times New Roman"/>
              <a:cs typeface="Times New Roman"/>
            </a:endParaRPr>
          </a:p>
          <a:p>
            <a:pPr marL="240029" indent="-17462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Virtualization, containerization, and </a:t>
            </a:r>
            <a:r>
              <a:rPr sz="2800" spc="-10" dirty="0">
                <a:latin typeface="Times New Roman"/>
                <a:cs typeface="Times New Roman"/>
              </a:rPr>
              <a:t>dockerization</a:t>
            </a:r>
            <a:endParaRPr sz="2800" dirty="0">
              <a:latin typeface="Times New Roman"/>
              <a:cs typeface="Times New Roman"/>
            </a:endParaRPr>
          </a:p>
          <a:p>
            <a:pPr marL="240029" indent="-17462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Working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different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cloud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storage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models</a:t>
            </a:r>
            <a:endParaRPr sz="2800" dirty="0">
              <a:latin typeface="Times New Roman"/>
              <a:cs typeface="Times New Roman"/>
            </a:endParaRPr>
          </a:p>
          <a:p>
            <a:pPr marL="240029" indent="-17462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MapReduce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Spark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platforms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2097155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2188210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spc="-195" dirty="0"/>
              <a:t> </a:t>
            </a:r>
            <a:r>
              <a:rPr spc="-10" dirty="0"/>
              <a:t>Outcomes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9F65BD-BA91-12E2-B61F-6E1FCF753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1048604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048602" name="object 3"/>
          <p:cNvSpPr txBox="1"/>
          <p:nvPr/>
        </p:nvSpPr>
        <p:spPr>
          <a:xfrm>
            <a:off x="964545" y="1802663"/>
            <a:ext cx="10201275" cy="428117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86690" marR="5080" indent="-174625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87960" algn="l"/>
              </a:tabLst>
            </a:pPr>
            <a:r>
              <a:rPr sz="2800" dirty="0">
                <a:latin typeface="Times New Roman"/>
                <a:cs typeface="Times New Roman"/>
              </a:rPr>
              <a:t>Define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explain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fundamental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ideas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behind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Cloud</a:t>
            </a:r>
            <a:r>
              <a:rPr sz="2800" spc="-10" dirty="0">
                <a:latin typeface="Times New Roman"/>
                <a:cs typeface="Times New Roman"/>
              </a:rPr>
              <a:t> Computing, 	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evolution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paradigm,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applicability;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benefits;</a:t>
            </a:r>
            <a:r>
              <a:rPr sz="2800" spc="-20" dirty="0">
                <a:latin typeface="Times New Roman"/>
                <a:cs typeface="Times New Roman"/>
              </a:rPr>
              <a:t> Also 	</a:t>
            </a:r>
            <a:r>
              <a:rPr sz="2800" dirty="0">
                <a:latin typeface="Times New Roman"/>
                <a:cs typeface="Times New Roman"/>
              </a:rPr>
              <a:t>understand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Cloud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Services,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deployment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models,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SLAs</a:t>
            </a:r>
            <a:r>
              <a:rPr sz="2800" spc="-25" dirty="0">
                <a:latin typeface="Times New Roman"/>
                <a:cs typeface="Times New Roman"/>
              </a:rPr>
              <a:t> and 	</a:t>
            </a:r>
            <a:r>
              <a:rPr sz="2800" spc="-10" dirty="0">
                <a:latin typeface="Times New Roman"/>
                <a:cs typeface="Times New Roman"/>
              </a:rPr>
              <a:t>SLOs.</a:t>
            </a:r>
            <a:endParaRPr sz="2800">
              <a:latin typeface="Times New Roman"/>
              <a:cs typeface="Times New Roman"/>
            </a:endParaRPr>
          </a:p>
          <a:p>
            <a:pPr marL="186690" marR="727710" indent="-174625">
              <a:lnSpc>
                <a:spcPts val="3050"/>
              </a:lnSpc>
              <a:spcBef>
                <a:spcPts val="960"/>
              </a:spcBef>
              <a:buFont typeface="Arial"/>
              <a:buChar char="•"/>
              <a:tabLst>
                <a:tab pos="187960" algn="l"/>
              </a:tabLst>
            </a:pPr>
            <a:r>
              <a:rPr sz="2800" dirty="0">
                <a:latin typeface="Times New Roman"/>
                <a:cs typeface="Times New Roman"/>
              </a:rPr>
              <a:t>Understand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importance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Virtualization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containerization 	</a:t>
            </a:r>
            <a:r>
              <a:rPr sz="2800" dirty="0">
                <a:latin typeface="Times New Roman"/>
                <a:cs typeface="Times New Roman"/>
              </a:rPr>
              <a:t>technologies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cloud.</a:t>
            </a:r>
            <a:endParaRPr sz="2800">
              <a:latin typeface="Times New Roman"/>
              <a:cs typeface="Times New Roman"/>
            </a:endParaRPr>
          </a:p>
          <a:p>
            <a:pPr marL="186690" marR="615950" indent="-174625">
              <a:lnSpc>
                <a:spcPts val="3050"/>
              </a:lnSpc>
              <a:spcBef>
                <a:spcPts val="950"/>
              </a:spcBef>
              <a:buFont typeface="Arial"/>
              <a:buChar char="•"/>
              <a:tabLst>
                <a:tab pos="187960" algn="l"/>
              </a:tabLst>
            </a:pPr>
            <a:r>
              <a:rPr sz="2800" dirty="0">
                <a:latin typeface="Times New Roman"/>
                <a:cs typeface="Times New Roman"/>
              </a:rPr>
              <a:t>Describe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implement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source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private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cloud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platform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using 	OpenStack.</a:t>
            </a:r>
            <a:endParaRPr sz="2800">
              <a:latin typeface="Times New Roman"/>
              <a:cs typeface="Times New Roman"/>
            </a:endParaRPr>
          </a:p>
          <a:p>
            <a:pPr marL="186690" marR="363855" indent="-174625">
              <a:lnSpc>
                <a:spcPts val="3050"/>
              </a:lnSpc>
              <a:spcBef>
                <a:spcPts val="950"/>
              </a:spcBef>
              <a:buFont typeface="Arial"/>
              <a:buChar char="•"/>
              <a:tabLst>
                <a:tab pos="187960" algn="l"/>
              </a:tabLst>
            </a:pP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understand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different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cloud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storage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services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	</a:t>
            </a:r>
            <a:r>
              <a:rPr sz="2800" dirty="0">
                <a:latin typeface="Times New Roman"/>
                <a:cs typeface="Times New Roman"/>
              </a:rPr>
              <a:t>distributed cloud programming </a:t>
            </a:r>
            <a:r>
              <a:rPr sz="2800" spc="-10" dirty="0">
                <a:latin typeface="Times New Roman"/>
                <a:cs typeface="Times New Roman"/>
              </a:rPr>
              <a:t>models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97156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1923414">
              <a:lnSpc>
                <a:spcPct val="100000"/>
              </a:lnSpc>
              <a:spcBef>
                <a:spcPts val="100"/>
              </a:spcBef>
            </a:pPr>
            <a:r>
              <a:rPr dirty="0"/>
              <a:t>Recommended</a:t>
            </a:r>
            <a:r>
              <a:rPr spc="-65" dirty="0"/>
              <a:t> </a:t>
            </a:r>
            <a:r>
              <a:rPr spc="-10" dirty="0"/>
              <a:t>Books</a:t>
            </a:r>
          </a:p>
        </p:txBody>
      </p:sp>
      <p:sp>
        <p:nvSpPr>
          <p:cNvPr id="1048607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08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048606" name="object 3"/>
          <p:cNvSpPr txBox="1"/>
          <p:nvPr/>
        </p:nvSpPr>
        <p:spPr>
          <a:xfrm>
            <a:off x="964545" y="1802663"/>
            <a:ext cx="9470390" cy="2590453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86690" marR="454659" indent="-174625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8796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Salim Hariri , Manish </a:t>
            </a:r>
            <a:r>
              <a:rPr lang="en-US" sz="2800" dirty="0" err="1">
                <a:latin typeface="Times New Roman"/>
                <a:cs typeface="Times New Roman"/>
              </a:rPr>
              <a:t>Parachar</a:t>
            </a:r>
            <a:r>
              <a:rPr lang="en-US" sz="2800" dirty="0">
                <a:latin typeface="Times New Roman"/>
                <a:cs typeface="Times New Roman"/>
              </a:rPr>
              <a:t> Tools and Environments for Parallel and Distributed Computing </a:t>
            </a:r>
          </a:p>
          <a:p>
            <a:pPr marL="186690" marR="454659" indent="-174625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87960" algn="l"/>
              </a:tabLst>
            </a:pPr>
            <a:r>
              <a:rPr sz="2800" dirty="0">
                <a:latin typeface="Times New Roman"/>
                <a:cs typeface="Times New Roman"/>
              </a:rPr>
              <a:t>K.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Hwang,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G.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Fox,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J.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Dongarra,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Distributed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Cloud 	</a:t>
            </a:r>
            <a:r>
              <a:rPr sz="2800" dirty="0">
                <a:latin typeface="Times New Roman"/>
                <a:cs typeface="Times New Roman"/>
              </a:rPr>
              <a:t>Computing: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Parallel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Internet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Things</a:t>
            </a:r>
            <a:endParaRPr sz="2800" dirty="0">
              <a:latin typeface="Times New Roman"/>
              <a:cs typeface="Times New Roman"/>
            </a:endParaRPr>
          </a:p>
          <a:p>
            <a:pPr marL="186690" marR="5080" indent="-174625">
              <a:lnSpc>
                <a:spcPts val="3050"/>
              </a:lnSpc>
              <a:spcBef>
                <a:spcPts val="960"/>
              </a:spcBef>
              <a:buFont typeface="Arial"/>
              <a:buChar char="•"/>
              <a:tabLst>
                <a:tab pos="187960" algn="l"/>
              </a:tabLst>
            </a:pPr>
            <a:r>
              <a:rPr sz="2800" dirty="0">
                <a:latin typeface="Times New Roman"/>
                <a:cs typeface="Times New Roman"/>
              </a:rPr>
              <a:t>R.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Buyya,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J.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Broberg,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A.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Goscinski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(eds),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Cloud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Computing: 	</a:t>
            </a:r>
            <a:r>
              <a:rPr sz="2800" dirty="0">
                <a:latin typeface="Times New Roman"/>
                <a:cs typeface="Times New Roman"/>
              </a:rPr>
              <a:t>Principles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Paradigms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2097157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2766060">
              <a:lnSpc>
                <a:spcPct val="100000"/>
              </a:lnSpc>
              <a:spcBef>
                <a:spcPts val="100"/>
              </a:spcBef>
            </a:pPr>
            <a:r>
              <a:rPr dirty="0"/>
              <a:t>Grading</a:t>
            </a:r>
            <a:r>
              <a:rPr spc="-180" dirty="0"/>
              <a:t> </a:t>
            </a:r>
            <a:r>
              <a:rPr spc="-10" dirty="0"/>
              <a:t>Policy</a:t>
            </a:r>
          </a:p>
        </p:txBody>
      </p:sp>
      <p:sp>
        <p:nvSpPr>
          <p:cNvPr id="1048610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11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graphicFrame>
        <p:nvGraphicFramePr>
          <p:cNvPr id="419430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679884"/>
              </p:ext>
            </p:extLst>
          </p:nvPr>
        </p:nvGraphicFramePr>
        <p:xfrm>
          <a:off x="831848" y="1819271"/>
          <a:ext cx="10515600" cy="22250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</a:rPr>
                        <a:t>Theory</a:t>
                      </a:r>
                      <a:endParaRPr sz="1800" dirty="0">
                        <a:latin typeface="Carlito"/>
                        <a:cs typeface="Carlito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/>
                        <a:t>Mid</a:t>
                      </a:r>
                      <a:r>
                        <a:rPr sz="1800" spc="-30" dirty="0"/>
                        <a:t> </a:t>
                      </a:r>
                      <a:r>
                        <a:rPr sz="1800" dirty="0"/>
                        <a:t>–</a:t>
                      </a:r>
                      <a:r>
                        <a:rPr sz="1800" spc="-30" dirty="0"/>
                        <a:t> </a:t>
                      </a:r>
                      <a:r>
                        <a:rPr sz="1800" spc="-50" dirty="0"/>
                        <a:t>I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US" sz="1800" dirty="0"/>
                        <a:t>3</a:t>
                      </a:r>
                      <a:r>
                        <a:rPr sz="1800" dirty="0"/>
                        <a:t>0</a:t>
                      </a:r>
                      <a:r>
                        <a:rPr sz="1800" spc="-30" dirty="0"/>
                        <a:t> </a:t>
                      </a:r>
                      <a:r>
                        <a:rPr sz="1800" spc="-50" dirty="0"/>
                        <a:t>%</a:t>
                      </a:r>
                      <a:endParaRPr sz="1800" dirty="0">
                        <a:latin typeface="Carlito"/>
                        <a:cs typeface="Carlito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/>
                        <a:t>Assignment</a:t>
                      </a:r>
                      <a:r>
                        <a:rPr lang="en-US" sz="1800" spc="-10" dirty="0"/>
                        <a:t>, Presentation</a:t>
                      </a:r>
                      <a:endParaRPr sz="1800" dirty="0">
                        <a:latin typeface="Carlito"/>
                        <a:cs typeface="Carlito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/>
                        <a:t>10</a:t>
                      </a:r>
                      <a:r>
                        <a:rPr sz="1800" spc="-30" dirty="0"/>
                        <a:t> </a:t>
                      </a:r>
                      <a:r>
                        <a:rPr sz="1800" spc="-50" dirty="0"/>
                        <a:t>%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/>
                        <a:t>Quiz</a:t>
                      </a:r>
                      <a:endParaRPr sz="1800" dirty="0">
                        <a:latin typeface="Carlito"/>
                        <a:cs typeface="Carlito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/>
                        <a:t>10%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/>
                        <a:t>Final</a:t>
                      </a:r>
                      <a:endParaRPr sz="1800" dirty="0">
                        <a:latin typeface="Carlito"/>
                        <a:cs typeface="Carlito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US" sz="1800" dirty="0"/>
                        <a:t>5</a:t>
                      </a:r>
                      <a:r>
                        <a:rPr sz="1800" dirty="0"/>
                        <a:t>0</a:t>
                      </a:r>
                      <a:r>
                        <a:rPr sz="1800" spc="-30" dirty="0"/>
                        <a:t> </a:t>
                      </a:r>
                      <a:r>
                        <a:rPr sz="1800" spc="-50" dirty="0"/>
                        <a:t>%</a:t>
                      </a:r>
                      <a:endParaRPr sz="1800" dirty="0">
                        <a:latin typeface="Carlito"/>
                        <a:cs typeface="Carlito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/>
                        <a:t>Total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/>
                        <a:t>100</a:t>
                      </a:r>
                      <a:r>
                        <a:rPr sz="1800" b="1" spc="-45" dirty="0"/>
                        <a:t> </a:t>
                      </a:r>
                      <a:r>
                        <a:rPr sz="1800" b="1" spc="-50" dirty="0"/>
                        <a:t>%</a:t>
                      </a:r>
                      <a:endParaRPr sz="1800" dirty="0">
                        <a:latin typeface="Carlito"/>
                        <a:cs typeface="Carlito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097158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object 2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06490" y="2217320"/>
            <a:ext cx="2920620" cy="3285698"/>
          </a:xfrm>
          <a:prstGeom prst="rect">
            <a:avLst/>
          </a:prstGeom>
        </p:spPr>
      </p:pic>
      <p:pic>
        <p:nvPicPr>
          <p:cNvPr id="2097160" name="object 3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1048615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16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35306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Agenda</a:t>
            </a:r>
          </a:p>
        </p:txBody>
      </p:sp>
      <p:sp>
        <p:nvSpPr>
          <p:cNvPr id="1048619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20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048618" name="object 3"/>
          <p:cNvSpPr txBox="1"/>
          <p:nvPr/>
        </p:nvSpPr>
        <p:spPr>
          <a:xfrm>
            <a:off x="972178" y="1718287"/>
            <a:ext cx="9687560" cy="365600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179705" algn="l"/>
              </a:tabLst>
            </a:pP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overview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Computing</a:t>
            </a:r>
            <a:endParaRPr sz="32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89900"/>
              </a:lnSpc>
              <a:spcBef>
                <a:spcPts val="994"/>
              </a:spcBef>
              <a:buFont typeface="Arial"/>
              <a:buChar char="•"/>
              <a:tabLst>
                <a:tab pos="180340" algn="l"/>
              </a:tabLst>
            </a:pPr>
            <a:r>
              <a:rPr sz="3200" dirty="0">
                <a:latin typeface="Times New Roman"/>
                <a:cs typeface="Times New Roman"/>
              </a:rPr>
              <a:t>Trends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Computing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distinguish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Cloud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previous generations)</a:t>
            </a:r>
            <a:endParaRPr sz="2400">
              <a:latin typeface="Times New Roman"/>
              <a:cs typeface="Times New Roman"/>
            </a:endParaRPr>
          </a:p>
          <a:p>
            <a:pPr marL="636270" lvl="1" indent="-17462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36270" algn="l"/>
              </a:tabLst>
            </a:pPr>
            <a:r>
              <a:rPr sz="2800" dirty="0">
                <a:latin typeface="Times New Roman"/>
                <a:cs typeface="Times New Roman"/>
              </a:rPr>
              <a:t>Distributed </a:t>
            </a:r>
            <a:r>
              <a:rPr sz="2800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636270" lvl="1" indent="-174625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636270" algn="l"/>
              </a:tabLst>
            </a:pPr>
            <a:r>
              <a:rPr sz="2800" dirty="0">
                <a:latin typeface="Times New Roman"/>
                <a:cs typeface="Times New Roman"/>
              </a:rPr>
              <a:t>Grid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636270" lvl="1" indent="-174625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636270" algn="l"/>
              </a:tabLst>
            </a:pPr>
            <a:r>
              <a:rPr sz="2800" dirty="0">
                <a:latin typeface="Times New Roman"/>
                <a:cs typeface="Times New Roman"/>
              </a:rPr>
              <a:t>Cluster </a:t>
            </a:r>
            <a:r>
              <a:rPr sz="2800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636270" lvl="1" indent="-174625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636270" algn="l"/>
              </a:tabLst>
            </a:pPr>
            <a:r>
              <a:rPr sz="2800" dirty="0">
                <a:latin typeface="Times New Roman"/>
                <a:cs typeface="Times New Roman"/>
              </a:rPr>
              <a:t>Utility </a:t>
            </a:r>
            <a:r>
              <a:rPr sz="2800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636270" lvl="1" indent="-174625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636270" algn="l"/>
              </a:tabLst>
            </a:pPr>
            <a:r>
              <a:rPr sz="2800" dirty="0">
                <a:latin typeface="Times New Roman"/>
                <a:cs typeface="Times New Roman"/>
              </a:rPr>
              <a:t>Cloud </a:t>
            </a:r>
            <a:r>
              <a:rPr sz="2800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97161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208978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80" dirty="0"/>
              <a:t> </a:t>
            </a:r>
            <a:r>
              <a:rPr dirty="0"/>
              <a:t>is</a:t>
            </a:r>
            <a:r>
              <a:rPr spc="-80" dirty="0"/>
              <a:t> </a:t>
            </a:r>
            <a:r>
              <a:rPr spc="-10" dirty="0"/>
              <a:t>Computing?</a:t>
            </a:r>
          </a:p>
        </p:txBody>
      </p:sp>
      <p:sp>
        <p:nvSpPr>
          <p:cNvPr id="1048623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24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048622" name="object 3"/>
          <p:cNvSpPr txBox="1"/>
          <p:nvPr/>
        </p:nvSpPr>
        <p:spPr>
          <a:xfrm>
            <a:off x="1168830" y="1802663"/>
            <a:ext cx="9908540" cy="83311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86690" marR="5080" indent="-174625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854325" algn="l"/>
              </a:tabLst>
            </a:pPr>
            <a:r>
              <a:rPr sz="2800" b="1" dirty="0">
                <a:latin typeface="Times New Roman"/>
                <a:cs typeface="Times New Roman"/>
              </a:rPr>
              <a:t>Computing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activity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computers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process, 	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communicate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information.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97162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2028825">
              <a:lnSpc>
                <a:spcPct val="100000"/>
              </a:lnSpc>
              <a:spcBef>
                <a:spcPts val="100"/>
              </a:spcBef>
            </a:pPr>
            <a:r>
              <a:rPr dirty="0"/>
              <a:t>Trends</a:t>
            </a:r>
            <a:r>
              <a:rPr spc="-100" dirty="0"/>
              <a:t> </a:t>
            </a:r>
            <a:r>
              <a:rPr dirty="0"/>
              <a:t>in</a:t>
            </a:r>
            <a:r>
              <a:rPr spc="-10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1048627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28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048626" name="object 3"/>
          <p:cNvSpPr txBox="1"/>
          <p:nvPr/>
        </p:nvSpPr>
        <p:spPr>
          <a:xfrm>
            <a:off x="945875" y="1802663"/>
            <a:ext cx="3737610" cy="3563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975" indent="-422275">
              <a:lnSpc>
                <a:spcPct val="100000"/>
              </a:lnSpc>
              <a:spcBef>
                <a:spcPts val="100"/>
              </a:spcBef>
              <a:buSzPct val="64285"/>
              <a:buFont typeface="Arial"/>
              <a:buChar char="•"/>
              <a:tabLst>
                <a:tab pos="434975" algn="l"/>
              </a:tabLst>
            </a:pPr>
            <a:r>
              <a:rPr sz="2800" dirty="0">
                <a:latin typeface="Times New Roman"/>
                <a:cs typeface="Times New Roman"/>
              </a:rPr>
              <a:t>Distributed </a:t>
            </a:r>
            <a:r>
              <a:rPr sz="2800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spcBef>
                <a:spcPts val="2040"/>
              </a:spcBef>
              <a:buSzPct val="64285"/>
              <a:buFont typeface="Arial"/>
              <a:buChar char="•"/>
              <a:tabLst>
                <a:tab pos="434975" algn="l"/>
              </a:tabLst>
            </a:pPr>
            <a:r>
              <a:rPr sz="2800" dirty="0">
                <a:latin typeface="Times New Roman"/>
                <a:cs typeface="Times New Roman"/>
              </a:rPr>
              <a:t>Cluster </a:t>
            </a:r>
            <a:r>
              <a:rPr sz="2800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spcBef>
                <a:spcPts val="2040"/>
              </a:spcBef>
              <a:buSzPct val="64285"/>
              <a:buFont typeface="Arial"/>
              <a:buChar char="•"/>
              <a:tabLst>
                <a:tab pos="434975" algn="l"/>
              </a:tabLst>
            </a:pPr>
            <a:r>
              <a:rPr sz="2800" dirty="0">
                <a:latin typeface="Times New Roman"/>
                <a:cs typeface="Times New Roman"/>
              </a:rPr>
              <a:t>Grid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spcBef>
                <a:spcPts val="2040"/>
              </a:spcBef>
              <a:buSzPct val="64285"/>
              <a:buFont typeface="Arial"/>
              <a:buChar char="•"/>
              <a:tabLst>
                <a:tab pos="434975" algn="l"/>
              </a:tabLst>
            </a:pPr>
            <a:r>
              <a:rPr sz="2800" dirty="0">
                <a:latin typeface="Times New Roman"/>
                <a:cs typeface="Times New Roman"/>
              </a:rPr>
              <a:t>Utility </a:t>
            </a:r>
            <a:r>
              <a:rPr sz="2800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spcBef>
                <a:spcPts val="2040"/>
              </a:spcBef>
              <a:buSzPct val="64285"/>
              <a:buFont typeface="Arial"/>
              <a:buChar char="•"/>
              <a:tabLst>
                <a:tab pos="434975" algn="l"/>
              </a:tabLst>
            </a:pPr>
            <a:r>
              <a:rPr sz="2800" dirty="0">
                <a:latin typeface="Times New Roman"/>
                <a:cs typeface="Times New Roman"/>
              </a:rPr>
              <a:t>Cloud </a:t>
            </a:r>
            <a:r>
              <a:rPr sz="2800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97163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object 2"/>
          <p:cNvSpPr txBox="1">
            <a:spLocks noGrp="1"/>
          </p:cNvSpPr>
          <p:nvPr>
            <p:ph type="title"/>
          </p:nvPr>
        </p:nvSpPr>
        <p:spPr>
          <a:xfrm>
            <a:off x="2551018" y="3588885"/>
            <a:ext cx="7069455" cy="181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Distributed</a:t>
            </a:r>
            <a:r>
              <a:rPr sz="6000" spc="-55" dirty="0"/>
              <a:t> </a:t>
            </a:r>
            <a:r>
              <a:rPr sz="6000" spc="-10" dirty="0"/>
              <a:t>Computing</a:t>
            </a:r>
            <a:endParaRPr sz="6000"/>
          </a:p>
        </p:txBody>
      </p:sp>
      <p:sp>
        <p:nvSpPr>
          <p:cNvPr id="1048630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31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pic>
        <p:nvPicPr>
          <p:cNvPr id="2097164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18053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Distributed</a:t>
            </a:r>
            <a:r>
              <a:rPr spc="-15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1048634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35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048633" name="object 3"/>
          <p:cNvSpPr txBox="1"/>
          <p:nvPr/>
        </p:nvSpPr>
        <p:spPr>
          <a:xfrm>
            <a:off x="946477" y="1773960"/>
            <a:ext cx="5001895" cy="45732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indent="-192405">
              <a:lnSpc>
                <a:spcPts val="1895"/>
              </a:lnSpc>
              <a:spcBef>
                <a:spcPts val="100"/>
              </a:spcBef>
              <a:buFont typeface="Arial"/>
              <a:buChar char="•"/>
              <a:tabLst>
                <a:tab pos="205104" algn="l"/>
                <a:tab pos="1431290" algn="l"/>
                <a:tab pos="2604135" algn="l"/>
                <a:tab pos="2929255" algn="l"/>
                <a:tab pos="3645535" algn="l"/>
                <a:tab pos="4009390" algn="l"/>
              </a:tabLst>
            </a:pPr>
            <a:r>
              <a:rPr sz="1850" spc="-10" dirty="0">
                <a:latin typeface="Times New Roman"/>
                <a:cs typeface="Times New Roman"/>
              </a:rPr>
              <a:t>Distributed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10" dirty="0">
                <a:latin typeface="Times New Roman"/>
                <a:cs typeface="Times New Roman"/>
              </a:rPr>
              <a:t>computing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10" dirty="0">
                <a:latin typeface="Times New Roman"/>
                <a:cs typeface="Times New Roman"/>
              </a:rPr>
              <a:t>group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of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10" dirty="0">
                <a:latin typeface="Times New Roman"/>
                <a:cs typeface="Times New Roman"/>
              </a:rPr>
              <a:t>computers</a:t>
            </a:r>
            <a:endParaRPr sz="1850">
              <a:latin typeface="Times New Roman"/>
              <a:cs typeface="Times New Roman"/>
            </a:endParaRPr>
          </a:p>
          <a:p>
            <a:pPr marL="205740" marR="7620">
              <a:lnSpc>
                <a:spcPct val="70900"/>
              </a:lnSpc>
              <a:spcBef>
                <a:spcPts val="320"/>
              </a:spcBef>
            </a:pPr>
            <a:r>
              <a:rPr sz="1850" dirty="0">
                <a:latin typeface="Times New Roman"/>
                <a:cs typeface="Times New Roman"/>
              </a:rPr>
              <a:t>working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together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as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appear</a:t>
            </a:r>
            <a:r>
              <a:rPr sz="1850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as</a:t>
            </a:r>
            <a:r>
              <a:rPr sz="1850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a</a:t>
            </a:r>
            <a:r>
              <a:rPr sz="1850" spc="-3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single</a:t>
            </a:r>
            <a:r>
              <a:rPr sz="1850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BF0000"/>
                </a:solidFill>
                <a:latin typeface="Times New Roman"/>
                <a:cs typeface="Times New Roman"/>
              </a:rPr>
              <a:t>computer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end</a:t>
            </a:r>
            <a:r>
              <a:rPr sz="1850" spc="-20" dirty="0">
                <a:latin typeface="Times New Roman"/>
                <a:cs typeface="Times New Roman"/>
              </a:rPr>
              <a:t> user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50">
              <a:latin typeface="Times New Roman"/>
              <a:cs typeface="Times New Roman"/>
            </a:endParaRPr>
          </a:p>
          <a:p>
            <a:pPr marL="205104" indent="-192405">
              <a:lnSpc>
                <a:spcPts val="2135"/>
              </a:lnSpc>
              <a:buFont typeface="Arial"/>
              <a:buChar char="•"/>
              <a:tabLst>
                <a:tab pos="205104" algn="l"/>
              </a:tabLst>
            </a:pPr>
            <a:r>
              <a:rPr sz="1850" spc="-10" dirty="0">
                <a:latin typeface="Times New Roman"/>
                <a:cs typeface="Times New Roman"/>
              </a:rPr>
              <a:t>Wikipedia</a:t>
            </a:r>
            <a:endParaRPr sz="1850">
              <a:latin typeface="Times New Roman"/>
              <a:cs typeface="Times New Roman"/>
            </a:endParaRPr>
          </a:p>
          <a:p>
            <a:pPr marL="661670" marR="36830" lvl="1" indent="-192405">
              <a:lnSpc>
                <a:spcPct val="68700"/>
              </a:lnSpc>
              <a:spcBef>
                <a:spcPts val="610"/>
              </a:spcBef>
              <a:buFont typeface="Arial"/>
              <a:buChar char="•"/>
              <a:tabLst>
                <a:tab pos="662940" algn="l"/>
              </a:tabLst>
            </a:pPr>
            <a:r>
              <a:rPr sz="1850" dirty="0">
                <a:latin typeface="Times New Roman"/>
                <a:cs typeface="Times New Roman"/>
              </a:rPr>
              <a:t>Several</a:t>
            </a:r>
            <a:r>
              <a:rPr sz="1850" spc="355" dirty="0"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autonomous</a:t>
            </a:r>
            <a:r>
              <a:rPr sz="1850" spc="35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computational</a:t>
            </a:r>
            <a:r>
              <a:rPr sz="1850" spc="34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BF0000"/>
                </a:solidFill>
                <a:latin typeface="Times New Roman"/>
                <a:cs typeface="Times New Roman"/>
              </a:rPr>
              <a:t>entities</a:t>
            </a:r>
            <a:r>
              <a:rPr sz="1850" spc="-10" dirty="0">
                <a:latin typeface="Times New Roman"/>
                <a:cs typeface="Times New Roman"/>
              </a:rPr>
              <a:t>, 	</a:t>
            </a:r>
            <a:r>
              <a:rPr sz="1850" dirty="0">
                <a:latin typeface="Times New Roman"/>
                <a:cs typeface="Times New Roman"/>
              </a:rPr>
              <a:t>each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which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has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its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own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local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memory.</a:t>
            </a:r>
            <a:endParaRPr sz="1850">
              <a:latin typeface="Times New Roman"/>
              <a:cs typeface="Times New Roman"/>
            </a:endParaRPr>
          </a:p>
          <a:p>
            <a:pPr marL="661670" marR="8890" lvl="1" indent="-192405">
              <a:lnSpc>
                <a:spcPct val="68700"/>
              </a:lnSpc>
              <a:spcBef>
                <a:spcPts val="550"/>
              </a:spcBef>
              <a:buFont typeface="Arial"/>
              <a:buChar char="•"/>
              <a:tabLst>
                <a:tab pos="662940" algn="l"/>
              </a:tabLst>
            </a:pP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entities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communicate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with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each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other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by 	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message</a:t>
            </a:r>
            <a:r>
              <a:rPr sz="1850" spc="-10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BF0000"/>
                </a:solidFill>
                <a:latin typeface="Times New Roman"/>
                <a:cs typeface="Times New Roman"/>
              </a:rPr>
              <a:t>passing</a:t>
            </a:r>
            <a:r>
              <a:rPr sz="1850" spc="-10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75"/>
              </a:spcBef>
              <a:buFont typeface="Arial"/>
              <a:buChar char="•"/>
            </a:pPr>
            <a:endParaRPr sz="1850">
              <a:latin typeface="Times New Roman"/>
              <a:cs typeface="Times New Roman"/>
            </a:endParaRPr>
          </a:p>
          <a:p>
            <a:pPr marL="205104" indent="-192405" algn="just">
              <a:lnSpc>
                <a:spcPts val="2135"/>
              </a:lnSpc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Operating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System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Concept</a:t>
            </a:r>
            <a:endParaRPr sz="1850">
              <a:latin typeface="Times New Roman"/>
              <a:cs typeface="Times New Roman"/>
            </a:endParaRPr>
          </a:p>
          <a:p>
            <a:pPr marL="661670" marR="5080" lvl="1" indent="-192405" algn="just">
              <a:lnSpc>
                <a:spcPct val="69800"/>
              </a:lnSpc>
              <a:spcBef>
                <a:spcPts val="590"/>
              </a:spcBef>
              <a:buFont typeface="Arial"/>
              <a:buChar char="•"/>
              <a:tabLst>
                <a:tab pos="662940" algn="l"/>
              </a:tabLst>
            </a:pP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425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processors</a:t>
            </a:r>
            <a:r>
              <a:rPr sz="1850" spc="430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communicate</a:t>
            </a:r>
            <a:r>
              <a:rPr sz="1850" spc="430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with</a:t>
            </a:r>
            <a:r>
              <a:rPr sz="1850" spc="430" dirty="0">
                <a:latin typeface="Times New Roman"/>
                <a:cs typeface="Times New Roman"/>
              </a:rPr>
              <a:t>  </a:t>
            </a:r>
            <a:r>
              <a:rPr sz="1850" spc="-25" dirty="0">
                <a:latin typeface="Times New Roman"/>
                <a:cs typeface="Times New Roman"/>
              </a:rPr>
              <a:t>one 	</a:t>
            </a:r>
            <a:r>
              <a:rPr sz="1850" dirty="0">
                <a:latin typeface="Times New Roman"/>
                <a:cs typeface="Times New Roman"/>
              </a:rPr>
              <a:t>another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through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various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communication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lines, 	</a:t>
            </a:r>
            <a:r>
              <a:rPr sz="1850" dirty="0">
                <a:latin typeface="Times New Roman"/>
                <a:cs typeface="Times New Roman"/>
              </a:rPr>
              <a:t>such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as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high-</a:t>
            </a:r>
            <a:r>
              <a:rPr sz="1850" dirty="0">
                <a:latin typeface="Times New Roman"/>
                <a:cs typeface="Times New Roman"/>
              </a:rPr>
              <a:t>speed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buses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telephone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lines.</a:t>
            </a:r>
            <a:endParaRPr sz="1850">
              <a:latin typeface="Times New Roman"/>
              <a:cs typeface="Times New Roman"/>
            </a:endParaRPr>
          </a:p>
          <a:p>
            <a:pPr marL="661670" lvl="1" indent="-192405" algn="just">
              <a:lnSpc>
                <a:spcPts val="2075"/>
              </a:lnSpc>
              <a:buFont typeface="Arial"/>
              <a:buChar char="•"/>
              <a:tabLst>
                <a:tab pos="661670" algn="l"/>
              </a:tabLst>
            </a:pPr>
            <a:r>
              <a:rPr sz="1850" dirty="0">
                <a:latin typeface="Times New Roman"/>
                <a:cs typeface="Times New Roman"/>
              </a:rPr>
              <a:t>Each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processor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has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its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own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local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memory.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2097165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2097166" name="object 5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72187" y="2413495"/>
            <a:ext cx="5185889" cy="29633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33166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Examples</a:t>
            </a:r>
          </a:p>
        </p:txBody>
      </p:sp>
      <p:sp>
        <p:nvSpPr>
          <p:cNvPr id="1048638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39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048637" name="object 3"/>
          <p:cNvSpPr txBox="1"/>
          <p:nvPr/>
        </p:nvSpPr>
        <p:spPr>
          <a:xfrm>
            <a:off x="964545" y="1802663"/>
            <a:ext cx="3439160" cy="262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</a:pPr>
            <a:r>
              <a:rPr sz="2800" spc="-10" dirty="0">
                <a:latin typeface="Times New Roman"/>
                <a:cs typeface="Times New Roman"/>
              </a:rPr>
              <a:t>Internet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20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ATM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(bank)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machines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20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spc="-10" dirty="0">
                <a:latin typeface="Times New Roman"/>
                <a:cs typeface="Times New Roman"/>
              </a:rPr>
              <a:t>Intranets/Workgroups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97167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8499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447675">
              <a:lnSpc>
                <a:spcPct val="100000"/>
              </a:lnSpc>
              <a:spcBef>
                <a:spcPts val="100"/>
              </a:spcBef>
            </a:pPr>
            <a:r>
              <a:rPr dirty="0"/>
              <a:t>Computers</a:t>
            </a:r>
            <a:r>
              <a:rPr spc="-114" dirty="0"/>
              <a:t> </a:t>
            </a:r>
            <a:r>
              <a:rPr dirty="0"/>
              <a:t>in</a:t>
            </a:r>
            <a:r>
              <a:rPr spc="-114" dirty="0"/>
              <a:t> </a:t>
            </a:r>
            <a:r>
              <a:rPr dirty="0"/>
              <a:t>a</a:t>
            </a:r>
            <a:r>
              <a:rPr spc="-114" dirty="0"/>
              <a:t> </a:t>
            </a:r>
            <a:r>
              <a:rPr spc="-10" dirty="0"/>
              <a:t>Distributed</a:t>
            </a:r>
            <a:r>
              <a:rPr spc="-114" dirty="0"/>
              <a:t> </a:t>
            </a:r>
            <a:r>
              <a:rPr spc="-10" dirty="0"/>
              <a:t>System</a:t>
            </a:r>
          </a:p>
        </p:txBody>
      </p:sp>
      <p:sp>
        <p:nvSpPr>
          <p:cNvPr id="1048642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43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048641" name="object 3"/>
          <p:cNvSpPr txBox="1"/>
          <p:nvPr/>
        </p:nvSpPr>
        <p:spPr>
          <a:xfrm>
            <a:off x="964545" y="1773858"/>
            <a:ext cx="9892665" cy="399478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187325" algn="l"/>
              </a:tabLst>
            </a:pPr>
            <a:r>
              <a:rPr sz="2800" i="1" spc="-10" dirty="0">
                <a:latin typeface="Times New Roman"/>
                <a:cs typeface="Times New Roman"/>
              </a:rPr>
              <a:t>Workstations</a:t>
            </a:r>
            <a:r>
              <a:rPr sz="2800" spc="-1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643255" lvl="1" indent="-18161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Computers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end-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users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computing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93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i="1" dirty="0">
                <a:latin typeface="Times New Roman"/>
                <a:cs typeface="Times New Roman"/>
              </a:rPr>
              <a:t>erver</a:t>
            </a:r>
            <a:r>
              <a:rPr sz="2800" i="1" spc="-50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Systems</a:t>
            </a:r>
            <a:r>
              <a:rPr sz="2800" spc="-1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643255" lvl="1" indent="-181610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Computers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provide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resources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services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93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buFont typeface="Arial"/>
              <a:buChar char="•"/>
              <a:tabLst>
                <a:tab pos="187325" algn="l"/>
              </a:tabLst>
            </a:pPr>
            <a:r>
              <a:rPr sz="2800" i="1" dirty="0">
                <a:latin typeface="Times New Roman"/>
                <a:cs typeface="Times New Roman"/>
              </a:rPr>
              <a:t>Personal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Assistance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Devices</a:t>
            </a:r>
            <a:r>
              <a:rPr sz="2800" spc="-1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643255" marR="5080" lvl="1" indent="-181610">
              <a:lnSpc>
                <a:spcPts val="2570"/>
              </a:lnSpc>
              <a:spcBef>
                <a:spcPts val="590"/>
              </a:spcBef>
              <a:buFont typeface="Arial"/>
              <a:buChar char="•"/>
              <a:tabLst>
                <a:tab pos="645160" algn="l"/>
              </a:tabLst>
            </a:pPr>
            <a:r>
              <a:rPr sz="2400" dirty="0">
                <a:latin typeface="Times New Roman"/>
                <a:cs typeface="Times New Roman"/>
              </a:rPr>
              <a:t>Handheld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connected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via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wireless </a:t>
            </a:r>
            <a:r>
              <a:rPr sz="2400" spc="-10" dirty="0">
                <a:latin typeface="Times New Roman"/>
                <a:cs typeface="Times New Roman"/>
              </a:rPr>
              <a:t>communication 	link.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097168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7843" rIns="0" bIns="0" rtlCol="0">
            <a:spAutoFit/>
          </a:bodyPr>
          <a:lstStyle/>
          <a:p>
            <a:pPr marL="1805305" marR="5080" indent="8890">
              <a:lnSpc>
                <a:spcPts val="4720"/>
              </a:lnSpc>
              <a:spcBef>
                <a:spcPts val="720"/>
              </a:spcBef>
            </a:pPr>
            <a:r>
              <a:rPr dirty="0"/>
              <a:t>Common</a:t>
            </a:r>
            <a:r>
              <a:rPr spc="-215" dirty="0"/>
              <a:t> </a:t>
            </a:r>
            <a:r>
              <a:rPr dirty="0"/>
              <a:t>properties</a:t>
            </a:r>
            <a:r>
              <a:rPr spc="-215" dirty="0"/>
              <a:t> </a:t>
            </a:r>
            <a:r>
              <a:rPr spc="-25" dirty="0"/>
              <a:t>of </a:t>
            </a:r>
            <a:r>
              <a:rPr spc="-10" dirty="0"/>
              <a:t>Distributed</a:t>
            </a:r>
            <a:r>
              <a:rPr spc="-15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1048646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47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1048645" name="object 3"/>
          <p:cNvSpPr txBox="1"/>
          <p:nvPr/>
        </p:nvSpPr>
        <p:spPr>
          <a:xfrm>
            <a:off x="960537" y="1743136"/>
            <a:ext cx="9418320" cy="447547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91770" indent="-179070">
              <a:lnSpc>
                <a:spcPts val="2970"/>
              </a:lnSpc>
              <a:spcBef>
                <a:spcPts val="140"/>
              </a:spcBef>
              <a:buFont typeface="Arial"/>
              <a:buChar char="•"/>
              <a:tabLst>
                <a:tab pos="191770" algn="l"/>
              </a:tabLst>
            </a:pPr>
            <a:r>
              <a:rPr sz="2550" dirty="0">
                <a:latin typeface="Times New Roman"/>
                <a:cs typeface="Times New Roman"/>
              </a:rPr>
              <a:t>Fault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tolerance</a:t>
            </a:r>
            <a:endParaRPr sz="2550">
              <a:latin typeface="Times New Roman"/>
              <a:cs typeface="Times New Roman"/>
            </a:endParaRPr>
          </a:p>
          <a:p>
            <a:pPr marL="647700" lvl="1" indent="-192405">
              <a:lnSpc>
                <a:spcPts val="2130"/>
              </a:lnSpc>
              <a:buFont typeface="Arial"/>
              <a:buChar char="•"/>
              <a:tabLst>
                <a:tab pos="647700" algn="l"/>
              </a:tabLst>
            </a:pPr>
            <a:r>
              <a:rPr sz="1850" dirty="0">
                <a:latin typeface="Times New Roman"/>
                <a:cs typeface="Times New Roman"/>
              </a:rPr>
              <a:t>When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one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some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nodes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fails,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whole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185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can</a:t>
            </a:r>
            <a:r>
              <a:rPr sz="185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still</a:t>
            </a:r>
            <a:r>
              <a:rPr sz="185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work</a:t>
            </a:r>
            <a:r>
              <a:rPr sz="185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fine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except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performance.</a:t>
            </a:r>
            <a:endParaRPr sz="1850">
              <a:latin typeface="Times New Roman"/>
              <a:cs typeface="Times New Roman"/>
            </a:endParaRPr>
          </a:p>
          <a:p>
            <a:pPr marL="191770" indent="-179070">
              <a:lnSpc>
                <a:spcPts val="2955"/>
              </a:lnSpc>
              <a:spcBef>
                <a:spcPts val="100"/>
              </a:spcBef>
              <a:buFont typeface="Arial"/>
              <a:buChar char="•"/>
              <a:tabLst>
                <a:tab pos="191770" algn="l"/>
              </a:tabLst>
            </a:pPr>
            <a:r>
              <a:rPr sz="2550" dirty="0">
                <a:latin typeface="Times New Roman"/>
                <a:cs typeface="Times New Roman"/>
              </a:rPr>
              <a:t>Each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node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play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partial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20" dirty="0">
                <a:latin typeface="Times New Roman"/>
                <a:cs typeface="Times New Roman"/>
              </a:rPr>
              <a:t>role</a:t>
            </a:r>
            <a:endParaRPr sz="2550">
              <a:latin typeface="Times New Roman"/>
              <a:cs typeface="Times New Roman"/>
            </a:endParaRPr>
          </a:p>
          <a:p>
            <a:pPr marL="647700" lvl="1" indent="-192405">
              <a:lnSpc>
                <a:spcPts val="2020"/>
              </a:lnSpc>
              <a:buFont typeface="Arial"/>
              <a:buChar char="•"/>
              <a:tabLst>
                <a:tab pos="647700" algn="l"/>
              </a:tabLst>
            </a:pPr>
            <a:r>
              <a:rPr sz="1850" dirty="0">
                <a:latin typeface="Times New Roman"/>
                <a:cs typeface="Times New Roman"/>
              </a:rPr>
              <a:t>Each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computer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has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only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limited,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incomplete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view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system.</a:t>
            </a:r>
            <a:endParaRPr sz="1850">
              <a:latin typeface="Times New Roman"/>
              <a:cs typeface="Times New Roman"/>
            </a:endParaRPr>
          </a:p>
          <a:p>
            <a:pPr marL="647700" lvl="1" indent="-192405">
              <a:lnSpc>
                <a:spcPts val="2120"/>
              </a:lnSpc>
              <a:buFont typeface="Arial"/>
              <a:buChar char="•"/>
              <a:tabLst>
                <a:tab pos="647700" algn="l"/>
              </a:tabLst>
            </a:pPr>
            <a:r>
              <a:rPr sz="1850" dirty="0">
                <a:latin typeface="Times New Roman"/>
                <a:cs typeface="Times New Roman"/>
              </a:rPr>
              <a:t>Each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computer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may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know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only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one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part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input.</a:t>
            </a:r>
            <a:endParaRPr sz="1850">
              <a:latin typeface="Times New Roman"/>
              <a:cs typeface="Times New Roman"/>
            </a:endParaRPr>
          </a:p>
          <a:p>
            <a:pPr marL="191770" indent="-179070">
              <a:lnSpc>
                <a:spcPts val="2955"/>
              </a:lnSpc>
              <a:spcBef>
                <a:spcPts val="105"/>
              </a:spcBef>
              <a:buFont typeface="Arial"/>
              <a:buChar char="•"/>
              <a:tabLst>
                <a:tab pos="191770" algn="l"/>
              </a:tabLst>
            </a:pPr>
            <a:r>
              <a:rPr sz="2550" dirty="0">
                <a:latin typeface="Times New Roman"/>
                <a:cs typeface="Times New Roman"/>
              </a:rPr>
              <a:t>Resource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sharing</a:t>
            </a:r>
            <a:endParaRPr sz="2550">
              <a:latin typeface="Times New Roman"/>
              <a:cs typeface="Times New Roman"/>
            </a:endParaRPr>
          </a:p>
          <a:p>
            <a:pPr marL="647700" lvl="1" indent="-192405">
              <a:lnSpc>
                <a:spcPts val="2115"/>
              </a:lnSpc>
              <a:buFont typeface="Arial"/>
              <a:buChar char="•"/>
              <a:tabLst>
                <a:tab pos="647700" algn="l"/>
              </a:tabLst>
            </a:pPr>
            <a:r>
              <a:rPr sz="1850" dirty="0">
                <a:latin typeface="Times New Roman"/>
                <a:cs typeface="Times New Roman"/>
              </a:rPr>
              <a:t>Each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user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can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share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computing</a:t>
            </a:r>
            <a:r>
              <a:rPr sz="185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power</a:t>
            </a:r>
            <a:r>
              <a:rPr sz="185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185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storage</a:t>
            </a:r>
            <a:r>
              <a:rPr sz="185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resource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system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with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other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users</a:t>
            </a:r>
            <a:endParaRPr sz="1850">
              <a:latin typeface="Times New Roman"/>
              <a:cs typeface="Times New Roman"/>
            </a:endParaRPr>
          </a:p>
          <a:p>
            <a:pPr marL="191770" indent="-179070">
              <a:lnSpc>
                <a:spcPts val="2955"/>
              </a:lnSpc>
              <a:spcBef>
                <a:spcPts val="100"/>
              </a:spcBef>
              <a:buFont typeface="Arial"/>
              <a:buChar char="•"/>
              <a:tabLst>
                <a:tab pos="191770" algn="l"/>
              </a:tabLst>
            </a:pPr>
            <a:r>
              <a:rPr sz="2550" dirty="0">
                <a:latin typeface="Times New Roman"/>
                <a:cs typeface="Times New Roman"/>
              </a:rPr>
              <a:t>Load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Sharing</a:t>
            </a:r>
            <a:endParaRPr sz="2550">
              <a:latin typeface="Times New Roman"/>
              <a:cs typeface="Times New Roman"/>
            </a:endParaRPr>
          </a:p>
          <a:p>
            <a:pPr marL="647700" lvl="1" indent="-192405">
              <a:lnSpc>
                <a:spcPts val="2115"/>
              </a:lnSpc>
              <a:buFont typeface="Arial"/>
              <a:buChar char="•"/>
              <a:tabLst>
                <a:tab pos="647700" algn="l"/>
              </a:tabLst>
            </a:pPr>
            <a:r>
              <a:rPr sz="1850" dirty="0">
                <a:latin typeface="Times New Roman"/>
                <a:cs typeface="Times New Roman"/>
              </a:rPr>
              <a:t>Dispatching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several</a:t>
            </a:r>
            <a:r>
              <a:rPr sz="185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tasks</a:t>
            </a:r>
            <a:r>
              <a:rPr sz="185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each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nodes</a:t>
            </a:r>
            <a:r>
              <a:rPr sz="185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can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help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share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loading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whole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system.</a:t>
            </a:r>
            <a:endParaRPr sz="1850">
              <a:latin typeface="Times New Roman"/>
              <a:cs typeface="Times New Roman"/>
            </a:endParaRPr>
          </a:p>
          <a:p>
            <a:pPr marL="191770" indent="-179070">
              <a:lnSpc>
                <a:spcPts val="2955"/>
              </a:lnSpc>
              <a:spcBef>
                <a:spcPts val="105"/>
              </a:spcBef>
              <a:buFont typeface="Arial"/>
              <a:buChar char="•"/>
              <a:tabLst>
                <a:tab pos="191770" algn="l"/>
              </a:tabLst>
            </a:pPr>
            <a:r>
              <a:rPr sz="2550" dirty="0">
                <a:latin typeface="Times New Roman"/>
                <a:cs typeface="Times New Roman"/>
              </a:rPr>
              <a:t>Easy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expand</a:t>
            </a:r>
            <a:endParaRPr sz="2550">
              <a:latin typeface="Times New Roman"/>
              <a:cs typeface="Times New Roman"/>
            </a:endParaRPr>
          </a:p>
          <a:p>
            <a:pPr marL="647700" lvl="1" indent="-192405">
              <a:lnSpc>
                <a:spcPts val="2115"/>
              </a:lnSpc>
              <a:buFont typeface="Arial"/>
              <a:buChar char="•"/>
              <a:tabLst>
                <a:tab pos="647700" algn="l"/>
              </a:tabLst>
            </a:pPr>
            <a:r>
              <a:rPr sz="1850" dirty="0">
                <a:latin typeface="Times New Roman"/>
                <a:cs typeface="Times New Roman"/>
              </a:rPr>
              <a:t>We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expect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few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time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when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adding</a:t>
            </a:r>
            <a:r>
              <a:rPr sz="185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nodes</a:t>
            </a:r>
            <a:r>
              <a:rPr sz="1850" dirty="0">
                <a:latin typeface="Times New Roman"/>
                <a:cs typeface="Times New Roman"/>
              </a:rPr>
              <a:t>.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Hope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spend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no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time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if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possible.</a:t>
            </a:r>
            <a:endParaRPr sz="1850">
              <a:latin typeface="Times New Roman"/>
              <a:cs typeface="Times New Roman"/>
            </a:endParaRPr>
          </a:p>
          <a:p>
            <a:pPr marL="191770" indent="-179070">
              <a:lnSpc>
                <a:spcPts val="2955"/>
              </a:lnSpc>
              <a:spcBef>
                <a:spcPts val="100"/>
              </a:spcBef>
              <a:buFont typeface="Arial"/>
              <a:buChar char="•"/>
              <a:tabLst>
                <a:tab pos="191770" algn="l"/>
              </a:tabLst>
            </a:pPr>
            <a:r>
              <a:rPr sz="2550" spc="-10" dirty="0">
                <a:latin typeface="Times New Roman"/>
                <a:cs typeface="Times New Roman"/>
              </a:rPr>
              <a:t>Performance</a:t>
            </a:r>
            <a:endParaRPr sz="2550">
              <a:latin typeface="Times New Roman"/>
              <a:cs typeface="Times New Roman"/>
            </a:endParaRPr>
          </a:p>
          <a:p>
            <a:pPr marL="647700" lvl="1" indent="-192405">
              <a:lnSpc>
                <a:spcPts val="2115"/>
              </a:lnSpc>
              <a:buFont typeface="Arial"/>
              <a:buChar char="•"/>
              <a:tabLst>
                <a:tab pos="647700" algn="l"/>
              </a:tabLst>
            </a:pPr>
            <a:r>
              <a:rPr sz="1850" dirty="0">
                <a:latin typeface="Times New Roman"/>
                <a:cs typeface="Times New Roman"/>
              </a:rPr>
              <a:t>Parallel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computing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can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considered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subset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distributed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computing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2097169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109093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85" dirty="0"/>
              <a:t> </a:t>
            </a:r>
            <a:r>
              <a:rPr spc="-10" dirty="0"/>
              <a:t>Distributed</a:t>
            </a:r>
            <a:r>
              <a:rPr spc="-80" dirty="0"/>
              <a:t> </a:t>
            </a:r>
            <a:r>
              <a:rPr spc="-10" dirty="0"/>
              <a:t>Computing?</a:t>
            </a:r>
          </a:p>
        </p:txBody>
      </p:sp>
      <p:sp>
        <p:nvSpPr>
          <p:cNvPr id="1048650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51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048649" name="object 3"/>
          <p:cNvSpPr txBox="1"/>
          <p:nvPr/>
        </p:nvSpPr>
        <p:spPr>
          <a:xfrm>
            <a:off x="960537" y="1743136"/>
            <a:ext cx="10265410" cy="406410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91770" indent="-179070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191770" algn="l"/>
              </a:tabLst>
            </a:pPr>
            <a:r>
              <a:rPr sz="2550" dirty="0">
                <a:latin typeface="Times New Roman"/>
                <a:cs typeface="Times New Roman"/>
              </a:rPr>
              <a:t>Nature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of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application</a:t>
            </a:r>
            <a:endParaRPr sz="25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•"/>
            </a:pPr>
            <a:endParaRPr sz="2550" dirty="0">
              <a:latin typeface="Times New Roman"/>
              <a:cs typeface="Times New Roman"/>
            </a:endParaRPr>
          </a:p>
          <a:p>
            <a:pPr marL="191770" indent="-179070">
              <a:lnSpc>
                <a:spcPts val="2905"/>
              </a:lnSpc>
              <a:buFont typeface="Arial"/>
              <a:buChar char="•"/>
              <a:tabLst>
                <a:tab pos="191770" algn="l"/>
              </a:tabLst>
            </a:pPr>
            <a:r>
              <a:rPr sz="2550" spc="-10" dirty="0">
                <a:latin typeface="Times New Roman"/>
                <a:cs typeface="Times New Roman"/>
              </a:rPr>
              <a:t>Performance</a:t>
            </a:r>
            <a:endParaRPr sz="2550" dirty="0">
              <a:latin typeface="Times New Roman"/>
              <a:cs typeface="Times New Roman"/>
            </a:endParaRPr>
          </a:p>
          <a:p>
            <a:pPr marL="647700" lvl="1" indent="-185420">
              <a:lnSpc>
                <a:spcPts val="2415"/>
              </a:lnSpc>
              <a:buFont typeface="Arial"/>
              <a:buChar char="•"/>
              <a:tabLst>
                <a:tab pos="647700" algn="l"/>
              </a:tabLst>
            </a:pPr>
            <a:r>
              <a:rPr sz="2200" dirty="0">
                <a:latin typeface="Times New Roman"/>
                <a:cs typeface="Times New Roman"/>
              </a:rPr>
              <a:t>Computing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intensive</a:t>
            </a:r>
            <a:endParaRPr sz="2200" dirty="0">
              <a:latin typeface="Times New Roman"/>
              <a:cs typeface="Times New Roman"/>
            </a:endParaRPr>
          </a:p>
          <a:p>
            <a:pPr marL="1104900" marR="33020" lvl="2" indent="-192405">
              <a:lnSpc>
                <a:spcPct val="68700"/>
              </a:lnSpc>
              <a:spcBef>
                <a:spcPts val="625"/>
              </a:spcBef>
              <a:buFont typeface="Arial"/>
              <a:buChar char="•"/>
              <a:tabLst>
                <a:tab pos="1106170" algn="l"/>
              </a:tabLst>
            </a:pP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task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could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consume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lot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time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computing.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example,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Computation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Pi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value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using 	</a:t>
            </a:r>
            <a:r>
              <a:rPr sz="1850" dirty="0">
                <a:latin typeface="Times New Roman"/>
                <a:cs typeface="Times New Roman"/>
              </a:rPr>
              <a:t>Monte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Carlo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simulation</a:t>
            </a:r>
            <a:endParaRPr sz="1850" dirty="0">
              <a:latin typeface="Times New Roman"/>
              <a:cs typeface="Times New Roman"/>
            </a:endParaRPr>
          </a:p>
          <a:p>
            <a:pPr marL="647700" lvl="1" indent="-185420">
              <a:lnSpc>
                <a:spcPts val="2325"/>
              </a:lnSpc>
              <a:buFont typeface="Arial"/>
              <a:buChar char="•"/>
              <a:tabLst>
                <a:tab pos="647700" algn="l"/>
              </a:tabLst>
            </a:pP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intensive</a:t>
            </a:r>
            <a:endParaRPr sz="2200" dirty="0">
              <a:latin typeface="Times New Roman"/>
              <a:cs typeface="Times New Roman"/>
            </a:endParaRPr>
          </a:p>
          <a:p>
            <a:pPr marL="1104900" marR="5080" lvl="2" indent="-192405">
              <a:lnSpc>
                <a:spcPct val="68700"/>
              </a:lnSpc>
              <a:spcBef>
                <a:spcPts val="625"/>
              </a:spcBef>
              <a:buFont typeface="Arial"/>
              <a:buChar char="•"/>
              <a:tabLst>
                <a:tab pos="1106170" algn="l"/>
              </a:tabLst>
            </a:pP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task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deals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with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large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amount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large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size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files.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example,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Facebook,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LHC(Large 	</a:t>
            </a:r>
            <a:r>
              <a:rPr sz="1850" dirty="0">
                <a:latin typeface="Times New Roman"/>
                <a:cs typeface="Times New Roman"/>
              </a:rPr>
              <a:t>Hadron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Collider)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experimental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processing.</a:t>
            </a:r>
            <a:endParaRPr sz="1850" dirty="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1175"/>
              </a:spcBef>
              <a:buFont typeface="Arial"/>
              <a:buChar char="•"/>
            </a:pPr>
            <a:endParaRPr sz="1850" dirty="0">
              <a:latin typeface="Times New Roman"/>
              <a:cs typeface="Times New Roman"/>
            </a:endParaRPr>
          </a:p>
          <a:p>
            <a:pPr marL="191770" indent="-179070">
              <a:lnSpc>
                <a:spcPts val="2905"/>
              </a:lnSpc>
              <a:buFont typeface="Arial"/>
              <a:buChar char="•"/>
              <a:tabLst>
                <a:tab pos="191770" algn="l"/>
              </a:tabLst>
            </a:pPr>
            <a:r>
              <a:rPr sz="2550" spc="-10" dirty="0">
                <a:latin typeface="Times New Roman"/>
                <a:cs typeface="Times New Roman"/>
              </a:rPr>
              <a:t>Robustness</a:t>
            </a:r>
            <a:endParaRPr sz="2550" dirty="0">
              <a:latin typeface="Times New Roman"/>
              <a:cs typeface="Times New Roman"/>
            </a:endParaRPr>
          </a:p>
          <a:p>
            <a:pPr marL="647700" lvl="1" indent="-185420">
              <a:lnSpc>
                <a:spcPts val="2365"/>
              </a:lnSpc>
              <a:buFont typeface="Arial"/>
              <a:buChar char="•"/>
              <a:tabLst>
                <a:tab pos="647700" algn="l"/>
              </a:tabLst>
            </a:pP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(Single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Point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Failure)</a:t>
            </a:r>
            <a:endParaRPr sz="2200" dirty="0">
              <a:latin typeface="Times New Roman"/>
              <a:cs typeface="Times New Roman"/>
            </a:endParaRPr>
          </a:p>
          <a:p>
            <a:pPr marL="647700" lvl="1" indent="-185420">
              <a:lnSpc>
                <a:spcPts val="2520"/>
              </a:lnSpc>
              <a:buFont typeface="Arial"/>
              <a:buChar char="•"/>
              <a:tabLst>
                <a:tab pos="647700" algn="l"/>
              </a:tabLst>
            </a:pP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nodes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execute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same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executed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failed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node.</a:t>
            </a:r>
            <a:endParaRPr sz="2200" dirty="0">
              <a:latin typeface="Times New Roman"/>
              <a:cs typeface="Times New Roman"/>
            </a:endParaRPr>
          </a:p>
        </p:txBody>
      </p:sp>
      <p:pic>
        <p:nvPicPr>
          <p:cNvPr id="2097170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165735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Distributed</a:t>
            </a:r>
            <a:r>
              <a:rPr spc="-15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1048654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55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048653" name="object 3"/>
          <p:cNvSpPr txBox="1"/>
          <p:nvPr/>
        </p:nvSpPr>
        <p:spPr>
          <a:xfrm>
            <a:off x="964545" y="1802663"/>
            <a:ext cx="9686925" cy="404304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86690" marR="5080" indent="-174625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87960" algn="l"/>
              </a:tabLst>
            </a:pPr>
            <a:r>
              <a:rPr sz="2800" dirty="0">
                <a:latin typeface="Times New Roman"/>
                <a:cs typeface="Times New Roman"/>
              </a:rPr>
              <a:t>Applications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consist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set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processes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distributed 	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across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machines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together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ensemble</a:t>
            </a:r>
            <a:r>
              <a:rPr sz="2800" spc="-25" dirty="0">
                <a:latin typeface="Times New Roman"/>
                <a:cs typeface="Times New Roman"/>
              </a:rPr>
              <a:t> to 	</a:t>
            </a:r>
            <a:r>
              <a:rPr sz="2800" dirty="0">
                <a:latin typeface="Times New Roman"/>
                <a:cs typeface="Times New Roman"/>
              </a:rPr>
              <a:t>solve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common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problem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30"/>
              </a:spcBef>
              <a:buFont typeface="Arial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In the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past,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mostly </a:t>
            </a:r>
            <a:r>
              <a:rPr sz="2800" spc="-10" dirty="0">
                <a:latin typeface="Times New Roman"/>
                <a:cs typeface="Times New Roman"/>
              </a:rPr>
              <a:t>“client-server”</a:t>
            </a:r>
            <a:endParaRPr sz="2800">
              <a:latin typeface="Times New Roman"/>
              <a:cs typeface="Times New Roman"/>
            </a:endParaRPr>
          </a:p>
          <a:p>
            <a:pPr marL="643255" lvl="1" indent="-181610">
              <a:lnSpc>
                <a:spcPct val="100000"/>
              </a:lnSpc>
              <a:spcBef>
                <a:spcPts val="244"/>
              </a:spcBef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Resource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centralized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server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29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86690" marR="452120" indent="-174625">
              <a:lnSpc>
                <a:spcPts val="3050"/>
              </a:lnSpc>
              <a:buFont typeface="Arial"/>
              <a:buChar char="•"/>
              <a:tabLst>
                <a:tab pos="187960" algn="l"/>
              </a:tabLst>
            </a:pPr>
            <a:r>
              <a:rPr sz="2800" dirty="0">
                <a:latin typeface="Times New Roman"/>
                <a:cs typeface="Times New Roman"/>
              </a:rPr>
              <a:t>“Peer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Peer”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represents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movement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towards</a:t>
            </a:r>
            <a:r>
              <a:rPr sz="2800" spc="-20" dirty="0">
                <a:latin typeface="Times New Roman"/>
                <a:cs typeface="Times New Roman"/>
              </a:rPr>
              <a:t> more 	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“truly”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distributed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applications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97171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08668"/>
            <a:ext cx="1344374" cy="97582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object 2"/>
          <p:cNvSpPr txBox="1">
            <a:spLocks noGrp="1"/>
          </p:cNvSpPr>
          <p:nvPr>
            <p:ph type="title"/>
          </p:nvPr>
        </p:nvSpPr>
        <p:spPr>
          <a:xfrm>
            <a:off x="3299821" y="167132"/>
            <a:ext cx="5488940" cy="1333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Distributed</a:t>
            </a:r>
            <a:r>
              <a:rPr spc="-15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1048658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59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pic>
        <p:nvPicPr>
          <p:cNvPr id="2097172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5459" y="2988623"/>
            <a:ext cx="5468074" cy="2154325"/>
          </a:xfrm>
          <a:prstGeom prst="rect">
            <a:avLst/>
          </a:prstGeom>
        </p:spPr>
      </p:pic>
      <p:pic>
        <p:nvPicPr>
          <p:cNvPr id="2097173" name="object 4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76887" y="1965811"/>
            <a:ext cx="5518288" cy="4352425"/>
          </a:xfrm>
          <a:prstGeom prst="rect">
            <a:avLst/>
          </a:prstGeom>
        </p:spPr>
      </p:pic>
      <p:sp>
        <p:nvSpPr>
          <p:cNvPr id="1048657" name="object 5"/>
          <p:cNvSpPr txBox="1"/>
          <p:nvPr/>
        </p:nvSpPr>
        <p:spPr>
          <a:xfrm>
            <a:off x="677717" y="1397946"/>
            <a:ext cx="11104245" cy="169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2265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rlito"/>
                <a:cs typeface="Carlito"/>
              </a:rPr>
              <a:t>Distributed</a:t>
            </a:r>
            <a:r>
              <a:rPr sz="2800" spc="-6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application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based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on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peer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processes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rlito"/>
                <a:cs typeface="Carlito"/>
              </a:rPr>
              <a:t>Clients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invoke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individual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servers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2097174" name="object 6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374" y="208668"/>
            <a:ext cx="1344374" cy="9758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333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Centralized</a:t>
            </a:r>
            <a:r>
              <a:rPr spc="-114" dirty="0"/>
              <a:t> </a:t>
            </a:r>
            <a:r>
              <a:rPr dirty="0"/>
              <a:t>vs</a:t>
            </a:r>
            <a:r>
              <a:rPr spc="-114" dirty="0"/>
              <a:t> </a:t>
            </a:r>
            <a:r>
              <a:rPr spc="-10" dirty="0"/>
              <a:t>Distributed</a:t>
            </a:r>
            <a:r>
              <a:rPr spc="-114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1048662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63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048661" name="object 3"/>
          <p:cNvSpPr txBox="1"/>
          <p:nvPr/>
        </p:nvSpPr>
        <p:spPr>
          <a:xfrm>
            <a:off x="431146" y="5294076"/>
            <a:ext cx="10063480" cy="7918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86690" marR="5080" indent="-174625">
              <a:lnSpc>
                <a:spcPct val="79600"/>
              </a:lnSpc>
              <a:spcBef>
                <a:spcPts val="785"/>
              </a:spcBef>
              <a:buFont typeface="Arial"/>
              <a:buChar char="•"/>
              <a:tabLst>
                <a:tab pos="187960" algn="l"/>
              </a:tabLst>
            </a:pPr>
            <a:r>
              <a:rPr sz="2800" dirty="0">
                <a:latin typeface="Times New Roman"/>
                <a:cs typeface="Times New Roman"/>
              </a:rPr>
              <a:t>Early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performed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single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processor.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Uni-</a:t>
            </a:r>
            <a:r>
              <a:rPr sz="2800" spc="-10" dirty="0">
                <a:latin typeface="Times New Roman"/>
                <a:cs typeface="Times New Roman"/>
              </a:rPr>
              <a:t>processor 	</a:t>
            </a:r>
            <a:r>
              <a:rPr sz="2800" dirty="0">
                <a:latin typeface="Times New Roman"/>
                <a:cs typeface="Times New Roman"/>
              </a:rPr>
              <a:t>computing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 be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called </a:t>
            </a:r>
            <a:r>
              <a:rPr sz="2800" i="1" dirty="0">
                <a:latin typeface="Times New Roman"/>
                <a:cs typeface="Times New Roman"/>
              </a:rPr>
              <a:t>centralized </a:t>
            </a:r>
            <a:r>
              <a:rPr sz="2800" i="1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97175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25199" y="1324357"/>
            <a:ext cx="10037652" cy="3811832"/>
          </a:xfrm>
          <a:prstGeom prst="rect">
            <a:avLst/>
          </a:prstGeom>
        </p:spPr>
      </p:pic>
      <p:pic>
        <p:nvPicPr>
          <p:cNvPr id="2097176" name="object 5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374" y="208668"/>
            <a:ext cx="1344374" cy="97582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object 2"/>
          <p:cNvSpPr txBox="1">
            <a:spLocks noGrp="1"/>
          </p:cNvSpPr>
          <p:nvPr>
            <p:ph type="title"/>
          </p:nvPr>
        </p:nvSpPr>
        <p:spPr>
          <a:xfrm>
            <a:off x="3197678" y="3588885"/>
            <a:ext cx="5775960" cy="181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Cluster</a:t>
            </a:r>
            <a:r>
              <a:rPr sz="6000" spc="-225" dirty="0"/>
              <a:t> </a:t>
            </a:r>
            <a:r>
              <a:rPr sz="6000" spc="-10" dirty="0"/>
              <a:t>Computing</a:t>
            </a:r>
            <a:endParaRPr sz="6000"/>
          </a:p>
        </p:txBody>
      </p:sp>
      <p:sp>
        <p:nvSpPr>
          <p:cNvPr id="1048665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66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pic>
        <p:nvPicPr>
          <p:cNvPr id="2097177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122745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10" dirty="0"/>
              <a:t> </a:t>
            </a:r>
            <a:r>
              <a:rPr dirty="0"/>
              <a:t>is</a:t>
            </a:r>
            <a:r>
              <a:rPr spc="-105" dirty="0"/>
              <a:t> </a:t>
            </a:r>
            <a:r>
              <a:rPr dirty="0"/>
              <a:t>Cluster</a:t>
            </a:r>
            <a:r>
              <a:rPr spc="-105" dirty="0"/>
              <a:t> </a:t>
            </a:r>
            <a:r>
              <a:rPr spc="-10" dirty="0"/>
              <a:t>Computing?</a:t>
            </a:r>
          </a:p>
        </p:txBody>
      </p:sp>
      <p:sp>
        <p:nvSpPr>
          <p:cNvPr id="1048669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70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048668" name="object 3"/>
          <p:cNvSpPr txBox="1"/>
          <p:nvPr/>
        </p:nvSpPr>
        <p:spPr>
          <a:xfrm>
            <a:off x="960537" y="1743136"/>
            <a:ext cx="10275570" cy="404906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91770" indent="-179070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191770" algn="l"/>
              </a:tabLst>
            </a:pPr>
            <a:r>
              <a:rPr sz="2550" dirty="0">
                <a:latin typeface="Times New Roman"/>
                <a:cs typeface="Times New Roman"/>
              </a:rPr>
              <a:t>A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type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of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parallel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or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distributed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computer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system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40"/>
              </a:spcBef>
              <a:buFont typeface="Arial"/>
              <a:buChar char="•"/>
            </a:pPr>
            <a:endParaRPr sz="2550">
              <a:latin typeface="Times New Roman"/>
              <a:cs typeface="Times New Roman"/>
            </a:endParaRPr>
          </a:p>
          <a:p>
            <a:pPr marL="191770" marR="5080" indent="-179705">
              <a:lnSpc>
                <a:spcPct val="70300"/>
              </a:lnSpc>
              <a:buFont typeface="Arial"/>
              <a:buChar char="•"/>
              <a:tabLst>
                <a:tab pos="191770" algn="l"/>
              </a:tabLst>
            </a:pPr>
            <a:r>
              <a:rPr sz="2550" dirty="0">
                <a:latin typeface="Times New Roman"/>
                <a:cs typeface="Times New Roman"/>
              </a:rPr>
              <a:t>A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collection</a:t>
            </a:r>
            <a:r>
              <a:rPr sz="2550" spc="7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of</a:t>
            </a:r>
            <a:r>
              <a:rPr sz="2550" spc="8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inter-connected</a:t>
            </a:r>
            <a:r>
              <a:rPr sz="2550" spc="8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stand-alone</a:t>
            </a:r>
            <a:r>
              <a:rPr sz="2550" spc="7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computers</a:t>
            </a:r>
            <a:r>
              <a:rPr sz="2550" spc="7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working</a:t>
            </a:r>
            <a:r>
              <a:rPr sz="2550" spc="8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together</a:t>
            </a:r>
            <a:r>
              <a:rPr sz="2550" spc="8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as</a:t>
            </a:r>
            <a:r>
              <a:rPr sz="2550" spc="75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a </a:t>
            </a:r>
            <a:r>
              <a:rPr sz="2550" dirty="0">
                <a:latin typeface="Times New Roman"/>
                <a:cs typeface="Times New Roman"/>
              </a:rPr>
              <a:t>single</a:t>
            </a:r>
            <a:r>
              <a:rPr sz="2550" spc="7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integrated</a:t>
            </a:r>
            <a:r>
              <a:rPr sz="2550" spc="9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computing</a:t>
            </a:r>
            <a:r>
              <a:rPr sz="2550" spc="9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resource.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•"/>
            </a:pPr>
            <a:endParaRPr sz="2550">
              <a:latin typeface="Times New Roman"/>
              <a:cs typeface="Times New Roman"/>
            </a:endParaRPr>
          </a:p>
          <a:p>
            <a:pPr marL="191770" indent="-179070">
              <a:lnSpc>
                <a:spcPts val="2905"/>
              </a:lnSpc>
              <a:spcBef>
                <a:spcPts val="5"/>
              </a:spcBef>
              <a:buFont typeface="Arial"/>
              <a:buChar char="•"/>
              <a:tabLst>
                <a:tab pos="191770" algn="l"/>
              </a:tabLst>
            </a:pPr>
            <a:r>
              <a:rPr sz="2550" dirty="0">
                <a:latin typeface="Times New Roman"/>
                <a:cs typeface="Times New Roman"/>
              </a:rPr>
              <a:t>Key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components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of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cluster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include:</a:t>
            </a:r>
            <a:endParaRPr sz="2550">
              <a:latin typeface="Times New Roman"/>
              <a:cs typeface="Times New Roman"/>
            </a:endParaRPr>
          </a:p>
          <a:p>
            <a:pPr marL="647700" lvl="1" indent="-185420">
              <a:lnSpc>
                <a:spcPts val="2365"/>
              </a:lnSpc>
              <a:buFont typeface="Arial"/>
              <a:buChar char="•"/>
              <a:tabLst>
                <a:tab pos="647700" algn="l"/>
              </a:tabLst>
            </a:pPr>
            <a:r>
              <a:rPr sz="2200" dirty="0">
                <a:latin typeface="Times New Roman"/>
                <a:cs typeface="Times New Roman"/>
              </a:rPr>
              <a:t>Multiple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standalone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computers</a:t>
            </a:r>
            <a:endParaRPr sz="2200">
              <a:latin typeface="Times New Roman"/>
              <a:cs typeface="Times New Roman"/>
            </a:endParaRPr>
          </a:p>
          <a:p>
            <a:pPr marL="647700" lvl="1" indent="-185420">
              <a:lnSpc>
                <a:spcPts val="2400"/>
              </a:lnSpc>
              <a:buFont typeface="Arial"/>
              <a:buChar char="•"/>
              <a:tabLst>
                <a:tab pos="647700" algn="l"/>
              </a:tabLst>
            </a:pPr>
            <a:r>
              <a:rPr sz="2200" dirty="0">
                <a:latin typeface="Times New Roman"/>
                <a:cs typeface="Times New Roman"/>
              </a:rPr>
              <a:t>Operating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systems</a:t>
            </a:r>
            <a:endParaRPr sz="2200">
              <a:latin typeface="Times New Roman"/>
              <a:cs typeface="Times New Roman"/>
            </a:endParaRPr>
          </a:p>
          <a:p>
            <a:pPr marL="647700" lvl="1" indent="-185420">
              <a:lnSpc>
                <a:spcPts val="2400"/>
              </a:lnSpc>
              <a:buFont typeface="Arial"/>
              <a:buChar char="•"/>
              <a:tabLst>
                <a:tab pos="647700" algn="l"/>
              </a:tabLst>
            </a:pPr>
            <a:r>
              <a:rPr sz="2200" spc="-10" dirty="0">
                <a:latin typeface="Times New Roman"/>
                <a:cs typeface="Times New Roman"/>
              </a:rPr>
              <a:t>High-</a:t>
            </a:r>
            <a:r>
              <a:rPr sz="2200" dirty="0">
                <a:latin typeface="Times New Roman"/>
                <a:cs typeface="Times New Roman"/>
              </a:rPr>
              <a:t>performance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interconnects</a:t>
            </a:r>
            <a:endParaRPr sz="2200">
              <a:latin typeface="Times New Roman"/>
              <a:cs typeface="Times New Roman"/>
            </a:endParaRPr>
          </a:p>
          <a:p>
            <a:pPr marL="647700" lvl="1" indent="-185420">
              <a:lnSpc>
                <a:spcPts val="2400"/>
              </a:lnSpc>
              <a:buFont typeface="Arial"/>
              <a:buChar char="•"/>
              <a:tabLst>
                <a:tab pos="647700" algn="l"/>
              </a:tabLst>
            </a:pPr>
            <a:r>
              <a:rPr sz="2200" spc="-10" dirty="0">
                <a:latin typeface="Times New Roman"/>
                <a:cs typeface="Times New Roman"/>
              </a:rPr>
              <a:t>Middleware</a:t>
            </a:r>
            <a:endParaRPr sz="2200">
              <a:latin typeface="Times New Roman"/>
              <a:cs typeface="Times New Roman"/>
            </a:endParaRPr>
          </a:p>
          <a:p>
            <a:pPr marL="647700" lvl="1" indent="-185420">
              <a:lnSpc>
                <a:spcPts val="2400"/>
              </a:lnSpc>
              <a:buFont typeface="Arial"/>
              <a:buChar char="•"/>
              <a:tabLst>
                <a:tab pos="647700" algn="l"/>
              </a:tabLst>
            </a:pPr>
            <a:r>
              <a:rPr sz="2200" dirty="0">
                <a:latin typeface="Times New Roman"/>
                <a:cs typeface="Times New Roman"/>
              </a:rPr>
              <a:t>Parallel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programming</a:t>
            </a:r>
            <a:r>
              <a:rPr sz="2200" spc="-10" dirty="0">
                <a:latin typeface="Times New Roman"/>
                <a:cs typeface="Times New Roman"/>
              </a:rPr>
              <a:t> environments</a:t>
            </a:r>
            <a:endParaRPr sz="2200">
              <a:latin typeface="Times New Roman"/>
              <a:cs typeface="Times New Roman"/>
            </a:endParaRPr>
          </a:p>
          <a:p>
            <a:pPr marL="647700" lvl="1" indent="-185420">
              <a:lnSpc>
                <a:spcPts val="2520"/>
              </a:lnSpc>
              <a:buFont typeface="Arial"/>
              <a:buChar char="•"/>
              <a:tabLst>
                <a:tab pos="647700" algn="l"/>
              </a:tabLst>
            </a:pPr>
            <a:r>
              <a:rPr sz="2200" spc="-10" dirty="0">
                <a:latin typeface="Times New Roman"/>
                <a:cs typeface="Times New Roman"/>
              </a:rPr>
              <a:t>Applications.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2097178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2279015">
              <a:lnSpc>
                <a:spcPct val="100000"/>
              </a:lnSpc>
              <a:spcBef>
                <a:spcPts val="100"/>
              </a:spcBef>
            </a:pPr>
            <a:r>
              <a:rPr dirty="0"/>
              <a:t>Cluster</a:t>
            </a:r>
            <a:r>
              <a:rPr spc="-165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1048673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74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1048672" name="object 3"/>
          <p:cNvSpPr txBox="1"/>
          <p:nvPr/>
        </p:nvSpPr>
        <p:spPr>
          <a:xfrm>
            <a:off x="964545" y="1773858"/>
            <a:ext cx="8618855" cy="195707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typical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cluster:</a:t>
            </a:r>
            <a:endParaRPr sz="2800">
              <a:latin typeface="Times New Roman"/>
              <a:cs typeface="Times New Roman"/>
            </a:endParaRPr>
          </a:p>
          <a:p>
            <a:pPr marL="643255" lvl="1" indent="-18161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Network: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Faster,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closer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typical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(LAN)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Low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latency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communication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protocols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Loosely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coupled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Symmetric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Multiprocessing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(SMP)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097179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2574925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10" dirty="0"/>
              <a:t>Cluster</a:t>
            </a:r>
          </a:p>
        </p:txBody>
      </p:sp>
      <p:sp>
        <p:nvSpPr>
          <p:cNvPr id="1048677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78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048676" name="object 3"/>
          <p:cNvSpPr txBox="1"/>
          <p:nvPr/>
        </p:nvSpPr>
        <p:spPr>
          <a:xfrm>
            <a:off x="964545" y="2310661"/>
            <a:ext cx="5869940" cy="291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High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Availability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Failover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Clusters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20"/>
              </a:spcBef>
              <a:buFont typeface="Arial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Load Balancing </a:t>
            </a:r>
            <a:r>
              <a:rPr sz="2800" spc="-10" dirty="0">
                <a:latin typeface="Times New Roman"/>
                <a:cs typeface="Times New Roman"/>
              </a:rPr>
              <a:t>Cluster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20"/>
              </a:spcBef>
              <a:buFont typeface="Arial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Parallel/Distributed Processing </a:t>
            </a:r>
            <a:r>
              <a:rPr sz="2800" spc="-10" dirty="0">
                <a:latin typeface="Times New Roman"/>
                <a:cs typeface="Times New Roman"/>
              </a:rPr>
              <a:t>Clusters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97180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2084705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130" dirty="0"/>
              <a:t> </a:t>
            </a:r>
            <a:r>
              <a:rPr dirty="0"/>
              <a:t>Cluster</a:t>
            </a:r>
            <a:r>
              <a:rPr spc="-130" dirty="0"/>
              <a:t> </a:t>
            </a:r>
            <a:r>
              <a:rPr spc="-10" dirty="0"/>
              <a:t>Works?</a:t>
            </a:r>
          </a:p>
        </p:txBody>
      </p:sp>
      <p:sp>
        <p:nvSpPr>
          <p:cNvPr id="1048680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81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pic>
        <p:nvPicPr>
          <p:cNvPr id="2097181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2097182" name="object 4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13142" y="1219197"/>
            <a:ext cx="5522888" cy="48268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2303145">
              <a:lnSpc>
                <a:spcPct val="100000"/>
              </a:lnSpc>
              <a:spcBef>
                <a:spcPts val="100"/>
              </a:spcBef>
            </a:pPr>
            <a:r>
              <a:rPr dirty="0"/>
              <a:t>Benefits</a:t>
            </a:r>
            <a:r>
              <a:rPr spc="-3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Cluster</a:t>
            </a:r>
          </a:p>
        </p:txBody>
      </p:sp>
      <p:sp>
        <p:nvSpPr>
          <p:cNvPr id="1048684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85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1048683" name="object 3"/>
          <p:cNvSpPr txBox="1"/>
          <p:nvPr/>
        </p:nvSpPr>
        <p:spPr>
          <a:xfrm>
            <a:off x="956581" y="1751883"/>
            <a:ext cx="9606915" cy="45154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4945" indent="-182245">
              <a:lnSpc>
                <a:spcPts val="2735"/>
              </a:lnSpc>
              <a:spcBef>
                <a:spcPts val="130"/>
              </a:spcBef>
              <a:buFont typeface="Arial"/>
              <a:buChar char="•"/>
              <a:tabLst>
                <a:tab pos="194945" algn="l"/>
              </a:tabLst>
            </a:pPr>
            <a:r>
              <a:rPr sz="2350" dirty="0">
                <a:latin typeface="Times New Roman"/>
                <a:cs typeface="Times New Roman"/>
              </a:rPr>
              <a:t>System</a:t>
            </a:r>
            <a:r>
              <a:rPr sz="2350" spc="4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availability:</a:t>
            </a:r>
            <a:endParaRPr sz="2350">
              <a:latin typeface="Times New Roman"/>
              <a:cs typeface="Times New Roman"/>
            </a:endParaRPr>
          </a:p>
          <a:p>
            <a:pPr marL="650875" lvl="1" indent="-187960">
              <a:lnSpc>
                <a:spcPts val="2315"/>
              </a:lnSpc>
              <a:buFont typeface="Arial"/>
              <a:buChar char="•"/>
              <a:tabLst>
                <a:tab pos="650875" algn="l"/>
              </a:tabLst>
            </a:pPr>
            <a:r>
              <a:rPr sz="2000" dirty="0">
                <a:latin typeface="Times New Roman"/>
                <a:cs typeface="Times New Roman"/>
              </a:rPr>
              <a:t>Due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redundancy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hardware,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systems,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applications.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75"/>
              </a:spcBef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94945" indent="-182245">
              <a:lnSpc>
                <a:spcPts val="2720"/>
              </a:lnSpc>
              <a:buFont typeface="Arial"/>
              <a:buChar char="•"/>
              <a:tabLst>
                <a:tab pos="194945" algn="l"/>
              </a:tabLst>
            </a:pPr>
            <a:r>
              <a:rPr sz="2350" dirty="0">
                <a:latin typeface="Times New Roman"/>
                <a:cs typeface="Times New Roman"/>
              </a:rPr>
              <a:t>Hardware</a:t>
            </a:r>
            <a:r>
              <a:rPr sz="2350" spc="4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fault</a:t>
            </a:r>
            <a:r>
              <a:rPr sz="2350" spc="4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tolerance:</a:t>
            </a:r>
            <a:endParaRPr sz="2350">
              <a:latin typeface="Times New Roman"/>
              <a:cs typeface="Times New Roman"/>
            </a:endParaRPr>
          </a:p>
          <a:p>
            <a:pPr marL="650875" lvl="1" indent="-187960">
              <a:lnSpc>
                <a:spcPts val="2300"/>
              </a:lnSpc>
              <a:buFont typeface="Arial"/>
              <a:buChar char="•"/>
              <a:tabLst>
                <a:tab pos="650875" algn="l"/>
              </a:tabLst>
            </a:pPr>
            <a:r>
              <a:rPr sz="2000" dirty="0">
                <a:latin typeface="Times New Roman"/>
                <a:cs typeface="Times New Roman"/>
              </a:rPr>
              <a:t>Redundancy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components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(eg.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disk-RAID),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including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both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HW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SW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80"/>
              </a:spcBef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94945" indent="-182245">
              <a:lnSpc>
                <a:spcPts val="2720"/>
              </a:lnSpc>
              <a:buFont typeface="Arial"/>
              <a:buChar char="•"/>
              <a:tabLst>
                <a:tab pos="194945" algn="l"/>
              </a:tabLst>
            </a:pPr>
            <a:r>
              <a:rPr sz="2350" dirty="0">
                <a:latin typeface="Times New Roman"/>
                <a:cs typeface="Times New Roman"/>
              </a:rPr>
              <a:t>OS</a:t>
            </a:r>
            <a:r>
              <a:rPr sz="2350" spc="4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and</a:t>
            </a:r>
            <a:r>
              <a:rPr sz="2350" spc="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application</a:t>
            </a:r>
            <a:r>
              <a:rPr sz="2350" spc="5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reliability:</a:t>
            </a:r>
            <a:endParaRPr sz="2350">
              <a:latin typeface="Times New Roman"/>
              <a:cs typeface="Times New Roman"/>
            </a:endParaRPr>
          </a:p>
          <a:p>
            <a:pPr marL="650875" lvl="1" indent="-187960">
              <a:lnSpc>
                <a:spcPts val="2300"/>
              </a:lnSpc>
              <a:buFont typeface="Arial"/>
              <a:buChar char="•"/>
              <a:tabLst>
                <a:tab pos="650875" algn="l"/>
              </a:tabLst>
            </a:pP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copies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applications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80"/>
              </a:spcBef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94945" indent="-182245">
              <a:lnSpc>
                <a:spcPts val="2720"/>
              </a:lnSpc>
              <a:buFont typeface="Arial"/>
              <a:buChar char="•"/>
              <a:tabLst>
                <a:tab pos="194945" algn="l"/>
              </a:tabLst>
            </a:pPr>
            <a:r>
              <a:rPr sz="2350" spc="-10" dirty="0">
                <a:latin typeface="Times New Roman"/>
                <a:cs typeface="Times New Roman"/>
              </a:rPr>
              <a:t>Scalability:</a:t>
            </a:r>
            <a:endParaRPr sz="2350">
              <a:latin typeface="Times New Roman"/>
              <a:cs typeface="Times New Roman"/>
            </a:endParaRPr>
          </a:p>
          <a:p>
            <a:pPr marL="650875" lvl="1" indent="-187960">
              <a:lnSpc>
                <a:spcPts val="2300"/>
              </a:lnSpc>
              <a:buFont typeface="Arial"/>
              <a:buChar char="•"/>
              <a:tabLst>
                <a:tab pos="650875" algn="l"/>
              </a:tabLst>
            </a:pPr>
            <a:r>
              <a:rPr sz="2000" dirty="0">
                <a:latin typeface="Times New Roman"/>
                <a:cs typeface="Times New Roman"/>
              </a:rPr>
              <a:t>Adding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cluster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arises.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75"/>
              </a:spcBef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94945" algn="l"/>
              </a:tabLst>
            </a:pPr>
            <a:r>
              <a:rPr sz="2350" dirty="0">
                <a:latin typeface="Times New Roman"/>
                <a:cs typeface="Times New Roman"/>
              </a:rPr>
              <a:t>High</a:t>
            </a:r>
            <a:r>
              <a:rPr sz="2350" spc="5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performance</a:t>
            </a:r>
            <a:endParaRPr sz="2350">
              <a:latin typeface="Times New Roman"/>
              <a:cs typeface="Times New Roman"/>
            </a:endParaRPr>
          </a:p>
        </p:txBody>
      </p:sp>
      <p:pic>
        <p:nvPicPr>
          <p:cNvPr id="2097183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object 2"/>
          <p:cNvSpPr txBox="1">
            <a:spLocks noGrp="1"/>
          </p:cNvSpPr>
          <p:nvPr>
            <p:ph type="title"/>
          </p:nvPr>
        </p:nvSpPr>
        <p:spPr>
          <a:xfrm>
            <a:off x="3626674" y="3588885"/>
            <a:ext cx="4919980" cy="181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Grid</a:t>
            </a:r>
            <a:r>
              <a:rPr sz="6000" spc="-20" dirty="0"/>
              <a:t> </a:t>
            </a:r>
            <a:r>
              <a:rPr sz="6000" spc="-10" dirty="0"/>
              <a:t>Computing</a:t>
            </a:r>
            <a:endParaRPr sz="6000"/>
          </a:p>
        </p:txBody>
      </p:sp>
      <p:sp>
        <p:nvSpPr>
          <p:cNvPr id="1048687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88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pic>
        <p:nvPicPr>
          <p:cNvPr id="2097184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154178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8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Grid</a:t>
            </a:r>
            <a:r>
              <a:rPr spc="-85" dirty="0"/>
              <a:t> </a:t>
            </a:r>
            <a:r>
              <a:rPr spc="-10" dirty="0"/>
              <a:t>Computing?</a:t>
            </a:r>
          </a:p>
        </p:txBody>
      </p:sp>
      <p:sp>
        <p:nvSpPr>
          <p:cNvPr id="1048691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92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1048690" name="object 3"/>
          <p:cNvSpPr txBox="1"/>
          <p:nvPr/>
        </p:nvSpPr>
        <p:spPr>
          <a:xfrm>
            <a:off x="960537" y="1743136"/>
            <a:ext cx="10318115" cy="405749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91770" indent="-179070">
              <a:lnSpc>
                <a:spcPts val="2970"/>
              </a:lnSpc>
              <a:spcBef>
                <a:spcPts val="140"/>
              </a:spcBef>
              <a:buFont typeface="Arial"/>
              <a:buChar char="•"/>
              <a:tabLst>
                <a:tab pos="191770" algn="l"/>
              </a:tabLst>
            </a:pPr>
            <a:r>
              <a:rPr sz="2550" spc="-25" dirty="0">
                <a:latin typeface="Times New Roman"/>
                <a:cs typeface="Times New Roman"/>
              </a:rPr>
              <a:t>IBM</a:t>
            </a:r>
            <a:endParaRPr sz="2550">
              <a:latin typeface="Times New Roman"/>
              <a:cs typeface="Times New Roman"/>
            </a:endParaRPr>
          </a:p>
          <a:p>
            <a:pPr marL="647700" marR="13970" lvl="1" indent="-192405" algn="just">
              <a:lnSpc>
                <a:spcPct val="70200"/>
              </a:lnSpc>
              <a:spcBef>
                <a:spcPts val="570"/>
              </a:spcBef>
              <a:buFont typeface="Arial"/>
              <a:buChar char="•"/>
              <a:tabLst>
                <a:tab pos="648970" algn="l"/>
              </a:tabLst>
            </a:pPr>
            <a:r>
              <a:rPr sz="1850" dirty="0">
                <a:latin typeface="Times New Roman"/>
                <a:cs typeface="Times New Roman"/>
              </a:rPr>
              <a:t>Grid</a:t>
            </a:r>
            <a:r>
              <a:rPr sz="1850" spc="48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computing</a:t>
            </a:r>
            <a:r>
              <a:rPr sz="1850" spc="484" dirty="0"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enables</a:t>
            </a:r>
            <a:r>
              <a:rPr sz="1850" spc="49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the</a:t>
            </a:r>
            <a:r>
              <a:rPr sz="1850" spc="484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virtualization</a:t>
            </a:r>
            <a:r>
              <a:rPr sz="1850" spc="49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48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distributed</a:t>
            </a:r>
            <a:r>
              <a:rPr sz="1850" spc="48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computing</a:t>
            </a:r>
            <a:r>
              <a:rPr sz="1850" spc="4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48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</a:t>
            </a:r>
            <a:r>
              <a:rPr sz="1850" spc="4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resources</a:t>
            </a:r>
            <a:r>
              <a:rPr sz="1850" spc="48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such</a:t>
            </a:r>
            <a:r>
              <a:rPr sz="1850" spc="49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as 	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processing,</a:t>
            </a:r>
            <a:r>
              <a:rPr sz="1850" spc="13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network</a:t>
            </a:r>
            <a:r>
              <a:rPr sz="1850" spc="13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bandwidth</a:t>
            </a:r>
            <a:r>
              <a:rPr sz="1850" spc="13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and</a:t>
            </a:r>
            <a:r>
              <a:rPr sz="1850" spc="13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storage</a:t>
            </a:r>
            <a:r>
              <a:rPr sz="1850" spc="13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capacity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create</a:t>
            </a:r>
            <a:r>
              <a:rPr sz="1850" spc="1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a</a:t>
            </a:r>
            <a:r>
              <a:rPr sz="1850" spc="13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single</a:t>
            </a:r>
            <a:r>
              <a:rPr sz="1850" spc="13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system</a:t>
            </a:r>
            <a:r>
              <a:rPr sz="1850" spc="13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image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granting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users 	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3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applications</a:t>
            </a:r>
            <a:r>
              <a:rPr sz="1850" spc="325" dirty="0"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seamless</a:t>
            </a:r>
            <a:r>
              <a:rPr sz="1850" spc="3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access</a:t>
            </a:r>
            <a:r>
              <a:rPr sz="1850" spc="3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3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vast</a:t>
            </a:r>
            <a:r>
              <a:rPr sz="1850" spc="3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IT</a:t>
            </a:r>
            <a:r>
              <a:rPr sz="1850" spc="3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capabilities.</a:t>
            </a:r>
            <a:r>
              <a:rPr sz="1850" spc="3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Just</a:t>
            </a:r>
            <a:r>
              <a:rPr sz="1850" spc="3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as</a:t>
            </a:r>
            <a:r>
              <a:rPr sz="1850" spc="3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</a:t>
            </a:r>
            <a:r>
              <a:rPr sz="1850" spc="3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Internet</a:t>
            </a:r>
            <a:r>
              <a:rPr sz="1850" spc="3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user</a:t>
            </a:r>
            <a:r>
              <a:rPr sz="1850" spc="3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views</a:t>
            </a:r>
            <a:r>
              <a:rPr sz="1850" spc="3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3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unified 	</a:t>
            </a:r>
            <a:r>
              <a:rPr sz="1850" dirty="0">
                <a:latin typeface="Times New Roman"/>
                <a:cs typeface="Times New Roman"/>
              </a:rPr>
              <a:t>instance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content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via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Web,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grid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user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essentially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sees</a:t>
            </a:r>
            <a:r>
              <a:rPr sz="1850" spc="-4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a</a:t>
            </a:r>
            <a:r>
              <a:rPr sz="1850" spc="-4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single,</a:t>
            </a:r>
            <a:r>
              <a:rPr sz="1850" spc="-4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large</a:t>
            </a:r>
            <a:r>
              <a:rPr sz="1850" spc="-4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virtual</a:t>
            </a:r>
            <a:r>
              <a:rPr sz="1850" spc="-4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BF0000"/>
                </a:solidFill>
                <a:latin typeface="Times New Roman"/>
                <a:cs typeface="Times New Roman"/>
              </a:rPr>
              <a:t>computer</a:t>
            </a:r>
            <a:r>
              <a:rPr sz="1850" spc="-10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175"/>
              </a:spcBef>
              <a:buFont typeface="Arial"/>
              <a:buChar char="•"/>
            </a:pPr>
            <a:endParaRPr sz="1850">
              <a:latin typeface="Times New Roman"/>
              <a:cs typeface="Times New Roman"/>
            </a:endParaRPr>
          </a:p>
          <a:p>
            <a:pPr marL="191770" indent="-179070">
              <a:lnSpc>
                <a:spcPts val="2955"/>
              </a:lnSpc>
              <a:buFont typeface="Arial"/>
              <a:buChar char="•"/>
              <a:tabLst>
                <a:tab pos="191770" algn="l"/>
              </a:tabLst>
            </a:pPr>
            <a:r>
              <a:rPr sz="2550" dirty="0">
                <a:latin typeface="Times New Roman"/>
                <a:cs typeface="Times New Roman"/>
              </a:rPr>
              <a:t>Sun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Microsystems</a:t>
            </a:r>
            <a:endParaRPr sz="2550">
              <a:latin typeface="Times New Roman"/>
              <a:cs typeface="Times New Roman"/>
            </a:endParaRPr>
          </a:p>
          <a:p>
            <a:pPr marL="647700" marR="23495" lvl="1" indent="-192405" algn="just">
              <a:lnSpc>
                <a:spcPct val="68700"/>
              </a:lnSpc>
              <a:spcBef>
                <a:spcPts val="590"/>
              </a:spcBef>
              <a:buFont typeface="Arial"/>
              <a:buChar char="•"/>
              <a:tabLst>
                <a:tab pos="648970" algn="l"/>
              </a:tabLst>
            </a:pPr>
            <a:r>
              <a:rPr sz="1850" dirty="0">
                <a:latin typeface="Times New Roman"/>
                <a:cs typeface="Times New Roman"/>
              </a:rPr>
              <a:t>Grid</a:t>
            </a:r>
            <a:r>
              <a:rPr sz="1850" spc="2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Computing</a:t>
            </a:r>
            <a:r>
              <a:rPr sz="1850" spc="2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2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2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computing</a:t>
            </a:r>
            <a:r>
              <a:rPr sz="1850" spc="2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infrastructure</a:t>
            </a:r>
            <a:r>
              <a:rPr sz="1850" spc="2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2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provides</a:t>
            </a:r>
            <a:r>
              <a:rPr sz="1850" spc="285" dirty="0"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dependable,</a:t>
            </a:r>
            <a:r>
              <a:rPr sz="1850" spc="27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consistent,</a:t>
            </a:r>
            <a:r>
              <a:rPr sz="1850" spc="27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pervasive</a:t>
            </a:r>
            <a:r>
              <a:rPr sz="1850" spc="26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BF0000"/>
                </a:solidFill>
                <a:latin typeface="Times New Roman"/>
                <a:cs typeface="Times New Roman"/>
              </a:rPr>
              <a:t>and 	</a:t>
            </a:r>
            <a:r>
              <a:rPr sz="1850" spc="-10" dirty="0">
                <a:solidFill>
                  <a:srgbClr val="BF0000"/>
                </a:solidFill>
                <a:latin typeface="Times New Roman"/>
                <a:cs typeface="Times New Roman"/>
              </a:rPr>
              <a:t>inexpensive</a:t>
            </a:r>
            <a:r>
              <a:rPr sz="1850" spc="-4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access</a:t>
            </a:r>
            <a:r>
              <a:rPr sz="1850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computational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capabilities</a:t>
            </a:r>
            <a:endParaRPr sz="18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175"/>
              </a:spcBef>
              <a:buFont typeface="Arial"/>
              <a:buChar char="•"/>
            </a:pPr>
            <a:endParaRPr sz="1850">
              <a:latin typeface="Times New Roman"/>
              <a:cs typeface="Times New Roman"/>
            </a:endParaRPr>
          </a:p>
          <a:p>
            <a:pPr marL="191770" indent="-179070">
              <a:lnSpc>
                <a:spcPts val="2955"/>
              </a:lnSpc>
              <a:buFont typeface="Arial"/>
              <a:buChar char="•"/>
              <a:tabLst>
                <a:tab pos="191770" algn="l"/>
              </a:tabLst>
            </a:pPr>
            <a:r>
              <a:rPr sz="2550" spc="-10" dirty="0">
                <a:latin typeface="Times New Roman"/>
                <a:cs typeface="Times New Roman"/>
              </a:rPr>
              <a:t>Pcwebopedia.com</a:t>
            </a:r>
            <a:endParaRPr sz="2550">
              <a:latin typeface="Times New Roman"/>
              <a:cs typeface="Times New Roman"/>
            </a:endParaRPr>
          </a:p>
          <a:p>
            <a:pPr marL="647700" marR="5080" lvl="1" indent="-192405" algn="just">
              <a:lnSpc>
                <a:spcPct val="69800"/>
              </a:lnSpc>
              <a:spcBef>
                <a:spcPts val="565"/>
              </a:spcBef>
              <a:buFont typeface="Arial"/>
              <a:buChar char="•"/>
              <a:tabLst>
                <a:tab pos="648970" algn="l"/>
              </a:tabLst>
            </a:pP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1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form</a:t>
            </a:r>
            <a:r>
              <a:rPr sz="1850" spc="1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1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networking.</a:t>
            </a:r>
            <a:r>
              <a:rPr sz="1850" spc="1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unlike</a:t>
            </a:r>
            <a:r>
              <a:rPr sz="1850" spc="1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conventional</a:t>
            </a:r>
            <a:r>
              <a:rPr sz="1850" spc="1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networks</a:t>
            </a:r>
            <a:r>
              <a:rPr sz="1850" spc="1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1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focus</a:t>
            </a:r>
            <a:r>
              <a:rPr sz="1850" spc="1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</a:t>
            </a:r>
            <a:r>
              <a:rPr sz="1850" spc="1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communication</a:t>
            </a:r>
            <a:r>
              <a:rPr sz="1850" spc="1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among</a:t>
            </a:r>
            <a:r>
              <a:rPr sz="1850" spc="19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devices, 	</a:t>
            </a:r>
            <a:r>
              <a:rPr sz="1850" dirty="0">
                <a:latin typeface="Times New Roman"/>
                <a:cs typeface="Times New Roman"/>
              </a:rPr>
              <a:t>grid</a:t>
            </a:r>
            <a:r>
              <a:rPr sz="1850" spc="4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computing</a:t>
            </a:r>
            <a:r>
              <a:rPr sz="1850" spc="495" dirty="0"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harnesses</a:t>
            </a:r>
            <a:r>
              <a:rPr sz="1850" spc="15" dirty="0">
                <a:solidFill>
                  <a:srgbClr val="BF0000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unused</a:t>
            </a:r>
            <a:r>
              <a:rPr sz="1850" spc="20" dirty="0">
                <a:solidFill>
                  <a:srgbClr val="BF0000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processing</a:t>
            </a:r>
            <a:r>
              <a:rPr sz="1850" spc="20" dirty="0">
                <a:solidFill>
                  <a:srgbClr val="BF0000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cycles</a:t>
            </a:r>
            <a:r>
              <a:rPr sz="1850" spc="15" dirty="0">
                <a:solidFill>
                  <a:srgbClr val="BF0000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of</a:t>
            </a:r>
            <a:r>
              <a:rPr sz="1850" spc="20" dirty="0">
                <a:solidFill>
                  <a:srgbClr val="BF0000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all</a:t>
            </a:r>
            <a:r>
              <a:rPr sz="1850" spc="49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BF0000"/>
                </a:solidFill>
                <a:latin typeface="Times New Roman"/>
                <a:cs typeface="Times New Roman"/>
              </a:rPr>
              <a:t>computers</a:t>
            </a:r>
            <a:r>
              <a:rPr sz="1850" spc="20" dirty="0">
                <a:solidFill>
                  <a:srgbClr val="BF0000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4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4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network</a:t>
            </a:r>
            <a:r>
              <a:rPr sz="1850" spc="20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49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solving 	</a:t>
            </a:r>
            <a:r>
              <a:rPr sz="1850" dirty="0">
                <a:latin typeface="Times New Roman"/>
                <a:cs typeface="Times New Roman"/>
              </a:rPr>
              <a:t>problems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too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intensive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any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stand-</a:t>
            </a:r>
            <a:r>
              <a:rPr sz="1850" dirty="0">
                <a:latin typeface="Times New Roman"/>
                <a:cs typeface="Times New Roman"/>
              </a:rPr>
              <a:t>alone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machine.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2097185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2593975">
              <a:lnSpc>
                <a:spcPct val="100000"/>
              </a:lnSpc>
              <a:spcBef>
                <a:spcPts val="100"/>
              </a:spcBef>
            </a:pPr>
            <a:r>
              <a:rPr dirty="0"/>
              <a:t>Grid</a:t>
            </a:r>
            <a:r>
              <a:rPr spc="-10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104869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69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048694" name="object 3"/>
          <p:cNvSpPr txBox="1"/>
          <p:nvPr/>
        </p:nvSpPr>
        <p:spPr>
          <a:xfrm>
            <a:off x="964545" y="1773858"/>
            <a:ext cx="10313035" cy="3580003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87325" indent="-174625" algn="just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187325" algn="l"/>
              </a:tabLst>
            </a:pPr>
            <a:r>
              <a:rPr sz="2800" spc="-20" dirty="0">
                <a:latin typeface="Times New Roman"/>
                <a:cs typeface="Times New Roman"/>
              </a:rPr>
              <a:t>Grid</a:t>
            </a:r>
            <a:endParaRPr sz="2800">
              <a:latin typeface="Times New Roman"/>
              <a:cs typeface="Times New Roman"/>
            </a:endParaRPr>
          </a:p>
          <a:p>
            <a:pPr marL="643255" marR="5080" lvl="1" indent="-181610" algn="just">
              <a:lnSpc>
                <a:spcPct val="90600"/>
              </a:lnSpc>
              <a:spcBef>
                <a:spcPts val="465"/>
              </a:spcBef>
              <a:buFont typeface="Arial"/>
              <a:buChar char="•"/>
              <a:tabLst>
                <a:tab pos="645160" algn="l"/>
              </a:tabLst>
            </a:pP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(or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client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applications)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gain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computing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resources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(processors, 	</a:t>
            </a:r>
            <a:r>
              <a:rPr sz="2400" dirty="0">
                <a:latin typeface="Times New Roman"/>
                <a:cs typeface="Times New Roman"/>
              </a:rPr>
              <a:t>storage,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applications,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on)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needed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BF0000"/>
                </a:solidFill>
                <a:latin typeface="Times New Roman"/>
                <a:cs typeface="Times New Roman"/>
              </a:rPr>
              <a:t>little</a:t>
            </a:r>
            <a:r>
              <a:rPr sz="2400" spc="3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BF0000"/>
                </a:solidFill>
                <a:latin typeface="Times New Roman"/>
                <a:cs typeface="Times New Roman"/>
              </a:rPr>
              <a:t>or</a:t>
            </a:r>
            <a:r>
              <a:rPr sz="2400" spc="4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BF0000"/>
                </a:solidFill>
                <a:latin typeface="Times New Roman"/>
                <a:cs typeface="Times New Roman"/>
              </a:rPr>
              <a:t>no</a:t>
            </a:r>
            <a:r>
              <a:rPr sz="2400" spc="3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BF0000"/>
                </a:solidFill>
                <a:latin typeface="Times New Roman"/>
                <a:cs typeface="Times New Roman"/>
              </a:rPr>
              <a:t>knowledge</a:t>
            </a:r>
            <a:r>
              <a:rPr sz="2400" spc="7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	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those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BF0000"/>
                </a:solidFill>
                <a:latin typeface="Times New Roman"/>
                <a:cs typeface="Times New Roman"/>
              </a:rPr>
              <a:t>resources</a:t>
            </a:r>
            <a:r>
              <a:rPr sz="2400" spc="120" dirty="0">
                <a:solidFill>
                  <a:srgbClr val="B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BF0000"/>
                </a:solidFill>
                <a:latin typeface="Times New Roman"/>
                <a:cs typeface="Times New Roman"/>
              </a:rPr>
              <a:t>are</a:t>
            </a:r>
            <a:r>
              <a:rPr sz="2400" spc="114" dirty="0">
                <a:solidFill>
                  <a:srgbClr val="B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BF0000"/>
                </a:solidFill>
                <a:latin typeface="Times New Roman"/>
                <a:cs typeface="Times New Roman"/>
              </a:rPr>
              <a:t>located</a:t>
            </a:r>
            <a:r>
              <a:rPr sz="2400" spc="120" dirty="0">
                <a:solidFill>
                  <a:srgbClr val="B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underlying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technologies, 	</a:t>
            </a:r>
            <a:r>
              <a:rPr sz="2400" dirty="0">
                <a:latin typeface="Times New Roman"/>
                <a:cs typeface="Times New Roman"/>
              </a:rPr>
              <a:t>hardware,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so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are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905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643255" marR="19685" lvl="1" indent="-181610" algn="just">
              <a:lnSpc>
                <a:spcPts val="2570"/>
              </a:lnSpc>
              <a:buFont typeface="Arial"/>
              <a:buChar char="•"/>
              <a:tabLst>
                <a:tab pos="645160" algn="l"/>
              </a:tabLst>
            </a:pPr>
            <a:r>
              <a:rPr sz="2400" b="1" dirty="0">
                <a:latin typeface="Times New Roman"/>
                <a:cs typeface="Times New Roman"/>
              </a:rPr>
              <a:t>“The</a:t>
            </a:r>
            <a:r>
              <a:rPr sz="2400" b="1" spc="25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Grid"</a:t>
            </a:r>
            <a:r>
              <a:rPr sz="2400" b="1" spc="27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BF0000"/>
                </a:solidFill>
                <a:latin typeface="Times New Roman"/>
                <a:cs typeface="Times New Roman"/>
              </a:rPr>
              <a:t>links</a:t>
            </a:r>
            <a:r>
              <a:rPr sz="2400" spc="26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BF0000"/>
                </a:solidFill>
                <a:latin typeface="Times New Roman"/>
                <a:cs typeface="Times New Roman"/>
              </a:rPr>
              <a:t>together</a:t>
            </a:r>
            <a:r>
              <a:rPr sz="2400" spc="26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BF0000"/>
                </a:solidFill>
                <a:latin typeface="Times New Roman"/>
                <a:cs typeface="Times New Roman"/>
              </a:rPr>
              <a:t>computing</a:t>
            </a:r>
            <a:r>
              <a:rPr sz="2400" spc="26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BF0000"/>
                </a:solidFill>
                <a:latin typeface="Times New Roman"/>
                <a:cs typeface="Times New Roman"/>
              </a:rPr>
              <a:t>resources</a:t>
            </a:r>
            <a:r>
              <a:rPr sz="2400" spc="26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(PCs,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workstations,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servers, 	</a:t>
            </a:r>
            <a:r>
              <a:rPr sz="2400" dirty="0">
                <a:latin typeface="Times New Roman"/>
                <a:cs typeface="Times New Roman"/>
              </a:rPr>
              <a:t>storage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elements)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mechanism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them.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097186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1630045">
              <a:lnSpc>
                <a:spcPct val="100000"/>
              </a:lnSpc>
              <a:spcBef>
                <a:spcPts val="100"/>
              </a:spcBef>
            </a:pPr>
            <a:r>
              <a:rPr dirty="0"/>
              <a:t>Need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Grid</a:t>
            </a:r>
            <a:r>
              <a:rPr spc="-45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1048699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700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1048698" name="object 3"/>
          <p:cNvSpPr txBox="1"/>
          <p:nvPr/>
        </p:nvSpPr>
        <p:spPr>
          <a:xfrm>
            <a:off x="956581" y="1751883"/>
            <a:ext cx="9806940" cy="434323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94310" marR="927735" indent="-182245">
              <a:lnSpc>
                <a:spcPct val="71800"/>
              </a:lnSpc>
              <a:spcBef>
                <a:spcPts val="925"/>
              </a:spcBef>
              <a:buFont typeface="Arial"/>
              <a:buChar char="•"/>
              <a:tabLst>
                <a:tab pos="195580" algn="l"/>
              </a:tabLst>
            </a:pPr>
            <a:r>
              <a:rPr sz="2350" dirty="0">
                <a:latin typeface="Times New Roman"/>
                <a:cs typeface="Times New Roman"/>
              </a:rPr>
              <a:t>Today’s</a:t>
            </a:r>
            <a:r>
              <a:rPr sz="2350" spc="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Science/Research</a:t>
            </a:r>
            <a:r>
              <a:rPr sz="2350" spc="7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is</a:t>
            </a:r>
            <a:r>
              <a:rPr sz="2350" spc="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based</a:t>
            </a:r>
            <a:r>
              <a:rPr sz="2350" spc="7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55" dirty="0"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computations,</a:t>
            </a:r>
            <a:r>
              <a:rPr sz="2350" spc="7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data</a:t>
            </a:r>
            <a:r>
              <a:rPr sz="2350" spc="7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analysis,</a:t>
            </a:r>
            <a:r>
              <a:rPr sz="2350" spc="7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spc="-20" dirty="0">
                <a:solidFill>
                  <a:srgbClr val="BF0000"/>
                </a:solidFill>
                <a:latin typeface="Times New Roman"/>
                <a:cs typeface="Times New Roman"/>
              </a:rPr>
              <a:t>data 	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visualization</a:t>
            </a:r>
            <a:r>
              <a:rPr sz="2350" spc="6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&amp;</a:t>
            </a:r>
            <a:r>
              <a:rPr sz="2350" spc="7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BF0000"/>
                </a:solidFill>
                <a:latin typeface="Times New Roman"/>
                <a:cs typeface="Times New Roman"/>
              </a:rPr>
              <a:t>collaborations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  <a:buFont typeface="Arial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194310" marR="149225" indent="-182245">
              <a:lnSpc>
                <a:spcPct val="70900"/>
              </a:lnSpc>
              <a:buFont typeface="Arial"/>
              <a:buChar char="•"/>
              <a:tabLst>
                <a:tab pos="195580" algn="l"/>
              </a:tabLst>
            </a:pPr>
            <a:r>
              <a:rPr sz="2350" dirty="0">
                <a:latin typeface="Times New Roman"/>
                <a:cs typeface="Times New Roman"/>
              </a:rPr>
              <a:t>Computer</a:t>
            </a:r>
            <a:r>
              <a:rPr sz="2350" spc="35" dirty="0"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Simulations</a:t>
            </a:r>
            <a:r>
              <a:rPr sz="2350" spc="5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&amp;</a:t>
            </a:r>
            <a:r>
              <a:rPr sz="2350" spc="5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Modelling</a:t>
            </a:r>
            <a:r>
              <a:rPr sz="2350" spc="5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are</a:t>
            </a:r>
            <a:r>
              <a:rPr sz="2350" spc="5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more</a:t>
            </a:r>
            <a:r>
              <a:rPr sz="2350" spc="5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cost</a:t>
            </a:r>
            <a:r>
              <a:rPr sz="2350" spc="5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effective</a:t>
            </a:r>
            <a:r>
              <a:rPr sz="2350" spc="8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than</a:t>
            </a:r>
            <a:r>
              <a:rPr sz="2350" spc="5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experimental 	methods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5"/>
              </a:spcBef>
              <a:buFont typeface="Arial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194310" marR="5080" indent="-182245">
              <a:lnSpc>
                <a:spcPct val="70900"/>
              </a:lnSpc>
              <a:buFont typeface="Arial"/>
              <a:buChar char="•"/>
              <a:tabLst>
                <a:tab pos="195580" algn="l"/>
              </a:tabLst>
            </a:pPr>
            <a:r>
              <a:rPr sz="2350" dirty="0">
                <a:latin typeface="Times New Roman"/>
                <a:cs typeface="Times New Roman"/>
              </a:rPr>
              <a:t>Scientific</a:t>
            </a:r>
            <a:r>
              <a:rPr sz="2350" spc="4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and</a:t>
            </a:r>
            <a:r>
              <a:rPr sz="2350" spc="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Engineering</a:t>
            </a:r>
            <a:r>
              <a:rPr sz="2350" spc="65" dirty="0"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problems</a:t>
            </a:r>
            <a:r>
              <a:rPr sz="2350" spc="6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are</a:t>
            </a:r>
            <a:r>
              <a:rPr sz="2350" spc="5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becoming</a:t>
            </a:r>
            <a:r>
              <a:rPr sz="2350" spc="5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more</a:t>
            </a:r>
            <a:r>
              <a:rPr sz="2350" spc="6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complex</a:t>
            </a:r>
            <a:r>
              <a:rPr sz="2350" spc="5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&amp;</a:t>
            </a:r>
            <a:r>
              <a:rPr sz="2350" spc="5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users</a:t>
            </a:r>
            <a:r>
              <a:rPr sz="2350" spc="60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need 	</a:t>
            </a:r>
            <a:r>
              <a:rPr sz="2350" dirty="0">
                <a:latin typeface="Times New Roman"/>
                <a:cs typeface="Times New Roman"/>
              </a:rPr>
              <a:t>more</a:t>
            </a:r>
            <a:r>
              <a:rPr sz="2350" spc="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accurate,</a:t>
            </a:r>
            <a:r>
              <a:rPr sz="2350" spc="45" dirty="0"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precise</a:t>
            </a:r>
            <a:r>
              <a:rPr sz="2350" spc="5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solutions</a:t>
            </a:r>
            <a:r>
              <a:rPr sz="2350" spc="4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to</a:t>
            </a:r>
            <a:r>
              <a:rPr sz="2350" spc="4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their</a:t>
            </a:r>
            <a:r>
              <a:rPr sz="2350" spc="4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BF0000"/>
                </a:solidFill>
                <a:latin typeface="Times New Roman"/>
                <a:cs typeface="Times New Roman"/>
              </a:rPr>
              <a:t>problems</a:t>
            </a:r>
            <a:r>
              <a:rPr sz="2350" spc="5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</a:t>
            </a:r>
            <a:r>
              <a:rPr sz="2350" spc="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shortest</a:t>
            </a:r>
            <a:r>
              <a:rPr sz="2350" spc="4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possible</a:t>
            </a:r>
            <a:r>
              <a:rPr sz="2350" spc="45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time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94945" algn="l"/>
              </a:tabLst>
            </a:pPr>
            <a:r>
              <a:rPr sz="2350" dirty="0">
                <a:latin typeface="Times New Roman"/>
                <a:cs typeface="Times New Roman"/>
              </a:rPr>
              <a:t>Data</a:t>
            </a:r>
            <a:r>
              <a:rPr sz="2350" spc="5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Visualization</a:t>
            </a:r>
            <a:r>
              <a:rPr sz="2350" spc="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is</a:t>
            </a:r>
            <a:r>
              <a:rPr sz="2350" spc="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becoming</a:t>
            </a:r>
            <a:r>
              <a:rPr sz="2350" spc="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very</a:t>
            </a:r>
            <a:r>
              <a:rPr sz="2350" spc="6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important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5"/>
              </a:spcBef>
              <a:buFont typeface="Arial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buFont typeface="Arial"/>
              <a:buChar char="•"/>
              <a:tabLst>
                <a:tab pos="194945" algn="l"/>
              </a:tabLst>
            </a:pPr>
            <a:r>
              <a:rPr sz="2350" i="1" u="heavy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Exploiting</a:t>
            </a:r>
            <a:r>
              <a:rPr sz="2350" i="1" u="heavy" spc="7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50" i="1" u="heavy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under</a:t>
            </a:r>
            <a:r>
              <a:rPr sz="2350" i="1" u="heavy" spc="7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50" i="1" u="heavy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utilized</a:t>
            </a:r>
            <a:r>
              <a:rPr sz="2350" i="1" u="heavy" spc="7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50" i="1" u="heavy" spc="-1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resources</a:t>
            </a:r>
            <a:endParaRPr sz="2350">
              <a:latin typeface="Times New Roman"/>
              <a:cs typeface="Times New Roman"/>
            </a:endParaRPr>
          </a:p>
        </p:txBody>
      </p:sp>
      <p:pic>
        <p:nvPicPr>
          <p:cNvPr id="2097187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29940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Applications</a:t>
            </a:r>
          </a:p>
        </p:txBody>
      </p:sp>
      <p:sp>
        <p:nvSpPr>
          <p:cNvPr id="1048703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704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1048702" name="object 3"/>
          <p:cNvSpPr txBox="1"/>
          <p:nvPr/>
        </p:nvSpPr>
        <p:spPr>
          <a:xfrm>
            <a:off x="964545" y="1721383"/>
            <a:ext cx="6587490" cy="244602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Weather </a:t>
            </a:r>
            <a:r>
              <a:rPr sz="2800" spc="-10" dirty="0">
                <a:latin typeface="Times New Roman"/>
                <a:cs typeface="Times New Roman"/>
              </a:rPr>
              <a:t>Forecast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Detection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Natural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Disasters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Physics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Application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others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97188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288925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0" dirty="0"/>
              <a:t>Grid</a:t>
            </a:r>
          </a:p>
        </p:txBody>
      </p:sp>
      <p:sp>
        <p:nvSpPr>
          <p:cNvPr id="1048706" name="object 3"/>
          <p:cNvSpPr txBox="1">
            <a:spLocks noGrp="1"/>
          </p:cNvSpPr>
          <p:nvPr>
            <p:ph idx="1"/>
          </p:nvPr>
        </p:nvSpPr>
        <p:spPr>
          <a:xfrm>
            <a:off x="907427" y="1781667"/>
            <a:ext cx="10377144" cy="401099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45110" indent="-197485">
              <a:lnSpc>
                <a:spcPct val="100000"/>
              </a:lnSpc>
              <a:spcBef>
                <a:spcPts val="115"/>
              </a:spcBef>
              <a:buFont typeface="Arial"/>
              <a:buChar char="•"/>
              <a:tabLst>
                <a:tab pos="245745" algn="l"/>
              </a:tabLst>
            </a:pPr>
            <a:r>
              <a:rPr dirty="0"/>
              <a:t>Computational</a:t>
            </a:r>
            <a:r>
              <a:rPr spc="45" dirty="0"/>
              <a:t> </a:t>
            </a:r>
            <a:r>
              <a:rPr spc="-10" dirty="0"/>
              <a:t>Grid:</a:t>
            </a:r>
          </a:p>
          <a:p>
            <a:pPr marL="701040" lvl="1" indent="-20002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701675" algn="l"/>
              </a:tabLst>
            </a:pPr>
            <a:r>
              <a:rPr sz="1450" dirty="0">
                <a:latin typeface="Times New Roman"/>
                <a:cs typeface="Times New Roman"/>
              </a:rPr>
              <a:t>HTC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and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spc="-20" dirty="0">
                <a:latin typeface="Times New Roman"/>
                <a:cs typeface="Times New Roman"/>
              </a:rPr>
              <a:t>HPC.</a:t>
            </a:r>
            <a:endParaRPr sz="1450">
              <a:latin typeface="Times New Roman"/>
              <a:cs typeface="Times New Roman"/>
            </a:endParaRPr>
          </a:p>
          <a:p>
            <a:pPr marL="34925" lvl="1">
              <a:lnSpc>
                <a:spcPct val="100000"/>
              </a:lnSpc>
              <a:spcBef>
                <a:spcPts val="1140"/>
              </a:spcBef>
              <a:buFont typeface="Arial"/>
              <a:buChar char="•"/>
            </a:pPr>
            <a:endParaRPr sz="1450">
              <a:latin typeface="Times New Roman"/>
              <a:cs typeface="Times New Roman"/>
            </a:endParaRPr>
          </a:p>
          <a:p>
            <a:pPr marL="245110" indent="-197485">
              <a:lnSpc>
                <a:spcPts val="1980"/>
              </a:lnSpc>
              <a:buFont typeface="Arial"/>
              <a:buChar char="•"/>
              <a:tabLst>
                <a:tab pos="245745" algn="l"/>
              </a:tabLst>
            </a:pPr>
            <a:r>
              <a:rPr dirty="0"/>
              <a:t>Data</a:t>
            </a:r>
            <a:r>
              <a:rPr spc="30" dirty="0"/>
              <a:t> </a:t>
            </a:r>
            <a:r>
              <a:rPr spc="-10" dirty="0"/>
              <a:t>Grid:</a:t>
            </a:r>
          </a:p>
          <a:p>
            <a:pPr marL="701040" lvl="1" indent="-200025">
              <a:lnSpc>
                <a:spcPts val="1739"/>
              </a:lnSpc>
              <a:buFont typeface="Arial"/>
              <a:buChar char="•"/>
              <a:tabLst>
                <a:tab pos="701675" algn="l"/>
              </a:tabLst>
            </a:pPr>
            <a:r>
              <a:rPr sz="1450" dirty="0">
                <a:latin typeface="Times New Roman"/>
                <a:cs typeface="Times New Roman"/>
              </a:rPr>
              <a:t>Support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data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storage,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data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discovery,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data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handling,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data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publication,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and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data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manipulation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large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volumes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data.</a:t>
            </a:r>
            <a:endParaRPr sz="1450">
              <a:latin typeface="Times New Roman"/>
              <a:cs typeface="Times New Roman"/>
            </a:endParaRPr>
          </a:p>
          <a:p>
            <a:pPr marL="34925" lvl="1">
              <a:lnSpc>
                <a:spcPct val="100000"/>
              </a:lnSpc>
              <a:spcBef>
                <a:spcPts val="1140"/>
              </a:spcBef>
              <a:buFont typeface="Arial"/>
              <a:buChar char="•"/>
            </a:pPr>
            <a:endParaRPr sz="1450">
              <a:latin typeface="Times New Roman"/>
              <a:cs typeface="Times New Roman"/>
            </a:endParaRPr>
          </a:p>
          <a:p>
            <a:pPr marL="245110" indent="-197485">
              <a:lnSpc>
                <a:spcPts val="1980"/>
              </a:lnSpc>
              <a:spcBef>
                <a:spcPts val="5"/>
              </a:spcBef>
              <a:buFont typeface="Arial"/>
              <a:buChar char="•"/>
              <a:tabLst>
                <a:tab pos="245745" algn="l"/>
              </a:tabLst>
            </a:pPr>
            <a:r>
              <a:rPr dirty="0"/>
              <a:t>Collaboration</a:t>
            </a:r>
            <a:r>
              <a:rPr spc="-60" dirty="0"/>
              <a:t> </a:t>
            </a:r>
            <a:r>
              <a:rPr spc="-10" dirty="0"/>
              <a:t>Grid:</a:t>
            </a:r>
          </a:p>
          <a:p>
            <a:pPr marL="701675" marR="5080" lvl="1" indent="-200660">
              <a:lnSpc>
                <a:spcPct val="70400"/>
              </a:lnSpc>
              <a:spcBef>
                <a:spcPts val="509"/>
              </a:spcBef>
              <a:buFont typeface="Arial"/>
              <a:buChar char="•"/>
              <a:tabLst>
                <a:tab pos="702310" algn="l"/>
              </a:tabLst>
            </a:pPr>
            <a:r>
              <a:rPr sz="1450" dirty="0">
                <a:latin typeface="Times New Roman"/>
                <a:cs typeface="Times New Roman"/>
              </a:rPr>
              <a:t>With</a:t>
            </a:r>
            <a:r>
              <a:rPr sz="1450" spc="3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3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advent</a:t>
            </a:r>
            <a:r>
              <a:rPr sz="1450" spc="3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3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Internet,</a:t>
            </a:r>
            <a:r>
              <a:rPr sz="1450" spc="3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there</a:t>
            </a:r>
            <a:r>
              <a:rPr sz="1450" spc="3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has</a:t>
            </a:r>
            <a:r>
              <a:rPr sz="1450" spc="3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been</a:t>
            </a:r>
            <a:r>
              <a:rPr sz="1450" spc="3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an</a:t>
            </a:r>
            <a:r>
              <a:rPr sz="1450" spc="3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increased</a:t>
            </a:r>
            <a:r>
              <a:rPr sz="1450" spc="3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demand</a:t>
            </a:r>
            <a:r>
              <a:rPr sz="1450" spc="3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for</a:t>
            </a:r>
            <a:r>
              <a:rPr sz="1450" spc="3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better</a:t>
            </a:r>
            <a:r>
              <a:rPr sz="1450" spc="3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collaboration.</a:t>
            </a:r>
            <a:r>
              <a:rPr sz="1450" spc="3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Such</a:t>
            </a:r>
            <a:r>
              <a:rPr sz="1450" spc="3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advanced</a:t>
            </a:r>
            <a:r>
              <a:rPr sz="1450" spc="3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collaboration</a:t>
            </a:r>
            <a:r>
              <a:rPr sz="1450" spc="355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is </a:t>
            </a:r>
            <a:r>
              <a:rPr sz="1450" dirty="0">
                <a:latin typeface="Times New Roman"/>
                <a:cs typeface="Times New Roman"/>
              </a:rPr>
              <a:t>possible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using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grid.</a:t>
            </a:r>
            <a:endParaRPr sz="1450">
              <a:latin typeface="Times New Roman"/>
              <a:cs typeface="Times New Roman"/>
            </a:endParaRPr>
          </a:p>
          <a:p>
            <a:pPr marL="34925" lvl="1">
              <a:lnSpc>
                <a:spcPct val="100000"/>
              </a:lnSpc>
              <a:spcBef>
                <a:spcPts val="1190"/>
              </a:spcBef>
              <a:buFont typeface="Arial"/>
              <a:buChar char="•"/>
            </a:pPr>
            <a:endParaRPr sz="1450">
              <a:latin typeface="Times New Roman"/>
              <a:cs typeface="Times New Roman"/>
            </a:endParaRPr>
          </a:p>
          <a:p>
            <a:pPr marL="245110" indent="-197485">
              <a:lnSpc>
                <a:spcPts val="1980"/>
              </a:lnSpc>
              <a:spcBef>
                <a:spcPts val="5"/>
              </a:spcBef>
              <a:buFont typeface="Arial"/>
              <a:buChar char="•"/>
              <a:tabLst>
                <a:tab pos="245745" algn="l"/>
              </a:tabLst>
            </a:pPr>
            <a:r>
              <a:rPr dirty="0"/>
              <a:t>Network</a:t>
            </a:r>
            <a:r>
              <a:rPr spc="-30" dirty="0"/>
              <a:t> </a:t>
            </a:r>
            <a:r>
              <a:rPr spc="-10" dirty="0"/>
              <a:t>Grid:</a:t>
            </a:r>
          </a:p>
          <a:p>
            <a:pPr marL="701040" lvl="1" indent="-200025">
              <a:lnSpc>
                <a:spcPts val="1739"/>
              </a:lnSpc>
              <a:buFont typeface="Arial"/>
              <a:buChar char="•"/>
              <a:tabLst>
                <a:tab pos="701675" algn="l"/>
              </a:tabLst>
            </a:pPr>
            <a:r>
              <a:rPr sz="1450" dirty="0">
                <a:latin typeface="Times New Roman"/>
                <a:cs typeface="Times New Roman"/>
              </a:rPr>
              <a:t>A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Network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Grid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provides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fault-tolerant</a:t>
            </a:r>
            <a:r>
              <a:rPr sz="1450" spc="8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and</a:t>
            </a:r>
            <a:r>
              <a:rPr sz="1450" spc="8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high-performance</a:t>
            </a:r>
            <a:r>
              <a:rPr sz="1450" spc="8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communication</a:t>
            </a:r>
            <a:r>
              <a:rPr sz="1450" spc="10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services.</a:t>
            </a:r>
            <a:endParaRPr sz="1450">
              <a:latin typeface="Times New Roman"/>
              <a:cs typeface="Times New Roman"/>
            </a:endParaRPr>
          </a:p>
          <a:p>
            <a:pPr marL="34925" lvl="1">
              <a:lnSpc>
                <a:spcPct val="100000"/>
              </a:lnSpc>
              <a:spcBef>
                <a:spcPts val="1140"/>
              </a:spcBef>
              <a:buFont typeface="Arial"/>
              <a:buChar char="•"/>
            </a:pPr>
            <a:endParaRPr sz="1450">
              <a:latin typeface="Times New Roman"/>
              <a:cs typeface="Times New Roman"/>
            </a:endParaRPr>
          </a:p>
          <a:p>
            <a:pPr marL="245110" indent="-197485">
              <a:lnSpc>
                <a:spcPts val="1980"/>
              </a:lnSpc>
              <a:buFont typeface="Arial"/>
              <a:buChar char="•"/>
              <a:tabLst>
                <a:tab pos="245745" algn="l"/>
              </a:tabLst>
            </a:pPr>
            <a:r>
              <a:rPr dirty="0"/>
              <a:t>Utility </a:t>
            </a:r>
            <a:r>
              <a:rPr spc="-10" dirty="0"/>
              <a:t>Grid:</a:t>
            </a:r>
          </a:p>
          <a:p>
            <a:pPr marL="701675" marR="16510" lvl="1" indent="-200660">
              <a:lnSpc>
                <a:spcPct val="70400"/>
              </a:lnSpc>
              <a:spcBef>
                <a:spcPts val="515"/>
              </a:spcBef>
              <a:buFont typeface="Arial"/>
              <a:buChar char="•"/>
              <a:tabLst>
                <a:tab pos="702310" algn="l"/>
              </a:tabLst>
            </a:pPr>
            <a:r>
              <a:rPr sz="1450" dirty="0">
                <a:latin typeface="Times New Roman"/>
                <a:cs typeface="Times New Roman"/>
              </a:rPr>
              <a:t>This</a:t>
            </a:r>
            <a:r>
              <a:rPr sz="1450" spc="1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is</a:t>
            </a:r>
            <a:r>
              <a:rPr sz="1450" spc="1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1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ultimate</a:t>
            </a:r>
            <a:r>
              <a:rPr sz="1450" spc="1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form</a:t>
            </a:r>
            <a:r>
              <a:rPr sz="1450" spc="1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1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1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Grid,</a:t>
            </a:r>
            <a:r>
              <a:rPr sz="1450" spc="1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</a:t>
            </a:r>
            <a:r>
              <a:rPr sz="1450" spc="1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which</a:t>
            </a:r>
            <a:r>
              <a:rPr sz="1450" spc="145" dirty="0"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not</a:t>
            </a:r>
            <a:r>
              <a:rPr sz="1450" spc="1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only</a:t>
            </a:r>
            <a:r>
              <a:rPr sz="1450" spc="1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data</a:t>
            </a:r>
            <a:r>
              <a:rPr sz="1450" spc="1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and</a:t>
            </a:r>
            <a:r>
              <a:rPr sz="1450" spc="1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computation</a:t>
            </a:r>
            <a:r>
              <a:rPr sz="1450" spc="1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cycles</a:t>
            </a:r>
            <a:r>
              <a:rPr sz="1450" spc="1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are</a:t>
            </a:r>
            <a:r>
              <a:rPr sz="1450" spc="1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shared</a:t>
            </a:r>
            <a:r>
              <a:rPr sz="1450" spc="1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but</a:t>
            </a:r>
            <a:r>
              <a:rPr sz="1450" spc="1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software</a:t>
            </a:r>
            <a:r>
              <a:rPr sz="1450" spc="1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or</a:t>
            </a:r>
            <a:r>
              <a:rPr sz="1450" spc="1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just</a:t>
            </a:r>
            <a:r>
              <a:rPr sz="1450" spc="1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about</a:t>
            </a:r>
            <a:r>
              <a:rPr sz="1450" spc="1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spc="-25" dirty="0">
                <a:solidFill>
                  <a:srgbClr val="BF0000"/>
                </a:solidFill>
                <a:latin typeface="Times New Roman"/>
                <a:cs typeface="Times New Roman"/>
              </a:rPr>
              <a:t>any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resource</a:t>
            </a:r>
            <a:r>
              <a:rPr sz="1450" spc="4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BF0000"/>
                </a:solidFill>
                <a:latin typeface="Times New Roman"/>
                <a:cs typeface="Times New Roman"/>
              </a:rPr>
              <a:t>is</a:t>
            </a:r>
            <a:r>
              <a:rPr sz="1450" spc="4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BF0000"/>
                </a:solidFill>
                <a:latin typeface="Times New Roman"/>
                <a:cs typeface="Times New Roman"/>
              </a:rPr>
              <a:t>shared</a:t>
            </a:r>
            <a:r>
              <a:rPr sz="1450" spc="-10" dirty="0">
                <a:latin typeface="Times New Roman"/>
                <a:cs typeface="Times New Roman"/>
              </a:rPr>
              <a:t>.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48707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708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pic>
        <p:nvPicPr>
          <p:cNvPr id="2097189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object 2"/>
          <p:cNvSpPr txBox="1">
            <a:spLocks noGrp="1"/>
          </p:cNvSpPr>
          <p:nvPr>
            <p:ph type="title"/>
          </p:nvPr>
        </p:nvSpPr>
        <p:spPr>
          <a:xfrm>
            <a:off x="3353012" y="3588885"/>
            <a:ext cx="5465445" cy="181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Utility</a:t>
            </a:r>
            <a:r>
              <a:rPr sz="6000" spc="-35" dirty="0"/>
              <a:t> </a:t>
            </a:r>
            <a:r>
              <a:rPr sz="6000" spc="-10" dirty="0"/>
              <a:t>Computing</a:t>
            </a:r>
            <a:endParaRPr sz="6000"/>
          </a:p>
        </p:txBody>
      </p:sp>
      <p:sp>
        <p:nvSpPr>
          <p:cNvPr id="1048710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711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pic>
        <p:nvPicPr>
          <p:cNvPr id="2097190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134112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00" dirty="0"/>
              <a:t> </a:t>
            </a:r>
            <a:r>
              <a:rPr dirty="0"/>
              <a:t>is</a:t>
            </a:r>
            <a:r>
              <a:rPr spc="-100" dirty="0"/>
              <a:t> </a:t>
            </a:r>
            <a:r>
              <a:rPr dirty="0"/>
              <a:t>Utility</a:t>
            </a:r>
            <a:r>
              <a:rPr spc="-100" dirty="0"/>
              <a:t> </a:t>
            </a:r>
            <a:r>
              <a:rPr spc="-10" dirty="0"/>
              <a:t>Computing?</a:t>
            </a:r>
          </a:p>
        </p:txBody>
      </p:sp>
      <p:sp>
        <p:nvSpPr>
          <p:cNvPr id="1048714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715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1048713" name="object 3"/>
          <p:cNvSpPr txBox="1"/>
          <p:nvPr/>
        </p:nvSpPr>
        <p:spPr>
          <a:xfrm>
            <a:off x="960537" y="1743136"/>
            <a:ext cx="10316845" cy="716263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91770" marR="5080" indent="-179705">
              <a:lnSpc>
                <a:spcPct val="71100"/>
              </a:lnSpc>
              <a:spcBef>
                <a:spcPts val="1025"/>
              </a:spcBef>
              <a:buFont typeface="Arial"/>
              <a:buChar char="•"/>
              <a:tabLst>
                <a:tab pos="191770" algn="l"/>
                <a:tab pos="1185545" algn="l"/>
                <a:tab pos="2800985" algn="l"/>
                <a:tab pos="3155950" algn="l"/>
                <a:tab pos="4131310" algn="l"/>
                <a:tab pos="4411980" algn="l"/>
                <a:tab pos="5568315" algn="l"/>
                <a:tab pos="6507480" algn="l"/>
                <a:tab pos="7372984" algn="l"/>
                <a:tab pos="8915400" algn="l"/>
              </a:tabLst>
            </a:pPr>
            <a:r>
              <a:rPr sz="2550" spc="-10" dirty="0">
                <a:latin typeface="Times New Roman"/>
                <a:cs typeface="Times New Roman"/>
              </a:rPr>
              <a:t>Utility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Computing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is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purely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Times New Roman"/>
                <a:cs typeface="Times New Roman"/>
              </a:rPr>
              <a:t>a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concept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which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cloud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computing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practically implements.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•"/>
            </a:pPr>
            <a:endParaRPr sz="2550">
              <a:latin typeface="Times New Roman"/>
              <a:cs typeface="Times New Roman"/>
            </a:endParaRPr>
          </a:p>
          <a:p>
            <a:pPr marL="191770" indent="-179070">
              <a:lnSpc>
                <a:spcPts val="2605"/>
              </a:lnSpc>
              <a:buFont typeface="Arial"/>
              <a:buChar char="•"/>
              <a:tabLst>
                <a:tab pos="191770" algn="l"/>
                <a:tab pos="1238250" algn="l"/>
                <a:tab pos="2833370" algn="l"/>
                <a:tab pos="3240405" algn="l"/>
                <a:tab pos="3573779" algn="l"/>
                <a:tab pos="4691380" algn="l"/>
                <a:tab pos="6542405" algn="l"/>
                <a:tab pos="7553959" algn="l"/>
                <a:tab pos="7997825" algn="l"/>
                <a:tab pos="8989060" algn="l"/>
                <a:tab pos="9323070" algn="l"/>
              </a:tabLst>
            </a:pPr>
            <a:r>
              <a:rPr sz="2550" spc="-10" dirty="0">
                <a:latin typeface="Times New Roman"/>
                <a:cs typeface="Times New Roman"/>
              </a:rPr>
              <a:t>Utility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computing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is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Times New Roman"/>
                <a:cs typeface="Times New Roman"/>
              </a:rPr>
              <a:t>a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solidFill>
                  <a:srgbClr val="BF0000"/>
                </a:solidFill>
                <a:latin typeface="Times New Roman"/>
                <a:cs typeface="Times New Roman"/>
              </a:rPr>
              <a:t>service</a:t>
            </a:r>
            <a:r>
              <a:rPr sz="2550" dirty="0">
                <a:solidFill>
                  <a:srgbClr val="BF0000"/>
                </a:solidFill>
                <a:latin typeface="Times New Roman"/>
                <a:cs typeface="Times New Roman"/>
              </a:rPr>
              <a:t>	</a:t>
            </a:r>
            <a:r>
              <a:rPr sz="2550" spc="-10" dirty="0">
                <a:solidFill>
                  <a:srgbClr val="BF0000"/>
                </a:solidFill>
                <a:latin typeface="Times New Roman"/>
                <a:cs typeface="Times New Roman"/>
              </a:rPr>
              <a:t>provisioning</a:t>
            </a:r>
            <a:r>
              <a:rPr sz="2550" dirty="0">
                <a:solidFill>
                  <a:srgbClr val="BF0000"/>
                </a:solidFill>
                <a:latin typeface="Times New Roman"/>
                <a:cs typeface="Times New Roman"/>
              </a:rPr>
              <a:t>	</a:t>
            </a:r>
            <a:r>
              <a:rPr sz="2550" spc="-10" dirty="0">
                <a:solidFill>
                  <a:srgbClr val="BF0000"/>
                </a:solidFill>
                <a:latin typeface="Times New Roman"/>
                <a:cs typeface="Times New Roman"/>
              </a:rPr>
              <a:t>model</a:t>
            </a:r>
            <a:r>
              <a:rPr sz="2550" dirty="0">
                <a:solidFill>
                  <a:srgbClr val="BF0000"/>
                </a:solidFill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in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which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Times New Roman"/>
                <a:cs typeface="Times New Roman"/>
              </a:rPr>
              <a:t>a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service</a:t>
            </a:r>
            <a:endParaRPr sz="2550">
              <a:latin typeface="Times New Roman"/>
              <a:cs typeface="Times New Roman"/>
            </a:endParaRPr>
          </a:p>
          <a:p>
            <a:pPr marL="191770">
              <a:lnSpc>
                <a:spcPts val="2160"/>
              </a:lnSpc>
              <a:tabLst>
                <a:tab pos="1569720" algn="l"/>
                <a:tab pos="2673985" algn="l"/>
                <a:tab pos="4345305" algn="l"/>
                <a:tab pos="5850890" algn="l"/>
                <a:tab pos="6590030" algn="l"/>
                <a:tab pos="8622030" algn="l"/>
              </a:tabLst>
            </a:pPr>
            <a:r>
              <a:rPr sz="2550" spc="-10" dirty="0">
                <a:latin typeface="Times New Roman"/>
                <a:cs typeface="Times New Roman"/>
              </a:rPr>
              <a:t>provider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makes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computing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resources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and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infrastructure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management</a:t>
            </a:r>
            <a:endParaRPr sz="2550">
              <a:latin typeface="Times New Roman"/>
              <a:cs typeface="Times New Roman"/>
            </a:endParaRPr>
          </a:p>
          <a:p>
            <a:pPr marL="191770" marR="31750">
              <a:lnSpc>
                <a:spcPct val="71100"/>
              </a:lnSpc>
              <a:spcBef>
                <a:spcPts val="440"/>
              </a:spcBef>
              <a:tabLst>
                <a:tab pos="1508760" algn="l"/>
                <a:tab pos="1897380" algn="l"/>
                <a:tab pos="2430780" algn="l"/>
                <a:tab pos="3768725" algn="l"/>
                <a:tab pos="4175125" algn="l"/>
                <a:tab pos="5321300" algn="l"/>
                <a:tab pos="5933440" algn="l"/>
                <a:tab pos="7070090" algn="l"/>
                <a:tab pos="7859395" algn="l"/>
                <a:tab pos="8375650" algn="l"/>
                <a:tab pos="9528810" algn="l"/>
              </a:tabLst>
            </a:pPr>
            <a:r>
              <a:rPr sz="2550" spc="-10" dirty="0">
                <a:latin typeface="Times New Roman"/>
                <a:cs typeface="Times New Roman"/>
              </a:rPr>
              <a:t>available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to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the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customer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as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needed,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and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solidFill>
                  <a:srgbClr val="BF0000"/>
                </a:solidFill>
                <a:latin typeface="Times New Roman"/>
                <a:cs typeface="Times New Roman"/>
              </a:rPr>
              <a:t>charges</a:t>
            </a:r>
            <a:r>
              <a:rPr sz="2550" dirty="0">
                <a:solidFill>
                  <a:srgbClr val="BF0000"/>
                </a:solidFill>
                <a:latin typeface="Times New Roman"/>
                <a:cs typeface="Times New Roman"/>
              </a:rPr>
              <a:t>	</a:t>
            </a:r>
            <a:r>
              <a:rPr sz="2550" spc="-20" dirty="0">
                <a:solidFill>
                  <a:srgbClr val="BF0000"/>
                </a:solidFill>
                <a:latin typeface="Times New Roman"/>
                <a:cs typeface="Times New Roman"/>
              </a:rPr>
              <a:t>them</a:t>
            </a:r>
            <a:r>
              <a:rPr sz="2550" dirty="0">
                <a:solidFill>
                  <a:srgbClr val="BF0000"/>
                </a:solidFill>
                <a:latin typeface="Times New Roman"/>
                <a:cs typeface="Times New Roman"/>
              </a:rPr>
              <a:t>	</a:t>
            </a:r>
            <a:r>
              <a:rPr sz="2550" spc="-25" dirty="0">
                <a:solidFill>
                  <a:srgbClr val="BF0000"/>
                </a:solidFill>
                <a:latin typeface="Times New Roman"/>
                <a:cs typeface="Times New Roman"/>
              </a:rPr>
              <a:t>for</a:t>
            </a:r>
            <a:r>
              <a:rPr sz="2550" dirty="0">
                <a:solidFill>
                  <a:srgbClr val="BF0000"/>
                </a:solidFill>
                <a:latin typeface="Times New Roman"/>
                <a:cs typeface="Times New Roman"/>
              </a:rPr>
              <a:t>	</a:t>
            </a:r>
            <a:r>
              <a:rPr sz="2550" spc="-10" dirty="0">
                <a:solidFill>
                  <a:srgbClr val="BF0000"/>
                </a:solidFill>
                <a:latin typeface="Times New Roman"/>
                <a:cs typeface="Times New Roman"/>
              </a:rPr>
              <a:t>specific</a:t>
            </a:r>
            <a:r>
              <a:rPr sz="2550" dirty="0">
                <a:solidFill>
                  <a:srgbClr val="BF0000"/>
                </a:solidFill>
                <a:latin typeface="Times New Roman"/>
                <a:cs typeface="Times New Roman"/>
              </a:rPr>
              <a:t>	</a:t>
            </a:r>
            <a:r>
              <a:rPr sz="2550" spc="-10" dirty="0">
                <a:solidFill>
                  <a:srgbClr val="BF0000"/>
                </a:solidFill>
                <a:latin typeface="Times New Roman"/>
                <a:cs typeface="Times New Roman"/>
              </a:rPr>
              <a:t>usage </a:t>
            </a:r>
            <a:r>
              <a:rPr sz="2550" dirty="0">
                <a:latin typeface="Times New Roman"/>
                <a:cs typeface="Times New Roman"/>
              </a:rPr>
              <a:t>rather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than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flat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rate.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2550">
              <a:latin typeface="Times New Roman"/>
              <a:cs typeface="Times New Roman"/>
            </a:endParaRPr>
          </a:p>
          <a:p>
            <a:pPr marL="191770" marR="39370" indent="-179705">
              <a:lnSpc>
                <a:spcPct val="70300"/>
              </a:lnSpc>
              <a:buFont typeface="Arial"/>
              <a:buChar char="•"/>
              <a:tabLst>
                <a:tab pos="191770" algn="l"/>
                <a:tab pos="858519" algn="l"/>
                <a:tab pos="1691639" algn="l"/>
                <a:tab pos="2614930" algn="l"/>
                <a:tab pos="2990850" algn="l"/>
                <a:tab pos="3749675" algn="l"/>
                <a:tab pos="4161790" algn="l"/>
                <a:tab pos="5029200" algn="l"/>
                <a:tab pos="5495925" algn="l"/>
                <a:tab pos="6693534" algn="l"/>
                <a:tab pos="7105650" algn="l"/>
                <a:tab pos="7937500" algn="l"/>
                <a:tab pos="9235440" algn="l"/>
                <a:tab pos="9994900" algn="l"/>
              </a:tabLst>
            </a:pPr>
            <a:r>
              <a:rPr sz="2550" spc="-25" dirty="0">
                <a:latin typeface="Times New Roman"/>
                <a:cs typeface="Times New Roman"/>
              </a:rPr>
              <a:t>The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0" dirty="0">
                <a:latin typeface="Times New Roman"/>
                <a:cs typeface="Times New Roman"/>
              </a:rPr>
              <a:t>word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spc="-10" dirty="0">
                <a:latin typeface="Times New Roman"/>
                <a:cs typeface="Times New Roman"/>
              </a:rPr>
              <a:t>utility</a:t>
            </a:r>
            <a:r>
              <a:rPr sz="2550" i="1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is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0" dirty="0">
                <a:latin typeface="Times New Roman"/>
                <a:cs typeface="Times New Roman"/>
              </a:rPr>
              <a:t>used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to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0" dirty="0">
                <a:latin typeface="Times New Roman"/>
                <a:cs typeface="Times New Roman"/>
              </a:rPr>
              <a:t>make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an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analogy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to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other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services,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0" dirty="0">
                <a:latin typeface="Times New Roman"/>
                <a:cs typeface="Times New Roman"/>
              </a:rPr>
              <a:t>such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as </a:t>
            </a:r>
            <a:r>
              <a:rPr sz="2550" dirty="0">
                <a:latin typeface="Times New Roman"/>
                <a:cs typeface="Times New Roman"/>
              </a:rPr>
              <a:t>electrical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power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•"/>
            </a:pPr>
            <a:endParaRPr sz="255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buFont typeface="Arial"/>
              <a:buChar char="•"/>
              <a:tabLst>
                <a:tab pos="191770" algn="l"/>
              </a:tabLst>
            </a:pPr>
            <a:r>
              <a:rPr sz="2550" dirty="0">
                <a:latin typeface="Times New Roman"/>
                <a:cs typeface="Times New Roman"/>
              </a:rPr>
              <a:t>sometimes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known</a:t>
            </a:r>
            <a:r>
              <a:rPr sz="2550" spc="8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as</a:t>
            </a:r>
            <a:r>
              <a:rPr sz="2550" spc="80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pay-per-</a:t>
            </a:r>
            <a:r>
              <a:rPr sz="2550" i="1" spc="-25" dirty="0">
                <a:latin typeface="Times New Roman"/>
                <a:cs typeface="Times New Roman"/>
              </a:rPr>
              <a:t>use</a:t>
            </a:r>
            <a:endParaRPr sz="2550">
              <a:latin typeface="Times New Roman"/>
              <a:cs typeface="Times New Roman"/>
            </a:endParaRPr>
          </a:p>
        </p:txBody>
      </p:sp>
      <p:pic>
        <p:nvPicPr>
          <p:cNvPr id="2097191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2263775">
              <a:lnSpc>
                <a:spcPct val="100000"/>
              </a:lnSpc>
              <a:spcBef>
                <a:spcPts val="100"/>
              </a:spcBef>
            </a:pPr>
            <a:r>
              <a:rPr dirty="0"/>
              <a:t>Utility</a:t>
            </a:r>
            <a:r>
              <a:rPr spc="-145" dirty="0"/>
              <a:t> </a:t>
            </a:r>
            <a:r>
              <a:rPr spc="-10" dirty="0"/>
              <a:t>Computing?</a:t>
            </a:r>
          </a:p>
        </p:txBody>
      </p:sp>
      <p:sp>
        <p:nvSpPr>
          <p:cNvPr id="1048718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719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1048717" name="object 3"/>
          <p:cNvSpPr txBox="1"/>
          <p:nvPr/>
        </p:nvSpPr>
        <p:spPr>
          <a:xfrm>
            <a:off x="964545" y="1721383"/>
            <a:ext cx="5460365" cy="33718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spc="-25" dirty="0">
                <a:latin typeface="Times New Roman"/>
                <a:cs typeface="Times New Roman"/>
              </a:rPr>
              <a:t>Pay-for-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Pricing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Business</a:t>
            </a:r>
            <a:r>
              <a:rPr sz="2800" spc="-10" dirty="0">
                <a:latin typeface="Times New Roman"/>
                <a:cs typeface="Times New Roman"/>
              </a:rPr>
              <a:t> Model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Center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Virtualization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Solves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Resource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Utilization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Problem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187325" algn="l"/>
              </a:tabLst>
            </a:pPr>
            <a:r>
              <a:rPr sz="2800" spc="-10" dirty="0">
                <a:latin typeface="Times New Roman"/>
                <a:cs typeface="Times New Roman"/>
              </a:rPr>
              <a:t>Outsourcing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Web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Services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Delivery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97192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2097193" name="object 5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25410" y="2646512"/>
            <a:ext cx="4602340" cy="349284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object 2"/>
          <p:cNvSpPr txBox="1">
            <a:spLocks noGrp="1"/>
          </p:cNvSpPr>
          <p:nvPr>
            <p:ph type="title"/>
          </p:nvPr>
        </p:nvSpPr>
        <p:spPr>
          <a:xfrm>
            <a:off x="1705425" y="122730"/>
            <a:ext cx="8781148" cy="1189540"/>
          </a:xfrm>
          <a:prstGeom prst="rect">
            <a:avLst/>
          </a:prstGeom>
        </p:spPr>
        <p:txBody>
          <a:bodyPr vert="horz" wrap="square" lIns="0" tIns="529140" rIns="0" bIns="0" rtlCol="0">
            <a:spAutoFit/>
          </a:bodyPr>
          <a:lstStyle/>
          <a:p>
            <a:pPr marL="2583815">
              <a:lnSpc>
                <a:spcPct val="100000"/>
              </a:lnSpc>
              <a:spcBef>
                <a:spcPts val="100"/>
              </a:spcBef>
            </a:pPr>
            <a:r>
              <a:rPr dirty="0"/>
              <a:t>Payment</a:t>
            </a:r>
            <a:r>
              <a:rPr spc="-204" dirty="0"/>
              <a:t> </a:t>
            </a:r>
            <a:r>
              <a:rPr spc="-10" dirty="0"/>
              <a:t>Model</a:t>
            </a:r>
          </a:p>
        </p:txBody>
      </p:sp>
      <p:sp>
        <p:nvSpPr>
          <p:cNvPr id="1048722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723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1048721" name="object 3"/>
          <p:cNvSpPr txBox="1"/>
          <p:nvPr/>
        </p:nvSpPr>
        <p:spPr>
          <a:xfrm>
            <a:off x="964545" y="1802663"/>
            <a:ext cx="10197465" cy="4158616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86690" marR="1104265" indent="-174625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87960" algn="l"/>
              </a:tabLst>
            </a:pPr>
            <a:r>
              <a:rPr sz="2800" dirty="0">
                <a:latin typeface="Times New Roman"/>
                <a:cs typeface="Times New Roman"/>
              </a:rPr>
              <a:t>Same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range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charging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utility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providers:</a:t>
            </a:r>
            <a:r>
              <a:rPr sz="2800" spc="-20" dirty="0">
                <a:latin typeface="Times New Roman"/>
                <a:cs typeface="Times New Roman"/>
              </a:rPr>
              <a:t> gas, 	</a:t>
            </a:r>
            <a:r>
              <a:rPr sz="2800" dirty="0">
                <a:latin typeface="Times New Roman"/>
                <a:cs typeface="Times New Roman"/>
              </a:rPr>
              <a:t>electricity, telecommunications, water, television </a:t>
            </a:r>
            <a:r>
              <a:rPr sz="2800" spc="-10" dirty="0">
                <a:latin typeface="Times New Roman"/>
                <a:cs typeface="Times New Roman"/>
              </a:rPr>
              <a:t>broadcasting</a:t>
            </a:r>
            <a:endParaRPr sz="2800">
              <a:latin typeface="Times New Roman"/>
              <a:cs typeface="Times New Roman"/>
            </a:endParaRPr>
          </a:p>
          <a:p>
            <a:pPr marL="643255" lvl="1" indent="-18161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Flat</a:t>
            </a:r>
            <a:r>
              <a:rPr sz="2400" spc="-20" dirty="0">
                <a:latin typeface="Times New Roman"/>
                <a:cs typeface="Times New Roman"/>
              </a:rPr>
              <a:t> rate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643255" algn="l"/>
              </a:tabLst>
            </a:pPr>
            <a:r>
              <a:rPr sz="2400" spc="-10" dirty="0">
                <a:latin typeface="Times New Roman"/>
                <a:cs typeface="Times New Roman"/>
              </a:rPr>
              <a:t>Subscription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643255" algn="l"/>
              </a:tabLst>
            </a:pPr>
            <a:r>
              <a:rPr sz="2400" spc="-10" dirty="0">
                <a:latin typeface="Times New Roman"/>
                <a:cs typeface="Times New Roman"/>
              </a:rPr>
              <a:t>Metered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Pay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go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605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86690" marR="5080" indent="-174625">
              <a:lnSpc>
                <a:spcPts val="3050"/>
              </a:lnSpc>
              <a:buFont typeface="Arial"/>
              <a:buChar char="•"/>
              <a:tabLst>
                <a:tab pos="187960" algn="l"/>
              </a:tabLst>
            </a:pPr>
            <a:r>
              <a:rPr sz="2800" dirty="0">
                <a:latin typeface="Times New Roman"/>
                <a:cs typeface="Times New Roman"/>
              </a:rPr>
              <a:t>Different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pricing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different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factors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such 	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scale,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commitment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payment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frequency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97194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object 2"/>
          <p:cNvSpPr txBox="1">
            <a:spLocks noGrp="1"/>
          </p:cNvSpPr>
          <p:nvPr>
            <p:ph type="title"/>
          </p:nvPr>
        </p:nvSpPr>
        <p:spPr>
          <a:xfrm>
            <a:off x="1705425" y="124495"/>
            <a:ext cx="867219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Distributed</a:t>
            </a:r>
            <a:r>
              <a:rPr sz="4000" spc="-95" dirty="0"/>
              <a:t> </a:t>
            </a:r>
            <a:r>
              <a:rPr sz="4000" dirty="0"/>
              <a:t>vs</a:t>
            </a:r>
            <a:r>
              <a:rPr sz="4000" spc="-90" dirty="0"/>
              <a:t> </a:t>
            </a:r>
            <a:r>
              <a:rPr sz="4000" dirty="0"/>
              <a:t>Grid</a:t>
            </a:r>
            <a:r>
              <a:rPr sz="4000" spc="-90" dirty="0"/>
              <a:t> </a:t>
            </a:r>
            <a:r>
              <a:rPr sz="4000" dirty="0"/>
              <a:t>vs</a:t>
            </a:r>
            <a:r>
              <a:rPr sz="4000" spc="-90" dirty="0"/>
              <a:t> </a:t>
            </a:r>
            <a:r>
              <a:rPr sz="4000" dirty="0"/>
              <a:t>Cluster</a:t>
            </a:r>
            <a:r>
              <a:rPr sz="4000" spc="-90" dirty="0"/>
              <a:t> </a:t>
            </a:r>
            <a:r>
              <a:rPr sz="4000" dirty="0"/>
              <a:t>vs</a:t>
            </a:r>
            <a:r>
              <a:rPr sz="4000" spc="-90" dirty="0"/>
              <a:t> </a:t>
            </a:r>
            <a:r>
              <a:rPr sz="4000" spc="-10" dirty="0"/>
              <a:t>Utility</a:t>
            </a:r>
          </a:p>
        </p:txBody>
      </p:sp>
      <p:sp>
        <p:nvSpPr>
          <p:cNvPr id="1048726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727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1048725" name="object 3"/>
          <p:cNvSpPr txBox="1"/>
          <p:nvPr/>
        </p:nvSpPr>
        <p:spPr>
          <a:xfrm>
            <a:off x="431146" y="1343692"/>
            <a:ext cx="11272520" cy="5284749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86690" marR="15240" indent="-174625" algn="just">
              <a:lnSpc>
                <a:spcPts val="2700"/>
              </a:lnSpc>
              <a:spcBef>
                <a:spcPts val="740"/>
              </a:spcBef>
              <a:buFont typeface="Arial"/>
              <a:buChar char="•"/>
              <a:tabLst>
                <a:tab pos="187960" algn="l"/>
              </a:tabLst>
            </a:pPr>
            <a:r>
              <a:rPr sz="2800" b="1" dirty="0">
                <a:latin typeface="Times New Roman"/>
                <a:cs typeface="Times New Roman"/>
              </a:rPr>
              <a:t>Distributed</a:t>
            </a:r>
            <a:r>
              <a:rPr sz="2800" b="1" spc="2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Computing</a:t>
            </a:r>
            <a:r>
              <a:rPr sz="2800" b="1" spc="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managing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pooling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2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hundreds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thousands 	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solve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large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computational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problem.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85"/>
              </a:spcBef>
              <a:buFont typeface="Arial"/>
              <a:buChar char="•"/>
            </a:pPr>
            <a:endParaRPr sz="2800" dirty="0">
              <a:latin typeface="Times New Roman"/>
              <a:cs typeface="Times New Roman"/>
            </a:endParaRPr>
          </a:p>
          <a:p>
            <a:pPr marL="186690" marR="5080" indent="-174625" algn="just">
              <a:lnSpc>
                <a:spcPct val="80000"/>
              </a:lnSpc>
              <a:buFont typeface="Arial"/>
              <a:buChar char="•"/>
              <a:tabLst>
                <a:tab pos="187960" algn="l"/>
              </a:tabLst>
            </a:pPr>
            <a:r>
              <a:rPr sz="2800" b="1" dirty="0">
                <a:latin typeface="Times New Roman"/>
                <a:cs typeface="Times New Roman"/>
              </a:rPr>
              <a:t>Grid</a:t>
            </a:r>
            <a:r>
              <a:rPr sz="2800" b="1" spc="3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computing</a:t>
            </a:r>
            <a:r>
              <a:rPr sz="2800" b="1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some</a:t>
            </a:r>
            <a:r>
              <a:rPr sz="2800" spc="3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extra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characteristics.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Efficiently</a:t>
            </a:r>
            <a:r>
              <a:rPr sz="2800" spc="3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utilization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	</a:t>
            </a:r>
            <a:r>
              <a:rPr sz="2800" dirty="0">
                <a:latin typeface="Times New Roman"/>
                <a:cs typeface="Times New Roman"/>
              </a:rPr>
              <a:t>pool</a:t>
            </a:r>
            <a:r>
              <a:rPr sz="2800" spc="3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3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heterogeneous</a:t>
            </a:r>
            <a:r>
              <a:rPr sz="2800" spc="33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systems;</a:t>
            </a:r>
            <a:r>
              <a:rPr sz="2800" spc="3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more</a:t>
            </a:r>
            <a:r>
              <a:rPr sz="2800" spc="3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wide</a:t>
            </a:r>
            <a:r>
              <a:rPr sz="2800" spc="3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scale</a:t>
            </a:r>
            <a:r>
              <a:rPr sz="2800" spc="3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330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geographically 	distributed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Font typeface="Arial"/>
              <a:buChar char="•"/>
            </a:pPr>
            <a:endParaRPr sz="2800" dirty="0">
              <a:latin typeface="Times New Roman"/>
              <a:cs typeface="Times New Roman"/>
            </a:endParaRPr>
          </a:p>
          <a:p>
            <a:pPr marL="186690" marR="131445" indent="-174625" algn="just">
              <a:lnSpc>
                <a:spcPct val="79600"/>
              </a:lnSpc>
              <a:buFont typeface="Arial"/>
              <a:buChar char="•"/>
              <a:tabLst>
                <a:tab pos="187960" algn="l"/>
              </a:tabLst>
            </a:pPr>
            <a:r>
              <a:rPr sz="2800" b="1" dirty="0">
                <a:latin typeface="Times New Roman"/>
                <a:cs typeface="Times New Roman"/>
              </a:rPr>
              <a:t>Cluster</a:t>
            </a:r>
            <a:r>
              <a:rPr sz="2800" b="1" spc="69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computing</a:t>
            </a:r>
            <a:r>
              <a:rPr sz="2800" b="1" spc="68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consists</a:t>
            </a:r>
            <a:r>
              <a:rPr sz="2800" spc="68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68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homogenous</a:t>
            </a:r>
            <a:r>
              <a:rPr sz="2800" spc="68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hardware</a:t>
            </a:r>
            <a:r>
              <a:rPr sz="2800" spc="229" dirty="0">
                <a:latin typeface="Times New Roman"/>
                <a:cs typeface="Times New Roman"/>
              </a:rPr>
              <a:t>  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690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OS; 	</a:t>
            </a:r>
            <a:r>
              <a:rPr sz="2800" dirty="0">
                <a:latin typeface="Times New Roman"/>
                <a:cs typeface="Times New Roman"/>
              </a:rPr>
              <a:t>geographically connected by </a:t>
            </a:r>
            <a:r>
              <a:rPr sz="2800" spc="-25" dirty="0">
                <a:latin typeface="Times New Roman"/>
                <a:cs typeface="Times New Roman"/>
              </a:rPr>
              <a:t>LAN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Font typeface="Arial"/>
              <a:buChar char="•"/>
            </a:pPr>
            <a:endParaRPr sz="2800" dirty="0">
              <a:latin typeface="Times New Roman"/>
              <a:cs typeface="Times New Roman"/>
            </a:endParaRPr>
          </a:p>
          <a:p>
            <a:pPr marL="186690" marR="42545" indent="-174625" algn="just">
              <a:lnSpc>
                <a:spcPct val="79600"/>
              </a:lnSpc>
              <a:buFont typeface="Arial"/>
              <a:buChar char="•"/>
              <a:tabLst>
                <a:tab pos="187960" algn="l"/>
              </a:tabLst>
            </a:pPr>
            <a:r>
              <a:rPr sz="2800" b="1" dirty="0">
                <a:latin typeface="Times New Roman"/>
                <a:cs typeface="Times New Roman"/>
              </a:rPr>
              <a:t>Utility</a:t>
            </a:r>
            <a:r>
              <a:rPr sz="2800" b="1" spc="6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computing</a:t>
            </a:r>
            <a:r>
              <a:rPr sz="2800" b="1" spc="6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6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6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service</a:t>
            </a:r>
            <a:r>
              <a:rPr sz="2800" spc="6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provisioning</a:t>
            </a:r>
            <a:r>
              <a:rPr sz="2800" spc="6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model;</a:t>
            </a:r>
            <a:r>
              <a:rPr sz="2800" spc="6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computing</a:t>
            </a:r>
            <a:r>
              <a:rPr sz="2800" spc="6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resources 	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consumers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needed.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2097195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621" y="29190"/>
            <a:ext cx="1371597" cy="137159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object 2"/>
          <p:cNvSpPr txBox="1">
            <a:spLocks noGrp="1"/>
          </p:cNvSpPr>
          <p:nvPr>
            <p:ph type="ctrTitle"/>
          </p:nvPr>
        </p:nvSpPr>
        <p:spPr>
          <a:xfrm>
            <a:off x="904872" y="3413602"/>
            <a:ext cx="3472179" cy="2416810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6000" dirty="0"/>
              <a:t>Thank</a:t>
            </a:r>
            <a:r>
              <a:rPr sz="6000" spc="-25" dirty="0"/>
              <a:t> </a:t>
            </a:r>
            <a:r>
              <a:rPr sz="6000" spc="-20" dirty="0"/>
              <a:t>you!</a:t>
            </a:r>
            <a:endParaRPr sz="6000"/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dirty="0">
                <a:solidFill>
                  <a:srgbClr val="878787"/>
                </a:solidFill>
              </a:rPr>
              <a:t>Any</a:t>
            </a:r>
            <a:r>
              <a:rPr sz="2400" spc="-55" dirty="0">
                <a:solidFill>
                  <a:srgbClr val="878787"/>
                </a:solidFill>
              </a:rPr>
              <a:t> </a:t>
            </a:r>
            <a:r>
              <a:rPr sz="2400" spc="-10" dirty="0">
                <a:solidFill>
                  <a:srgbClr val="878787"/>
                </a:solidFill>
              </a:rPr>
              <a:t>Questions???</a:t>
            </a:r>
            <a:endParaRPr sz="2400"/>
          </a:p>
        </p:txBody>
      </p:sp>
      <p:sp>
        <p:nvSpPr>
          <p:cNvPr id="104873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04873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pic>
        <p:nvPicPr>
          <p:cNvPr id="2097196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</TotalTime>
  <Words>1680</Words>
  <Application>Microsoft Office PowerPoint</Application>
  <PresentationFormat>Widescreen</PresentationFormat>
  <Paragraphs>309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Carlito</vt:lpstr>
      <vt:lpstr>Century Gothic</vt:lpstr>
      <vt:lpstr>Times New Roman</vt:lpstr>
      <vt:lpstr>Wingdings 3</vt:lpstr>
      <vt:lpstr>Ion</vt:lpstr>
      <vt:lpstr>     Parallel and Distribute Computing</vt:lpstr>
      <vt:lpstr>About Course</vt:lpstr>
      <vt:lpstr>Course Objectives</vt:lpstr>
      <vt:lpstr>Learning Outcomes</vt:lpstr>
      <vt:lpstr>Recommended Books</vt:lpstr>
      <vt:lpstr>Grading Policy</vt:lpstr>
      <vt:lpstr>PowerPoint Presentation</vt:lpstr>
      <vt:lpstr>Agenda</vt:lpstr>
      <vt:lpstr>What is Computing?</vt:lpstr>
      <vt:lpstr>Trends in Computing</vt:lpstr>
      <vt:lpstr>Distributed Computing</vt:lpstr>
      <vt:lpstr>Distributed Computing</vt:lpstr>
      <vt:lpstr>Examples</vt:lpstr>
      <vt:lpstr>Computers in a Distributed System</vt:lpstr>
      <vt:lpstr>Common properties of Distributed Computing</vt:lpstr>
      <vt:lpstr>Why Distributed Computing?</vt:lpstr>
      <vt:lpstr>Distributed Applications</vt:lpstr>
      <vt:lpstr>Distributed Applications</vt:lpstr>
      <vt:lpstr>Centralized vs Distributed Computing</vt:lpstr>
      <vt:lpstr>Cluster Computing</vt:lpstr>
      <vt:lpstr>What is Cluster Computing?</vt:lpstr>
      <vt:lpstr>Cluster Computing</vt:lpstr>
      <vt:lpstr>Types of Cluster</vt:lpstr>
      <vt:lpstr>How Cluster Works?</vt:lpstr>
      <vt:lpstr>Benefits of Cluster</vt:lpstr>
      <vt:lpstr>Grid Computing</vt:lpstr>
      <vt:lpstr>What is Grid Computing?</vt:lpstr>
      <vt:lpstr>Grid Computing</vt:lpstr>
      <vt:lpstr>Need of Grid Computing</vt:lpstr>
      <vt:lpstr>Applications</vt:lpstr>
      <vt:lpstr>Types of Grid</vt:lpstr>
      <vt:lpstr>Utility Computing</vt:lpstr>
      <vt:lpstr>What is Utility Computing?</vt:lpstr>
      <vt:lpstr>Utility Computing?</vt:lpstr>
      <vt:lpstr>Payment Model</vt:lpstr>
      <vt:lpstr>Distributed vs Grid vs Cluster vs Utility</vt:lpstr>
      <vt:lpstr>Thank you! Any Questions???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&amp; Cloud Computing</dc:title>
  <dc:creator>uuuu</dc:creator>
  <cp:lastModifiedBy>Muhammad Raees</cp:lastModifiedBy>
  <cp:revision>7</cp:revision>
  <dcterms:created xsi:type="dcterms:W3CDTF">2024-01-17T23:12:40Z</dcterms:created>
  <dcterms:modified xsi:type="dcterms:W3CDTF">2026-01-28T06:06:27Z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2024-01-18T00:00:00Z</vt:filetime>
  </property>
  <property fmtid="{D5CDD505-2E9C-101B-9397-08002B2CF9AE}" pid="4" name="Producer">
    <vt:lpwstr>3-Heights(TM) PDF Security Shell 4.8.25.2 (http://www.pdf-tools.com)</vt:lpwstr>
  </property>
  <property fmtid="{D5CDD505-2E9C-101B-9397-08002B2CF9AE}" pid="5" name="ICV">
    <vt:lpwstr>80d2da64002a464ba11558a2f848a939</vt:lpwstr>
  </property>
</Properties>
</file>