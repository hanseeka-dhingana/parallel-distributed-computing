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38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E43D9-4B36-481F-BEC6-BB0DB0ED265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C34D8-7FAD-45AC-82C7-58CB9DD47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33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4872" y="3413602"/>
            <a:ext cx="3472179" cy="155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40219-BDFC-4338-8760-DE5991808A2E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76876" y="6467713"/>
            <a:ext cx="1785923" cy="177800"/>
          </a:xfrm>
        </p:spPr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D2D47-876E-4FE9-A912-810A67959BEA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B57B2-F0DC-46FD-B186-0D9C0227B45D}" type="datetime1">
              <a:rPr lang="en-US" smtClean="0"/>
              <a:t>3/12/2026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52E2D-1158-4369-B0DF-6FA112629122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7DDAD-D024-4038-A997-D272217BB069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18781" y="639170"/>
            <a:ext cx="795443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3157" y="1802663"/>
            <a:ext cx="4892675" cy="3633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76876" y="6467713"/>
            <a:ext cx="1785923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2F63E-7234-4436-91F9-238B582E5D3A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5466" y="6467713"/>
            <a:ext cx="2432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1" y="1447800"/>
            <a:ext cx="7162800" cy="1701171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369695" marR="5080" indent="-1357630">
              <a:lnSpc>
                <a:spcPts val="6450"/>
              </a:lnSpc>
              <a:spcBef>
                <a:spcPts val="940"/>
              </a:spcBef>
            </a:pPr>
            <a:r>
              <a:rPr lang="en-US" sz="3600" dirty="0"/>
              <a:t>  Parallel and</a:t>
            </a:r>
            <a:br>
              <a:rPr lang="en-US" sz="3600" dirty="0"/>
            </a:br>
            <a:r>
              <a:rPr sz="3600" dirty="0"/>
              <a:t>Distributed</a:t>
            </a:r>
            <a:r>
              <a:rPr lang="en-US" sz="3600" spc="-30" dirty="0"/>
              <a:t>/</a:t>
            </a:r>
            <a:r>
              <a:rPr sz="3600" spc="-10" dirty="0"/>
              <a:t>Cloud </a:t>
            </a:r>
            <a:r>
              <a:rPr lang="en-US" sz="3600" spc="-10" dirty="0"/>
              <a:t> </a:t>
            </a:r>
            <a:r>
              <a:rPr sz="3600" spc="-10" dirty="0"/>
              <a:t>Computing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77547" y="3434188"/>
            <a:ext cx="6636907" cy="11378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500" marR="1452880" indent="520700">
              <a:lnSpc>
                <a:spcPct val="108900"/>
              </a:lnSpc>
              <a:spcBef>
                <a:spcPts val="95"/>
              </a:spcBef>
            </a:pP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Class: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BS(CS)-</a:t>
            </a:r>
            <a:r>
              <a:rPr sz="2200" spc="-25" dirty="0">
                <a:latin typeface="Times New Roman"/>
                <a:cs typeface="Times New Roman"/>
              </a:rPr>
              <a:t>VII</a:t>
            </a:r>
            <a:r>
              <a:rPr lang="en-US" sz="2200" spc="-25" dirty="0">
                <a:latin typeface="Times New Roman"/>
                <a:cs typeface="Times New Roman"/>
              </a:rPr>
              <a:t>I</a:t>
            </a:r>
            <a:endParaRPr sz="2200" dirty="0">
              <a:latin typeface="Times New Roman"/>
              <a:cs typeface="Times New Roman"/>
            </a:endParaRPr>
          </a:p>
          <a:p>
            <a:pPr marL="1934845" marR="5080" indent="-1922780">
              <a:lnSpc>
                <a:spcPts val="2850"/>
              </a:lnSpc>
              <a:spcBef>
                <a:spcPts val="130"/>
              </a:spcBef>
            </a:pPr>
            <a:r>
              <a:rPr sz="2200" dirty="0">
                <a:latin typeface="Times New Roman"/>
                <a:cs typeface="Times New Roman"/>
              </a:rPr>
              <a:t>Sukkur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IBA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University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Kandhkot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Campus </a:t>
            </a:r>
            <a:r>
              <a:rPr sz="2200" dirty="0">
                <a:latin typeface="Times New Roman"/>
                <a:cs typeface="Times New Roman"/>
              </a:rPr>
              <a:t>Week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-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02</a:t>
            </a:r>
            <a:endParaRPr sz="2200" dirty="0">
              <a:latin typeface="Times New Roman"/>
              <a:cs typeface="Times New Roman"/>
            </a:endParaRPr>
          </a:p>
          <a:p>
            <a:pPr marL="956310" marR="947419" indent="532130">
              <a:lnSpc>
                <a:spcPts val="2850"/>
              </a:lnSpc>
            </a:pPr>
            <a:r>
              <a:rPr lang="en-US" sz="2200" dirty="0">
                <a:latin typeface="Times New Roman"/>
                <a:cs typeface="Times New Roman"/>
              </a:rPr>
              <a:t>          </a:t>
            </a:r>
            <a:r>
              <a:rPr sz="2200" dirty="0">
                <a:latin typeface="Times New Roman"/>
                <a:cs typeface="Times New Roman"/>
              </a:rPr>
              <a:t>Lecture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 03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&amp;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04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1</a:t>
            </a:fld>
            <a:endParaRPr lang="en-US"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73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Recap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545" y="1721383"/>
            <a:ext cx="3747135" cy="25844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Distributed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87325" algn="l"/>
              </a:tabLst>
            </a:pPr>
            <a:r>
              <a:rPr sz="2800" b="1" dirty="0">
                <a:latin typeface="Times New Roman"/>
                <a:cs typeface="Times New Roman"/>
              </a:rPr>
              <a:t>Cluster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87325" algn="l"/>
              </a:tabLst>
            </a:pPr>
            <a:r>
              <a:rPr sz="2800" b="1" dirty="0">
                <a:latin typeface="Times New Roman"/>
                <a:cs typeface="Times New Roman"/>
              </a:rPr>
              <a:t>Grid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187325" algn="l"/>
              </a:tabLst>
            </a:pPr>
            <a:r>
              <a:rPr sz="2800" b="1" dirty="0">
                <a:latin typeface="Times New Roman"/>
                <a:cs typeface="Times New Roman"/>
              </a:rPr>
              <a:t>Utility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Computing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47579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4072" y="2211568"/>
            <a:ext cx="10198735" cy="3907154"/>
          </a:xfrm>
          <a:custGeom>
            <a:avLst/>
            <a:gdLst/>
            <a:ahLst/>
            <a:cxnLst/>
            <a:rect l="l" t="t" r="r" b="b"/>
            <a:pathLst>
              <a:path w="10198735" h="3907154">
                <a:moveTo>
                  <a:pt x="9318581" y="3906732"/>
                </a:moveTo>
                <a:lnTo>
                  <a:pt x="9290053" y="3906645"/>
                </a:lnTo>
                <a:lnTo>
                  <a:pt x="9262559" y="3906038"/>
                </a:lnTo>
                <a:lnTo>
                  <a:pt x="9236101" y="3904390"/>
                </a:lnTo>
                <a:lnTo>
                  <a:pt x="9210681" y="3901182"/>
                </a:lnTo>
                <a:lnTo>
                  <a:pt x="1640721" y="3901182"/>
                </a:lnTo>
                <a:lnTo>
                  <a:pt x="1613267" y="3904390"/>
                </a:lnTo>
                <a:lnTo>
                  <a:pt x="1585037" y="3906038"/>
                </a:lnTo>
                <a:lnTo>
                  <a:pt x="1556287" y="3906645"/>
                </a:lnTo>
                <a:lnTo>
                  <a:pt x="1527271" y="3906732"/>
                </a:lnTo>
                <a:lnTo>
                  <a:pt x="1478768" y="3905980"/>
                </a:lnTo>
                <a:lnTo>
                  <a:pt x="1430644" y="3903740"/>
                </a:lnTo>
                <a:lnTo>
                  <a:pt x="1382920" y="3900035"/>
                </a:lnTo>
                <a:lnTo>
                  <a:pt x="1335619" y="3894885"/>
                </a:lnTo>
                <a:lnTo>
                  <a:pt x="1288763" y="3888313"/>
                </a:lnTo>
                <a:lnTo>
                  <a:pt x="1242375" y="3880341"/>
                </a:lnTo>
                <a:lnTo>
                  <a:pt x="1196477" y="3870991"/>
                </a:lnTo>
                <a:lnTo>
                  <a:pt x="1151091" y="3860286"/>
                </a:lnTo>
                <a:lnTo>
                  <a:pt x="1106240" y="3848247"/>
                </a:lnTo>
                <a:lnTo>
                  <a:pt x="1061946" y="3834896"/>
                </a:lnTo>
                <a:lnTo>
                  <a:pt x="1018230" y="3820256"/>
                </a:lnTo>
                <a:lnTo>
                  <a:pt x="975117" y="3804348"/>
                </a:lnTo>
                <a:lnTo>
                  <a:pt x="932627" y="3787195"/>
                </a:lnTo>
                <a:lnTo>
                  <a:pt x="890784" y="3768818"/>
                </a:lnTo>
                <a:lnTo>
                  <a:pt x="849609" y="3749241"/>
                </a:lnTo>
                <a:lnTo>
                  <a:pt x="809124" y="3728484"/>
                </a:lnTo>
                <a:lnTo>
                  <a:pt x="769353" y="3706570"/>
                </a:lnTo>
                <a:lnTo>
                  <a:pt x="730317" y="3683522"/>
                </a:lnTo>
                <a:lnTo>
                  <a:pt x="692039" y="3659360"/>
                </a:lnTo>
                <a:lnTo>
                  <a:pt x="654541" y="3634108"/>
                </a:lnTo>
                <a:lnTo>
                  <a:pt x="617846" y="3607787"/>
                </a:lnTo>
                <a:lnTo>
                  <a:pt x="581975" y="3580419"/>
                </a:lnTo>
                <a:lnTo>
                  <a:pt x="546951" y="3552027"/>
                </a:lnTo>
                <a:lnTo>
                  <a:pt x="512796" y="3522632"/>
                </a:lnTo>
                <a:lnTo>
                  <a:pt x="479533" y="3492257"/>
                </a:lnTo>
                <a:lnTo>
                  <a:pt x="447184" y="3460923"/>
                </a:lnTo>
                <a:lnTo>
                  <a:pt x="415771" y="3428653"/>
                </a:lnTo>
                <a:lnTo>
                  <a:pt x="385317" y="3395469"/>
                </a:lnTo>
                <a:lnTo>
                  <a:pt x="355843" y="3361393"/>
                </a:lnTo>
                <a:lnTo>
                  <a:pt x="327373" y="3326447"/>
                </a:lnTo>
                <a:lnTo>
                  <a:pt x="299928" y="3290653"/>
                </a:lnTo>
                <a:lnTo>
                  <a:pt x="273531" y="3254033"/>
                </a:lnTo>
                <a:lnTo>
                  <a:pt x="248205" y="3216610"/>
                </a:lnTo>
                <a:lnTo>
                  <a:pt x="223970" y="3178405"/>
                </a:lnTo>
                <a:lnTo>
                  <a:pt x="200851" y="3139440"/>
                </a:lnTo>
                <a:lnTo>
                  <a:pt x="178868" y="3099737"/>
                </a:lnTo>
                <a:lnTo>
                  <a:pt x="158045" y="3059319"/>
                </a:lnTo>
                <a:lnTo>
                  <a:pt x="138404" y="3018208"/>
                </a:lnTo>
                <a:lnTo>
                  <a:pt x="119966" y="2976425"/>
                </a:lnTo>
                <a:lnTo>
                  <a:pt x="102755" y="2933993"/>
                </a:lnTo>
                <a:lnTo>
                  <a:pt x="86793" y="2890935"/>
                </a:lnTo>
                <a:lnTo>
                  <a:pt x="72102" y="2847271"/>
                </a:lnTo>
                <a:lnTo>
                  <a:pt x="58703" y="2803024"/>
                </a:lnTo>
                <a:lnTo>
                  <a:pt x="46621" y="2758216"/>
                </a:lnTo>
                <a:lnTo>
                  <a:pt x="35876" y="2712869"/>
                </a:lnTo>
                <a:lnTo>
                  <a:pt x="26492" y="2667006"/>
                </a:lnTo>
                <a:lnTo>
                  <a:pt x="18490" y="2620647"/>
                </a:lnTo>
                <a:lnTo>
                  <a:pt x="11893" y="2573817"/>
                </a:lnTo>
                <a:lnTo>
                  <a:pt x="6723" y="2526536"/>
                </a:lnTo>
                <a:lnTo>
                  <a:pt x="3003" y="2478826"/>
                </a:lnTo>
                <a:lnTo>
                  <a:pt x="754" y="2430710"/>
                </a:lnTo>
                <a:lnTo>
                  <a:pt x="0" y="2382210"/>
                </a:lnTo>
                <a:lnTo>
                  <a:pt x="754" y="2334021"/>
                </a:lnTo>
                <a:lnTo>
                  <a:pt x="3003" y="2286198"/>
                </a:lnTo>
                <a:lnTo>
                  <a:pt x="6723" y="2238764"/>
                </a:lnTo>
                <a:lnTo>
                  <a:pt x="11893" y="2191741"/>
                </a:lnTo>
                <a:lnTo>
                  <a:pt x="18490" y="2145152"/>
                </a:lnTo>
                <a:lnTo>
                  <a:pt x="26492" y="2099020"/>
                </a:lnTo>
                <a:lnTo>
                  <a:pt x="35876" y="2053367"/>
                </a:lnTo>
                <a:lnTo>
                  <a:pt x="46621" y="2008215"/>
                </a:lnTo>
                <a:lnTo>
                  <a:pt x="58703" y="1963588"/>
                </a:lnTo>
                <a:lnTo>
                  <a:pt x="72102" y="1919507"/>
                </a:lnTo>
                <a:lnTo>
                  <a:pt x="86793" y="1875996"/>
                </a:lnTo>
                <a:lnTo>
                  <a:pt x="102755" y="1833076"/>
                </a:lnTo>
                <a:lnTo>
                  <a:pt x="119966" y="1790771"/>
                </a:lnTo>
                <a:lnTo>
                  <a:pt x="138404" y="1749103"/>
                </a:lnTo>
                <a:lnTo>
                  <a:pt x="158045" y="1708094"/>
                </a:lnTo>
                <a:lnTo>
                  <a:pt x="178868" y="1667767"/>
                </a:lnTo>
                <a:lnTo>
                  <a:pt x="200851" y="1628145"/>
                </a:lnTo>
                <a:lnTo>
                  <a:pt x="223970" y="1589250"/>
                </a:lnTo>
                <a:lnTo>
                  <a:pt x="248205" y="1551104"/>
                </a:lnTo>
                <a:lnTo>
                  <a:pt x="273531" y="1513731"/>
                </a:lnTo>
                <a:lnTo>
                  <a:pt x="299928" y="1477152"/>
                </a:lnTo>
                <a:lnTo>
                  <a:pt x="327373" y="1441391"/>
                </a:lnTo>
                <a:lnTo>
                  <a:pt x="355843" y="1406470"/>
                </a:lnTo>
                <a:lnTo>
                  <a:pt x="385317" y="1372411"/>
                </a:lnTo>
                <a:lnTo>
                  <a:pt x="415771" y="1339238"/>
                </a:lnTo>
                <a:lnTo>
                  <a:pt x="447184" y="1306971"/>
                </a:lnTo>
                <a:lnTo>
                  <a:pt x="479533" y="1275635"/>
                </a:lnTo>
                <a:lnTo>
                  <a:pt x="512796" y="1245252"/>
                </a:lnTo>
                <a:lnTo>
                  <a:pt x="546951" y="1215843"/>
                </a:lnTo>
                <a:lnTo>
                  <a:pt x="581975" y="1187433"/>
                </a:lnTo>
                <a:lnTo>
                  <a:pt x="617846" y="1160042"/>
                </a:lnTo>
                <a:lnTo>
                  <a:pt x="654541" y="1133695"/>
                </a:lnTo>
                <a:lnTo>
                  <a:pt x="692039" y="1108413"/>
                </a:lnTo>
                <a:lnTo>
                  <a:pt x="730317" y="1084219"/>
                </a:lnTo>
                <a:lnTo>
                  <a:pt x="769353" y="1061135"/>
                </a:lnTo>
                <a:lnTo>
                  <a:pt x="809124" y="1039185"/>
                </a:lnTo>
                <a:lnTo>
                  <a:pt x="849609" y="1018390"/>
                </a:lnTo>
                <a:lnTo>
                  <a:pt x="890784" y="998773"/>
                </a:lnTo>
                <a:lnTo>
                  <a:pt x="932627" y="980357"/>
                </a:lnTo>
                <a:lnTo>
                  <a:pt x="975117" y="963164"/>
                </a:lnTo>
                <a:lnTo>
                  <a:pt x="1018230" y="947217"/>
                </a:lnTo>
                <a:lnTo>
                  <a:pt x="1061946" y="932539"/>
                </a:lnTo>
                <a:lnTo>
                  <a:pt x="1106240" y="919151"/>
                </a:lnTo>
                <a:lnTo>
                  <a:pt x="1151091" y="907077"/>
                </a:lnTo>
                <a:lnTo>
                  <a:pt x="1196477" y="896339"/>
                </a:lnTo>
                <a:lnTo>
                  <a:pt x="1242375" y="886959"/>
                </a:lnTo>
                <a:lnTo>
                  <a:pt x="1288763" y="878961"/>
                </a:lnTo>
                <a:lnTo>
                  <a:pt x="1335619" y="872366"/>
                </a:lnTo>
                <a:lnTo>
                  <a:pt x="1382920" y="867198"/>
                </a:lnTo>
                <a:lnTo>
                  <a:pt x="1430644" y="863478"/>
                </a:lnTo>
                <a:lnTo>
                  <a:pt x="1478768" y="861230"/>
                </a:lnTo>
                <a:lnTo>
                  <a:pt x="1527271" y="860475"/>
                </a:lnTo>
                <a:lnTo>
                  <a:pt x="1577496" y="861253"/>
                </a:lnTo>
                <a:lnTo>
                  <a:pt x="1626619" y="863588"/>
                </a:lnTo>
                <a:lnTo>
                  <a:pt x="1674835" y="867479"/>
                </a:lnTo>
                <a:lnTo>
                  <a:pt x="1722337" y="872926"/>
                </a:lnTo>
                <a:lnTo>
                  <a:pt x="1769320" y="879929"/>
                </a:lnTo>
                <a:lnTo>
                  <a:pt x="1815977" y="888489"/>
                </a:lnTo>
                <a:lnTo>
                  <a:pt x="1862505" y="898605"/>
                </a:lnTo>
                <a:lnTo>
                  <a:pt x="1909096" y="910278"/>
                </a:lnTo>
                <a:lnTo>
                  <a:pt x="1933485" y="869541"/>
                </a:lnTo>
                <a:lnTo>
                  <a:pt x="1958913" y="829516"/>
                </a:lnTo>
                <a:lnTo>
                  <a:pt x="1985361" y="790220"/>
                </a:lnTo>
                <a:lnTo>
                  <a:pt x="2012810" y="751668"/>
                </a:lnTo>
                <a:lnTo>
                  <a:pt x="2041240" y="713878"/>
                </a:lnTo>
                <a:lnTo>
                  <a:pt x="2070633" y="676866"/>
                </a:lnTo>
                <a:lnTo>
                  <a:pt x="2100969" y="640649"/>
                </a:lnTo>
                <a:lnTo>
                  <a:pt x="2132229" y="605243"/>
                </a:lnTo>
                <a:lnTo>
                  <a:pt x="2164394" y="570666"/>
                </a:lnTo>
                <a:lnTo>
                  <a:pt x="2197444" y="536932"/>
                </a:lnTo>
                <a:lnTo>
                  <a:pt x="2231361" y="504060"/>
                </a:lnTo>
                <a:lnTo>
                  <a:pt x="2266125" y="472066"/>
                </a:lnTo>
                <a:lnTo>
                  <a:pt x="2301717" y="440966"/>
                </a:lnTo>
                <a:lnTo>
                  <a:pt x="2338118" y="410777"/>
                </a:lnTo>
                <a:lnTo>
                  <a:pt x="2375308" y="381516"/>
                </a:lnTo>
                <a:lnTo>
                  <a:pt x="2413269" y="353199"/>
                </a:lnTo>
                <a:lnTo>
                  <a:pt x="2451981" y="325842"/>
                </a:lnTo>
                <a:lnTo>
                  <a:pt x="2491425" y="299463"/>
                </a:lnTo>
                <a:lnTo>
                  <a:pt x="2531581" y="274078"/>
                </a:lnTo>
                <a:lnTo>
                  <a:pt x="2572432" y="249704"/>
                </a:lnTo>
                <a:lnTo>
                  <a:pt x="2613957" y="226356"/>
                </a:lnTo>
                <a:lnTo>
                  <a:pt x="2656137" y="204053"/>
                </a:lnTo>
                <a:lnTo>
                  <a:pt x="2698953" y="182810"/>
                </a:lnTo>
                <a:lnTo>
                  <a:pt x="2742386" y="162643"/>
                </a:lnTo>
                <a:lnTo>
                  <a:pt x="2786417" y="143571"/>
                </a:lnTo>
                <a:lnTo>
                  <a:pt x="2831026" y="125608"/>
                </a:lnTo>
                <a:lnTo>
                  <a:pt x="2876194" y="108773"/>
                </a:lnTo>
                <a:lnTo>
                  <a:pt x="2921903" y="93080"/>
                </a:lnTo>
                <a:lnTo>
                  <a:pt x="2968132" y="78548"/>
                </a:lnTo>
                <a:lnTo>
                  <a:pt x="3014863" y="65192"/>
                </a:lnTo>
                <a:lnTo>
                  <a:pt x="3062076" y="53030"/>
                </a:lnTo>
                <a:lnTo>
                  <a:pt x="3109753" y="42077"/>
                </a:lnTo>
                <a:lnTo>
                  <a:pt x="3157874" y="32351"/>
                </a:lnTo>
                <a:lnTo>
                  <a:pt x="3206420" y="23867"/>
                </a:lnTo>
                <a:lnTo>
                  <a:pt x="3255371" y="16644"/>
                </a:lnTo>
                <a:lnTo>
                  <a:pt x="3304709" y="10696"/>
                </a:lnTo>
                <a:lnTo>
                  <a:pt x="3354415" y="6041"/>
                </a:lnTo>
                <a:lnTo>
                  <a:pt x="3404468" y="2696"/>
                </a:lnTo>
                <a:lnTo>
                  <a:pt x="3454850" y="676"/>
                </a:lnTo>
                <a:lnTo>
                  <a:pt x="3505542" y="0"/>
                </a:lnTo>
                <a:lnTo>
                  <a:pt x="3558113" y="705"/>
                </a:lnTo>
                <a:lnTo>
                  <a:pt x="3610319" y="2811"/>
                </a:lnTo>
                <a:lnTo>
                  <a:pt x="3662140" y="6301"/>
                </a:lnTo>
                <a:lnTo>
                  <a:pt x="3713558" y="11159"/>
                </a:lnTo>
                <a:lnTo>
                  <a:pt x="3764552" y="17369"/>
                </a:lnTo>
                <a:lnTo>
                  <a:pt x="3815103" y="24915"/>
                </a:lnTo>
                <a:lnTo>
                  <a:pt x="3865191" y="33780"/>
                </a:lnTo>
                <a:lnTo>
                  <a:pt x="3914798" y="43949"/>
                </a:lnTo>
                <a:lnTo>
                  <a:pt x="3963903" y="55405"/>
                </a:lnTo>
                <a:lnTo>
                  <a:pt x="4012487" y="68132"/>
                </a:lnTo>
                <a:lnTo>
                  <a:pt x="4060531" y="82113"/>
                </a:lnTo>
                <a:lnTo>
                  <a:pt x="4108014" y="97334"/>
                </a:lnTo>
                <a:lnTo>
                  <a:pt x="4154919" y="113777"/>
                </a:lnTo>
                <a:lnTo>
                  <a:pt x="4201224" y="131427"/>
                </a:lnTo>
                <a:lnTo>
                  <a:pt x="4246911" y="150267"/>
                </a:lnTo>
                <a:lnTo>
                  <a:pt x="4291959" y="170281"/>
                </a:lnTo>
                <a:lnTo>
                  <a:pt x="4336350" y="191453"/>
                </a:lnTo>
                <a:lnTo>
                  <a:pt x="4380065" y="213766"/>
                </a:lnTo>
                <a:lnTo>
                  <a:pt x="4423082" y="237206"/>
                </a:lnTo>
                <a:lnTo>
                  <a:pt x="4465384" y="261755"/>
                </a:lnTo>
                <a:lnTo>
                  <a:pt x="4506950" y="287397"/>
                </a:lnTo>
                <a:lnTo>
                  <a:pt x="4547761" y="314116"/>
                </a:lnTo>
                <a:lnTo>
                  <a:pt x="4587797" y="341896"/>
                </a:lnTo>
                <a:lnTo>
                  <a:pt x="4627040" y="370722"/>
                </a:lnTo>
                <a:lnTo>
                  <a:pt x="4665469" y="400575"/>
                </a:lnTo>
                <a:lnTo>
                  <a:pt x="4703064" y="431442"/>
                </a:lnTo>
                <a:lnTo>
                  <a:pt x="4739808" y="463305"/>
                </a:lnTo>
                <a:lnTo>
                  <a:pt x="4775679" y="496147"/>
                </a:lnTo>
                <a:lnTo>
                  <a:pt x="4810658" y="529954"/>
                </a:lnTo>
                <a:lnTo>
                  <a:pt x="4844727" y="564709"/>
                </a:lnTo>
                <a:lnTo>
                  <a:pt x="4877865" y="600396"/>
                </a:lnTo>
                <a:lnTo>
                  <a:pt x="4921947" y="577788"/>
                </a:lnTo>
                <a:lnTo>
                  <a:pt x="4966757" y="556475"/>
                </a:lnTo>
                <a:lnTo>
                  <a:pt x="5012286" y="536494"/>
                </a:lnTo>
                <a:lnTo>
                  <a:pt x="5058523" y="517885"/>
                </a:lnTo>
                <a:lnTo>
                  <a:pt x="5105459" y="500688"/>
                </a:lnTo>
                <a:lnTo>
                  <a:pt x="5153083" y="484943"/>
                </a:lnTo>
                <a:lnTo>
                  <a:pt x="5201386" y="470687"/>
                </a:lnTo>
                <a:lnTo>
                  <a:pt x="5250358" y="457961"/>
                </a:lnTo>
                <a:lnTo>
                  <a:pt x="5299989" y="446804"/>
                </a:lnTo>
                <a:lnTo>
                  <a:pt x="5350269" y="437256"/>
                </a:lnTo>
                <a:lnTo>
                  <a:pt x="5401189" y="429356"/>
                </a:lnTo>
                <a:lnTo>
                  <a:pt x="5452738" y="423142"/>
                </a:lnTo>
                <a:lnTo>
                  <a:pt x="5504907" y="418655"/>
                </a:lnTo>
                <a:lnTo>
                  <a:pt x="5557685" y="415934"/>
                </a:lnTo>
                <a:lnTo>
                  <a:pt x="5611063" y="415019"/>
                </a:lnTo>
                <a:lnTo>
                  <a:pt x="5661681" y="415839"/>
                </a:lnTo>
                <a:lnTo>
                  <a:pt x="5711889" y="418283"/>
                </a:lnTo>
                <a:lnTo>
                  <a:pt x="5761660" y="422324"/>
                </a:lnTo>
                <a:lnTo>
                  <a:pt x="5810968" y="427938"/>
                </a:lnTo>
                <a:lnTo>
                  <a:pt x="5859788" y="435097"/>
                </a:lnTo>
                <a:lnTo>
                  <a:pt x="5908094" y="443777"/>
                </a:lnTo>
                <a:lnTo>
                  <a:pt x="5955860" y="453951"/>
                </a:lnTo>
                <a:lnTo>
                  <a:pt x="6003061" y="465594"/>
                </a:lnTo>
                <a:lnTo>
                  <a:pt x="6049670" y="478681"/>
                </a:lnTo>
                <a:lnTo>
                  <a:pt x="6095662" y="493184"/>
                </a:lnTo>
                <a:lnTo>
                  <a:pt x="6141012" y="509079"/>
                </a:lnTo>
                <a:lnTo>
                  <a:pt x="6185693" y="526340"/>
                </a:lnTo>
                <a:lnTo>
                  <a:pt x="6229679" y="544941"/>
                </a:lnTo>
                <a:lnTo>
                  <a:pt x="6272945" y="564855"/>
                </a:lnTo>
                <a:lnTo>
                  <a:pt x="6315465" y="586059"/>
                </a:lnTo>
                <a:lnTo>
                  <a:pt x="6357213" y="608524"/>
                </a:lnTo>
                <a:lnTo>
                  <a:pt x="6398164" y="632227"/>
                </a:lnTo>
                <a:lnTo>
                  <a:pt x="6438292" y="657141"/>
                </a:lnTo>
                <a:lnTo>
                  <a:pt x="6477570" y="683240"/>
                </a:lnTo>
                <a:lnTo>
                  <a:pt x="6515974" y="710499"/>
                </a:lnTo>
                <a:lnTo>
                  <a:pt x="6553477" y="738891"/>
                </a:lnTo>
                <a:lnTo>
                  <a:pt x="6590053" y="768391"/>
                </a:lnTo>
                <a:lnTo>
                  <a:pt x="6625678" y="798974"/>
                </a:lnTo>
                <a:lnTo>
                  <a:pt x="6660324" y="830613"/>
                </a:lnTo>
                <a:lnTo>
                  <a:pt x="6693967" y="863282"/>
                </a:lnTo>
                <a:lnTo>
                  <a:pt x="6726580" y="896957"/>
                </a:lnTo>
                <a:lnTo>
                  <a:pt x="6758138" y="931611"/>
                </a:lnTo>
                <a:lnTo>
                  <a:pt x="6788615" y="967218"/>
                </a:lnTo>
                <a:lnTo>
                  <a:pt x="6817985" y="1003752"/>
                </a:lnTo>
                <a:lnTo>
                  <a:pt x="6846222" y="1041189"/>
                </a:lnTo>
                <a:lnTo>
                  <a:pt x="6873301" y="1079501"/>
                </a:lnTo>
                <a:lnTo>
                  <a:pt x="6899196" y="1118664"/>
                </a:lnTo>
                <a:lnTo>
                  <a:pt x="6923881" y="1158651"/>
                </a:lnTo>
                <a:lnTo>
                  <a:pt x="6947330" y="1199437"/>
                </a:lnTo>
                <a:lnTo>
                  <a:pt x="6969518" y="1240995"/>
                </a:lnTo>
                <a:lnTo>
                  <a:pt x="6990419" y="1283301"/>
                </a:lnTo>
                <a:lnTo>
                  <a:pt x="7010006" y="1326329"/>
                </a:lnTo>
                <a:lnTo>
                  <a:pt x="7028255" y="1370052"/>
                </a:lnTo>
                <a:lnTo>
                  <a:pt x="7045139" y="1414444"/>
                </a:lnTo>
                <a:lnTo>
                  <a:pt x="7060633" y="1459481"/>
                </a:lnTo>
                <a:lnTo>
                  <a:pt x="7074710" y="1505136"/>
                </a:lnTo>
                <a:lnTo>
                  <a:pt x="7116285" y="1477494"/>
                </a:lnTo>
                <a:lnTo>
                  <a:pt x="7159156" y="1451520"/>
                </a:lnTo>
                <a:lnTo>
                  <a:pt x="7203261" y="1427277"/>
                </a:lnTo>
                <a:lnTo>
                  <a:pt x="7248541" y="1404824"/>
                </a:lnTo>
                <a:lnTo>
                  <a:pt x="7294934" y="1384221"/>
                </a:lnTo>
                <a:lnTo>
                  <a:pt x="7342380" y="1365530"/>
                </a:lnTo>
                <a:lnTo>
                  <a:pt x="7390819" y="1348812"/>
                </a:lnTo>
                <a:lnTo>
                  <a:pt x="7440189" y="1334126"/>
                </a:lnTo>
                <a:lnTo>
                  <a:pt x="7490431" y="1321533"/>
                </a:lnTo>
                <a:lnTo>
                  <a:pt x="7541483" y="1311094"/>
                </a:lnTo>
                <a:lnTo>
                  <a:pt x="7593285" y="1302869"/>
                </a:lnTo>
                <a:lnTo>
                  <a:pt x="7645776" y="1296919"/>
                </a:lnTo>
                <a:lnTo>
                  <a:pt x="7698896" y="1293305"/>
                </a:lnTo>
                <a:lnTo>
                  <a:pt x="7752584" y="1292087"/>
                </a:lnTo>
                <a:lnTo>
                  <a:pt x="7802360" y="1293110"/>
                </a:lnTo>
                <a:lnTo>
                  <a:pt x="7851581" y="1296152"/>
                </a:lnTo>
                <a:lnTo>
                  <a:pt x="7900208" y="1301172"/>
                </a:lnTo>
                <a:lnTo>
                  <a:pt x="7948202" y="1308129"/>
                </a:lnTo>
                <a:lnTo>
                  <a:pt x="7995523" y="1316981"/>
                </a:lnTo>
                <a:lnTo>
                  <a:pt x="8042131" y="1327688"/>
                </a:lnTo>
                <a:lnTo>
                  <a:pt x="8087988" y="1340209"/>
                </a:lnTo>
                <a:lnTo>
                  <a:pt x="8133053" y="1354503"/>
                </a:lnTo>
                <a:lnTo>
                  <a:pt x="8177286" y="1370528"/>
                </a:lnTo>
                <a:lnTo>
                  <a:pt x="8220650" y="1388243"/>
                </a:lnTo>
                <a:lnTo>
                  <a:pt x="8263104" y="1407608"/>
                </a:lnTo>
                <a:lnTo>
                  <a:pt x="8304608" y="1428582"/>
                </a:lnTo>
                <a:lnTo>
                  <a:pt x="8345123" y="1451123"/>
                </a:lnTo>
                <a:lnTo>
                  <a:pt x="8384610" y="1475190"/>
                </a:lnTo>
                <a:lnTo>
                  <a:pt x="8423029" y="1500742"/>
                </a:lnTo>
                <a:lnTo>
                  <a:pt x="8460340" y="1527739"/>
                </a:lnTo>
                <a:lnTo>
                  <a:pt x="8496505" y="1556139"/>
                </a:lnTo>
                <a:lnTo>
                  <a:pt x="8531483" y="1585901"/>
                </a:lnTo>
                <a:lnTo>
                  <a:pt x="8565236" y="1616984"/>
                </a:lnTo>
                <a:lnTo>
                  <a:pt x="8597723" y="1649347"/>
                </a:lnTo>
                <a:lnTo>
                  <a:pt x="8628905" y="1682949"/>
                </a:lnTo>
                <a:lnTo>
                  <a:pt x="8658743" y="1717749"/>
                </a:lnTo>
                <a:lnTo>
                  <a:pt x="8687197" y="1753706"/>
                </a:lnTo>
                <a:lnTo>
                  <a:pt x="8714228" y="1790779"/>
                </a:lnTo>
                <a:lnTo>
                  <a:pt x="8739795" y="1828926"/>
                </a:lnTo>
                <a:lnTo>
                  <a:pt x="8763861" y="1868108"/>
                </a:lnTo>
                <a:lnTo>
                  <a:pt x="8786385" y="1908282"/>
                </a:lnTo>
                <a:lnTo>
                  <a:pt x="8807327" y="1949407"/>
                </a:lnTo>
                <a:lnTo>
                  <a:pt x="8826649" y="1991443"/>
                </a:lnTo>
                <a:lnTo>
                  <a:pt x="8844311" y="2034349"/>
                </a:lnTo>
                <a:lnTo>
                  <a:pt x="8860272" y="2078084"/>
                </a:lnTo>
                <a:lnTo>
                  <a:pt x="8874495" y="2122605"/>
                </a:lnTo>
                <a:lnTo>
                  <a:pt x="8886938" y="2167874"/>
                </a:lnTo>
                <a:lnTo>
                  <a:pt x="8897564" y="2213847"/>
                </a:lnTo>
                <a:lnTo>
                  <a:pt x="8906332" y="2260485"/>
                </a:lnTo>
                <a:lnTo>
                  <a:pt x="8947616" y="2240305"/>
                </a:lnTo>
                <a:lnTo>
                  <a:pt x="8990243" y="2222243"/>
                </a:lnTo>
                <a:lnTo>
                  <a:pt x="9034122" y="2206367"/>
                </a:lnTo>
                <a:lnTo>
                  <a:pt x="9079161" y="2192747"/>
                </a:lnTo>
                <a:lnTo>
                  <a:pt x="9125270" y="2181450"/>
                </a:lnTo>
                <a:lnTo>
                  <a:pt x="9172357" y="2172544"/>
                </a:lnTo>
                <a:lnTo>
                  <a:pt x="9220332" y="2166099"/>
                </a:lnTo>
                <a:lnTo>
                  <a:pt x="9269103" y="2162181"/>
                </a:lnTo>
                <a:lnTo>
                  <a:pt x="9318581" y="2160860"/>
                </a:lnTo>
                <a:lnTo>
                  <a:pt x="9366694" y="2162141"/>
                </a:lnTo>
                <a:lnTo>
                  <a:pt x="9414149" y="2165939"/>
                </a:lnTo>
                <a:lnTo>
                  <a:pt x="9460877" y="2172191"/>
                </a:lnTo>
                <a:lnTo>
                  <a:pt x="9506810" y="2180831"/>
                </a:lnTo>
                <a:lnTo>
                  <a:pt x="9551879" y="2191796"/>
                </a:lnTo>
                <a:lnTo>
                  <a:pt x="9596017" y="2205020"/>
                </a:lnTo>
                <a:lnTo>
                  <a:pt x="9639156" y="2220440"/>
                </a:lnTo>
                <a:lnTo>
                  <a:pt x="9681226" y="2237990"/>
                </a:lnTo>
                <a:lnTo>
                  <a:pt x="9722160" y="2257606"/>
                </a:lnTo>
                <a:lnTo>
                  <a:pt x="9761889" y="2279223"/>
                </a:lnTo>
                <a:lnTo>
                  <a:pt x="9800346" y="2302777"/>
                </a:lnTo>
                <a:lnTo>
                  <a:pt x="9837461" y="2328203"/>
                </a:lnTo>
                <a:lnTo>
                  <a:pt x="9873168" y="2355437"/>
                </a:lnTo>
                <a:lnTo>
                  <a:pt x="9907396" y="2384414"/>
                </a:lnTo>
                <a:lnTo>
                  <a:pt x="9940079" y="2415069"/>
                </a:lnTo>
                <a:lnTo>
                  <a:pt x="9971149" y="2447338"/>
                </a:lnTo>
                <a:lnTo>
                  <a:pt x="10000535" y="2481157"/>
                </a:lnTo>
                <a:lnTo>
                  <a:pt x="10028172" y="2516460"/>
                </a:lnTo>
                <a:lnTo>
                  <a:pt x="10053989" y="2553184"/>
                </a:lnTo>
                <a:lnTo>
                  <a:pt x="10077920" y="2591263"/>
                </a:lnTo>
                <a:lnTo>
                  <a:pt x="10099895" y="2630633"/>
                </a:lnTo>
                <a:lnTo>
                  <a:pt x="10119847" y="2671230"/>
                </a:lnTo>
                <a:lnTo>
                  <a:pt x="10137708" y="2712989"/>
                </a:lnTo>
                <a:lnTo>
                  <a:pt x="10153408" y="2755845"/>
                </a:lnTo>
                <a:lnTo>
                  <a:pt x="10166880" y="2799733"/>
                </a:lnTo>
                <a:lnTo>
                  <a:pt x="10178056" y="2844590"/>
                </a:lnTo>
                <a:lnTo>
                  <a:pt x="10186867" y="2890351"/>
                </a:lnTo>
                <a:lnTo>
                  <a:pt x="10193245" y="2936950"/>
                </a:lnTo>
                <a:lnTo>
                  <a:pt x="10197121" y="2984324"/>
                </a:lnTo>
                <a:lnTo>
                  <a:pt x="10198429" y="3032408"/>
                </a:lnTo>
                <a:lnTo>
                  <a:pt x="10197121" y="3080504"/>
                </a:lnTo>
                <a:lnTo>
                  <a:pt x="10193245" y="3127906"/>
                </a:lnTo>
                <a:lnTo>
                  <a:pt x="10186867" y="3174550"/>
                </a:lnTo>
                <a:lnTo>
                  <a:pt x="10178056" y="3220369"/>
                </a:lnTo>
                <a:lnTo>
                  <a:pt x="10166880" y="3265298"/>
                </a:lnTo>
                <a:lnTo>
                  <a:pt x="10153408" y="3309270"/>
                </a:lnTo>
                <a:lnTo>
                  <a:pt x="10137708" y="3352221"/>
                </a:lnTo>
                <a:lnTo>
                  <a:pt x="10119847" y="3394084"/>
                </a:lnTo>
                <a:lnTo>
                  <a:pt x="10099895" y="3434794"/>
                </a:lnTo>
                <a:lnTo>
                  <a:pt x="10077920" y="3474284"/>
                </a:lnTo>
                <a:lnTo>
                  <a:pt x="10053989" y="3512490"/>
                </a:lnTo>
                <a:lnTo>
                  <a:pt x="10028172" y="3549344"/>
                </a:lnTo>
                <a:lnTo>
                  <a:pt x="10000535" y="3584782"/>
                </a:lnTo>
                <a:lnTo>
                  <a:pt x="9971149" y="3618737"/>
                </a:lnTo>
                <a:lnTo>
                  <a:pt x="9940079" y="3651145"/>
                </a:lnTo>
                <a:lnTo>
                  <a:pt x="9907396" y="3681938"/>
                </a:lnTo>
                <a:lnTo>
                  <a:pt x="9873168" y="3711051"/>
                </a:lnTo>
                <a:lnTo>
                  <a:pt x="9837461" y="3738419"/>
                </a:lnTo>
                <a:lnTo>
                  <a:pt x="9800346" y="3763976"/>
                </a:lnTo>
                <a:lnTo>
                  <a:pt x="9761889" y="3787655"/>
                </a:lnTo>
                <a:lnTo>
                  <a:pt x="9722160" y="3809391"/>
                </a:lnTo>
                <a:lnTo>
                  <a:pt x="9681226" y="3829119"/>
                </a:lnTo>
                <a:lnTo>
                  <a:pt x="9639156" y="3846772"/>
                </a:lnTo>
                <a:lnTo>
                  <a:pt x="9596017" y="3862285"/>
                </a:lnTo>
                <a:lnTo>
                  <a:pt x="9551879" y="3875592"/>
                </a:lnTo>
                <a:lnTo>
                  <a:pt x="9506810" y="3886627"/>
                </a:lnTo>
                <a:lnTo>
                  <a:pt x="9460877" y="3895324"/>
                </a:lnTo>
                <a:lnTo>
                  <a:pt x="9414149" y="3901618"/>
                </a:lnTo>
                <a:lnTo>
                  <a:pt x="9366694" y="3905442"/>
                </a:lnTo>
                <a:lnTo>
                  <a:pt x="9318581" y="3906732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01" y="3588885"/>
            <a:ext cx="6315658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solidFill>
                  <a:srgbClr val="FFFFFF"/>
                </a:solidFill>
                <a:latin typeface="Carlito"/>
                <a:cs typeface="Carlito"/>
              </a:rPr>
              <a:t>Cloud</a:t>
            </a:r>
            <a:r>
              <a:rPr sz="6000" b="1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6000" b="1" spc="-10" dirty="0">
                <a:solidFill>
                  <a:srgbClr val="FFFFFF"/>
                </a:solidFill>
                <a:latin typeface="Carlito"/>
                <a:cs typeface="Carlito"/>
              </a:rPr>
              <a:t>Computing</a:t>
            </a:r>
            <a:endParaRPr sz="6000" dirty="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953000" y="6467713"/>
            <a:ext cx="1860881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667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spc="-1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1" y="1752600"/>
            <a:ext cx="9970270" cy="423763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667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spc="-1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4033" y="1941509"/>
            <a:ext cx="9036825" cy="43068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667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spc="-1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385" y="1775403"/>
            <a:ext cx="9519474" cy="45809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667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spc="-1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4033" y="1830261"/>
            <a:ext cx="9036825" cy="45811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667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spc="-1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8290" y="1858950"/>
            <a:ext cx="8610574" cy="420466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667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Cloud</a:t>
            </a:r>
            <a:r>
              <a:rPr spc="-70" dirty="0"/>
              <a:t> </a:t>
            </a:r>
            <a:r>
              <a:rPr spc="-10" dirty="0"/>
              <a:t>Computing?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33616" y="1566251"/>
            <a:ext cx="2286183" cy="865622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196850" rIns="0" bIns="0" rtlCol="0">
            <a:spAutoFit/>
          </a:bodyPr>
          <a:lstStyle/>
          <a:p>
            <a:pPr marL="564515" marR="557530" indent="38735">
              <a:lnSpc>
                <a:spcPts val="2620"/>
              </a:lnSpc>
              <a:spcBef>
                <a:spcPts val="1550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Pay</a:t>
            </a:r>
            <a:r>
              <a:rPr sz="22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As </a:t>
            </a: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You</a:t>
            </a: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Go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8270" y="1901168"/>
            <a:ext cx="1946910" cy="1056640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285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21526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24x7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Support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8270" y="3229643"/>
            <a:ext cx="2109730" cy="1056640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29209" rIns="0" bIns="0" rtlCol="0">
            <a:spAutoFit/>
          </a:bodyPr>
          <a:lstStyle/>
          <a:p>
            <a:pPr marL="121285" marR="114935" indent="635" algn="ctr">
              <a:lnSpc>
                <a:spcPts val="2630"/>
              </a:lnSpc>
              <a:spcBef>
                <a:spcPts val="229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Device-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Carlito"/>
                <a:cs typeface="Carlito"/>
              </a:rPr>
              <a:t>&amp;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Location-Indep endent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8270" y="4558140"/>
            <a:ext cx="2109730" cy="1199046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196850" rIns="0" bIns="0" rtlCol="0">
            <a:spAutoFit/>
          </a:bodyPr>
          <a:lstStyle/>
          <a:p>
            <a:pPr marL="274320" marR="269240" indent="6985">
              <a:lnSpc>
                <a:spcPts val="2620"/>
              </a:lnSpc>
              <a:spcBef>
                <a:spcPts val="1550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Easy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&amp;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Agile Deployment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43400" y="3066443"/>
            <a:ext cx="3276600" cy="1141979"/>
          </a:xfrm>
          <a:prstGeom prst="rect">
            <a:avLst/>
          </a:prstGeom>
          <a:solidFill>
            <a:srgbClr val="49AEEF"/>
          </a:solidFill>
        </p:spPr>
        <p:txBody>
          <a:bodyPr vert="horz" wrap="square" lIns="0" tIns="135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65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640080" marR="633095" indent="68580">
              <a:lnSpc>
                <a:spcPts val="2620"/>
              </a:lnSpc>
            </a:pPr>
            <a:r>
              <a:rPr sz="2200" b="1" dirty="0">
                <a:solidFill>
                  <a:srgbClr val="FFFFFF"/>
                </a:solidFill>
                <a:latin typeface="Carlito"/>
                <a:cs typeface="Carlito"/>
              </a:rPr>
              <a:t>Why</a:t>
            </a:r>
            <a:r>
              <a:rPr sz="2200" b="1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Cloud Computing?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18361" y="1566251"/>
            <a:ext cx="1946910" cy="1056640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29845" rIns="0" bIns="0" rtlCol="0">
            <a:spAutoFit/>
          </a:bodyPr>
          <a:lstStyle/>
          <a:p>
            <a:pPr marL="177800" marR="170815" algn="ctr">
              <a:lnSpc>
                <a:spcPts val="2620"/>
              </a:lnSpc>
              <a:spcBef>
                <a:spcPts val="235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Lower</a:t>
            </a:r>
            <a:r>
              <a:rPr sz="2200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Total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Cost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Ownership</a:t>
            </a:r>
            <a:endParaRPr sz="1600" dirty="0">
              <a:latin typeface="Carlito"/>
              <a:cs typeface="Carlito"/>
            </a:endParaRPr>
          </a:p>
          <a:p>
            <a:pPr algn="ctr">
              <a:lnSpc>
                <a:spcPts val="2545"/>
              </a:lnSpc>
            </a:pP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(TCO)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92556" y="1901168"/>
            <a:ext cx="2213644" cy="865622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196850" rIns="0" bIns="0" rtlCol="0">
            <a:spAutoFit/>
          </a:bodyPr>
          <a:lstStyle/>
          <a:p>
            <a:pPr marL="404495" marR="376555" indent="-22225">
              <a:lnSpc>
                <a:spcPts val="2620"/>
              </a:lnSpc>
              <a:spcBef>
                <a:spcPts val="1550"/>
              </a:spcBef>
            </a:pP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Reliability, Scalability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92556" y="3229643"/>
            <a:ext cx="2213644" cy="865622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196850" rIns="0" bIns="0" rtlCol="0">
            <a:spAutoFit/>
          </a:bodyPr>
          <a:lstStyle/>
          <a:p>
            <a:pPr marL="284480" marR="192405" indent="-86360">
              <a:lnSpc>
                <a:spcPts val="2620"/>
              </a:lnSpc>
              <a:spcBef>
                <a:spcPts val="1550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Lower</a:t>
            </a:r>
            <a:r>
              <a:rPr sz="2200" spc="-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Capital Expenditure</a:t>
            </a:r>
            <a:endParaRPr sz="2200" dirty="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92556" y="4558140"/>
            <a:ext cx="2026114" cy="1004826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29209" rIns="0" bIns="0" rtlCol="0">
            <a:spAutoFit/>
          </a:bodyPr>
          <a:lstStyle/>
          <a:p>
            <a:pPr marL="394335" marR="386715" indent="132080" algn="just">
              <a:lnSpc>
                <a:spcPts val="2630"/>
              </a:lnSpc>
              <a:spcBef>
                <a:spcPts val="229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Free</a:t>
            </a:r>
            <a:r>
              <a:rPr sz="2000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rlito"/>
                <a:cs typeface="Carlito"/>
              </a:rPr>
              <a:t>Up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Internal Resources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3616" y="5086439"/>
            <a:ext cx="2057583" cy="705962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285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5"/>
              </a:spcBef>
            </a:pPr>
            <a:endParaRPr sz="2200">
              <a:latin typeface="Times New Roman"/>
              <a:cs typeface="Times New Roman"/>
            </a:endParaRPr>
          </a:p>
          <a:p>
            <a:pPr marL="25844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Carlito"/>
                <a:cs typeface="Carlito"/>
              </a:rPr>
              <a:t>Utility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Based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18360" y="5086439"/>
            <a:ext cx="2168439" cy="865622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196850" rIns="0" bIns="0" rtlCol="0">
            <a:spAutoFit/>
          </a:bodyPr>
          <a:lstStyle/>
          <a:p>
            <a:pPr marL="330200" marR="323215" indent="288925">
              <a:lnSpc>
                <a:spcPts val="2620"/>
              </a:lnSpc>
              <a:spcBef>
                <a:spcPts val="1550"/>
              </a:spcBef>
            </a:pP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Highly Automated</a:t>
            </a:r>
            <a:endParaRPr sz="2200" dirty="0">
              <a:latin typeface="Carlito"/>
              <a:cs typeface="Carlito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95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dirty="0"/>
              <a:t>Cloud</a:t>
            </a:r>
            <a:r>
              <a:rPr spc="-95" dirty="0"/>
              <a:t> </a:t>
            </a:r>
            <a:r>
              <a:rPr spc="-10" dirty="0"/>
              <a:t>Computing?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545" y="1802663"/>
            <a:ext cx="10316845" cy="17221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86690" marR="368300" indent="-174625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“The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practice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remote</a:t>
            </a:r>
            <a:r>
              <a:rPr sz="2800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servers </a:t>
            </a:r>
            <a:r>
              <a:rPr sz="2800" dirty="0">
                <a:latin typeface="Times New Roman"/>
                <a:cs typeface="Times New Roman"/>
              </a:rPr>
              <a:t>hosted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dirty="0">
                <a:latin typeface="Times New Roman"/>
                <a:cs typeface="Times New Roman"/>
              </a:rPr>
              <a:t>Internet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store,</a:t>
            </a:r>
            <a:r>
              <a:rPr sz="2800" spc="-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manage,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and</a:t>
            </a:r>
            <a:r>
              <a:rPr sz="2800" spc="-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process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data,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rather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local</a:t>
            </a:r>
            <a:r>
              <a:rPr sz="2800" spc="-10" dirty="0">
                <a:latin typeface="Times New Roman"/>
                <a:cs typeface="Times New Roman"/>
              </a:rPr>
              <a:t> server 	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personal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computer.”</a:t>
            </a:r>
            <a:endParaRPr sz="2800">
              <a:latin typeface="Times New Roman"/>
              <a:cs typeface="Times New Roman"/>
            </a:endParaRPr>
          </a:p>
          <a:p>
            <a:pPr marL="7666355" lvl="1" indent="-17462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666355" algn="l"/>
              </a:tabLst>
            </a:pPr>
            <a:r>
              <a:rPr sz="2800" dirty="0">
                <a:latin typeface="Times New Roman"/>
                <a:cs typeface="Times New Roman"/>
              </a:rPr>
              <a:t>Oxford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Dictionary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4545" y="4615704"/>
            <a:ext cx="10316845" cy="13474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6690" marR="794385" indent="-174625">
              <a:lnSpc>
                <a:spcPts val="3050"/>
              </a:lnSpc>
              <a:spcBef>
                <a:spcPts val="459"/>
              </a:spcBef>
              <a:buFont typeface="Arial"/>
              <a:buChar char="•"/>
              <a:tabLst>
                <a:tab pos="187960" algn="l"/>
              </a:tabLst>
            </a:pPr>
            <a:r>
              <a:rPr sz="2800" dirty="0">
                <a:latin typeface="Times New Roman"/>
                <a:cs typeface="Times New Roman"/>
              </a:rPr>
              <a:t>“The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practice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storing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regularly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data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on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 multiple 	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servers</a:t>
            </a:r>
            <a:r>
              <a:rPr sz="2800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accessed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Internet.”</a:t>
            </a:r>
            <a:endParaRPr sz="2800">
              <a:latin typeface="Times New Roman"/>
              <a:cs typeface="Times New Roman"/>
            </a:endParaRPr>
          </a:p>
          <a:p>
            <a:pPr marL="7508875" lvl="1" indent="-17462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7508875" algn="l"/>
              </a:tabLst>
            </a:pPr>
            <a:r>
              <a:rPr sz="2800" dirty="0">
                <a:latin typeface="Times New Roman"/>
                <a:cs typeface="Times New Roman"/>
              </a:rPr>
              <a:t>Webster </a:t>
            </a:r>
            <a:r>
              <a:rPr sz="2800" spc="-10" dirty="0">
                <a:latin typeface="Times New Roman"/>
                <a:cs typeface="Times New Roman"/>
              </a:rPr>
              <a:t>Dictionary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95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dirty="0"/>
              <a:t>Cloud</a:t>
            </a:r>
            <a:r>
              <a:rPr spc="-95" dirty="0"/>
              <a:t> </a:t>
            </a:r>
            <a:r>
              <a:rPr spc="-10" dirty="0"/>
              <a:t>Computing?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545" y="1802663"/>
            <a:ext cx="10311765" cy="324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ts val="3180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Cloud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computing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enabling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ubiquitous,</a:t>
            </a:r>
            <a:r>
              <a:rPr sz="2800" spc="-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convenient,</a:t>
            </a:r>
            <a:endParaRPr sz="2800">
              <a:latin typeface="Times New Roman"/>
              <a:cs typeface="Times New Roman"/>
            </a:endParaRPr>
          </a:p>
          <a:p>
            <a:pPr marL="187960" marR="39370">
              <a:lnSpc>
                <a:spcPts val="3000"/>
              </a:lnSpc>
              <a:spcBef>
                <a:spcPts val="219"/>
              </a:spcBef>
              <a:tabLst>
                <a:tab pos="7531100" algn="l"/>
              </a:tabLst>
            </a:pP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on-demand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network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access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to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a</a:t>
            </a:r>
            <a:r>
              <a:rPr sz="2800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shared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pool</a:t>
            </a:r>
            <a:r>
              <a:rPr sz="2800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of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configurable</a:t>
            </a:r>
            <a:r>
              <a:rPr sz="2800" spc="-1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computing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resources</a:t>
            </a:r>
            <a:r>
              <a:rPr sz="2800" spc="-2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(e.g.,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networks,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servers,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storage,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applications,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services)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 be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rapidly provisioned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 released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BF0000"/>
                </a:solidFill>
                <a:latin typeface="Times New Roman"/>
                <a:cs typeface="Times New Roman"/>
              </a:rPr>
              <a:t>minimal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management</a:t>
            </a:r>
            <a:r>
              <a:rPr sz="2800" spc="-6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BF0000"/>
                </a:solidFill>
                <a:latin typeface="Times New Roman"/>
                <a:cs typeface="Times New Roman"/>
              </a:rPr>
              <a:t>effort</a:t>
            </a:r>
            <a:r>
              <a:rPr sz="2800" spc="-2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service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interaction.</a:t>
            </a:r>
            <a:r>
              <a:rPr sz="2800" dirty="0">
                <a:latin typeface="Times New Roman"/>
                <a:cs typeface="Times New Roman"/>
              </a:rPr>
              <a:t>	This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cloud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model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composed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five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essential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characteristics,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three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service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models,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four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deployment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models.</a:t>
            </a:r>
            <a:endParaRPr sz="2800">
              <a:latin typeface="Times New Roman"/>
              <a:cs typeface="Times New Roman"/>
            </a:endParaRPr>
          </a:p>
          <a:p>
            <a:pPr marL="3558540" lvl="1" indent="-17462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58540" algn="l"/>
              </a:tabLst>
            </a:pPr>
            <a:r>
              <a:rPr sz="2800" dirty="0">
                <a:latin typeface="Times New Roman"/>
                <a:cs typeface="Times New Roman"/>
              </a:rPr>
              <a:t>National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Institute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Standards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Technology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755">
              <a:lnSpc>
                <a:spcPct val="100000"/>
              </a:lnSpc>
              <a:spcBef>
                <a:spcPts val="100"/>
              </a:spcBef>
            </a:pPr>
            <a:r>
              <a:rPr dirty="0"/>
              <a:t>Evolution</a:t>
            </a:r>
            <a:r>
              <a:rPr spc="-12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/>
              <a:t>Cloud</a:t>
            </a:r>
            <a:r>
              <a:rPr spc="-120" dirty="0"/>
              <a:t> </a:t>
            </a:r>
            <a:r>
              <a:rPr spc="-10" dirty="0"/>
              <a:t>Computing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99829" y="2140643"/>
          <a:ext cx="9964420" cy="3291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2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Stage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0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Characteristics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0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Grid</a:t>
                      </a:r>
                      <a:r>
                        <a:rPr sz="18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Computing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Solving</a:t>
                      </a:r>
                      <a:r>
                        <a:rPr sz="180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large</a:t>
                      </a:r>
                      <a:r>
                        <a:rPr sz="180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problems</a:t>
                      </a:r>
                      <a:r>
                        <a:rPr sz="180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with</a:t>
                      </a:r>
                      <a:r>
                        <a:rPr sz="180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parallel</a:t>
                      </a:r>
                      <a:r>
                        <a:rPr sz="1800" spc="-6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computing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Utility</a:t>
                      </a:r>
                      <a:r>
                        <a:rPr sz="180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Computing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811655">
                        <a:lnSpc>
                          <a:spcPct val="100699"/>
                        </a:lnSpc>
                        <a:spcBef>
                          <a:spcPts val="21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Computing</a:t>
                      </a:r>
                      <a:r>
                        <a:rPr sz="1800" spc="-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resources</a:t>
                      </a:r>
                      <a:r>
                        <a:rPr sz="1800" spc="-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offered</a:t>
                      </a:r>
                      <a:r>
                        <a:rPr sz="1800" spc="-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as</a:t>
                      </a:r>
                      <a:r>
                        <a:rPr sz="1800" spc="-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a</a:t>
                      </a:r>
                      <a:r>
                        <a:rPr sz="1800" spc="-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metered</a:t>
                      </a:r>
                      <a:r>
                        <a:rPr sz="1800" spc="-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service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Late</a:t>
                      </a:r>
                      <a:r>
                        <a:rPr sz="18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1990s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Software</a:t>
                      </a:r>
                      <a:r>
                        <a:rPr sz="18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as</a:t>
                      </a:r>
                      <a:r>
                        <a:rPr sz="1800" spc="-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a</a:t>
                      </a:r>
                      <a:r>
                        <a:rPr sz="1800" spc="-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Service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322070">
                        <a:lnSpc>
                          <a:spcPct val="100699"/>
                        </a:lnSpc>
                        <a:spcBef>
                          <a:spcPts val="210"/>
                        </a:spcBef>
                      </a:pPr>
                      <a:r>
                        <a:rPr sz="1800" spc="-20" dirty="0">
                          <a:latin typeface="Carlito"/>
                          <a:cs typeface="Carlito"/>
                        </a:rPr>
                        <a:t>Subscription-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based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software</a:t>
                      </a:r>
                      <a:r>
                        <a:rPr sz="18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accessed</a:t>
                      </a:r>
                      <a:r>
                        <a:rPr sz="18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over</a:t>
                      </a:r>
                      <a:r>
                        <a:rPr sz="18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the</a:t>
                      </a:r>
                      <a:r>
                        <a:rPr sz="18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Internet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Gained</a:t>
                      </a:r>
                      <a:r>
                        <a:rPr sz="1800" spc="-5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momentum</a:t>
                      </a:r>
                      <a:r>
                        <a:rPr sz="1800" spc="-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after</a:t>
                      </a:r>
                      <a:r>
                        <a:rPr sz="1800" spc="-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20" dirty="0">
                          <a:latin typeface="Carlito"/>
                          <a:cs typeface="Carlito"/>
                        </a:rPr>
                        <a:t>2001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Cloud</a:t>
                      </a:r>
                      <a:r>
                        <a:rPr sz="1800" spc="-7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Computing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998855">
                        <a:lnSpc>
                          <a:spcPct val="100699"/>
                        </a:lnSpc>
                        <a:spcBef>
                          <a:spcPts val="210"/>
                        </a:spcBef>
                      </a:pPr>
                      <a:r>
                        <a:rPr sz="1800" spc="-20" dirty="0">
                          <a:latin typeface="Carlito"/>
                          <a:cs typeface="Carlito"/>
                        </a:rPr>
                        <a:t>Next-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generation</a:t>
                      </a:r>
                      <a:r>
                        <a:rPr sz="1800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datacenters</a:t>
                      </a:r>
                      <a:r>
                        <a:rPr sz="180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with</a:t>
                      </a:r>
                      <a:r>
                        <a:rPr sz="1800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virtualization</a:t>
                      </a:r>
                      <a:r>
                        <a:rPr sz="180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technology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Full</a:t>
                      </a:r>
                      <a:r>
                        <a:rPr sz="180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stack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of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service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-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IasS,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PaaS,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&amp;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20" dirty="0">
                          <a:latin typeface="Carlito"/>
                          <a:cs typeface="Carlito"/>
                        </a:rPr>
                        <a:t>SaaS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698561" y="2246688"/>
            <a:ext cx="609600" cy="3185160"/>
          </a:xfrm>
          <a:custGeom>
            <a:avLst/>
            <a:gdLst/>
            <a:ahLst/>
            <a:cxnLst/>
            <a:rect l="l" t="t" r="r" b="b"/>
            <a:pathLst>
              <a:path w="365759" h="3185160">
                <a:moveTo>
                  <a:pt x="182727" y="3184821"/>
                </a:moveTo>
                <a:lnTo>
                  <a:pt x="0" y="3002096"/>
                </a:lnTo>
                <a:lnTo>
                  <a:pt x="0" y="0"/>
                </a:lnTo>
                <a:lnTo>
                  <a:pt x="182727" y="182727"/>
                </a:lnTo>
                <a:lnTo>
                  <a:pt x="365454" y="0"/>
                </a:lnTo>
                <a:lnTo>
                  <a:pt x="365454" y="3002096"/>
                </a:lnTo>
                <a:lnTo>
                  <a:pt x="182727" y="3184821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1918" y="3075558"/>
            <a:ext cx="228600" cy="1549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</a:pP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Order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Evolution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105" dirty="0"/>
              <a:t> </a:t>
            </a:r>
            <a:r>
              <a:rPr dirty="0"/>
              <a:t>Enabling</a:t>
            </a:r>
            <a:r>
              <a:rPr spc="-105" dirty="0"/>
              <a:t> </a:t>
            </a:r>
            <a:r>
              <a:rPr spc="-10" dirty="0"/>
              <a:t>Technologies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83182"/>
            <a:ext cx="12192000" cy="1931440"/>
          </a:xfrm>
          <a:custGeom>
            <a:avLst/>
            <a:gdLst/>
            <a:ahLst/>
            <a:cxnLst/>
            <a:rect l="l" t="t" r="r" b="b"/>
            <a:pathLst>
              <a:path w="12192000" h="1707514">
                <a:moveTo>
                  <a:pt x="12191975" y="1707061"/>
                </a:moveTo>
                <a:lnTo>
                  <a:pt x="0" y="1707061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1707061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7061" y="1559522"/>
            <a:ext cx="6733540" cy="13868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27990" indent="-415290">
              <a:lnSpc>
                <a:spcPct val="100000"/>
              </a:lnSpc>
              <a:spcBef>
                <a:spcPts val="30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Ubiquitous</a:t>
            </a:r>
            <a:r>
              <a:rPr sz="2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fast</a:t>
            </a:r>
            <a:r>
              <a:rPr sz="2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wide-area</a:t>
            </a:r>
            <a:r>
              <a:rPr sz="28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networks</a:t>
            </a:r>
            <a:endParaRPr sz="2800">
              <a:latin typeface="Carlito"/>
              <a:cs typeface="Carlito"/>
            </a:endParaRPr>
          </a:p>
          <a:p>
            <a:pPr marL="427990" indent="-415290">
              <a:lnSpc>
                <a:spcPct val="100000"/>
              </a:lnSpc>
              <a:spcBef>
                <a:spcPts val="20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Powerful</a:t>
            </a:r>
            <a:r>
              <a:rPr sz="28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28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inexpensive</a:t>
            </a:r>
            <a:r>
              <a:rPr sz="28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servers</a:t>
            </a:r>
            <a:endParaRPr sz="2800">
              <a:latin typeface="Carlito"/>
              <a:cs typeface="Carlito"/>
            </a:endParaRPr>
          </a:p>
          <a:p>
            <a:pPr marL="427990" indent="-415290">
              <a:lnSpc>
                <a:spcPct val="100000"/>
              </a:lnSpc>
              <a:spcBef>
                <a:spcPts val="24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High-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performance</a:t>
            </a:r>
            <a:r>
              <a:rPr sz="28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virtualization</a:t>
            </a:r>
            <a:r>
              <a:rPr sz="28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technology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08818" y="4176866"/>
            <a:ext cx="1504950" cy="1529715"/>
            <a:chOff x="3208818" y="4176866"/>
            <a:chExt cx="1504950" cy="1529715"/>
          </a:xfrm>
        </p:grpSpPr>
        <p:sp>
          <p:nvSpPr>
            <p:cNvPr id="6" name="object 6"/>
            <p:cNvSpPr/>
            <p:nvPr/>
          </p:nvSpPr>
          <p:spPr>
            <a:xfrm>
              <a:off x="3208818" y="4767865"/>
              <a:ext cx="1504950" cy="353060"/>
            </a:xfrm>
            <a:custGeom>
              <a:avLst/>
              <a:gdLst/>
              <a:ahLst/>
              <a:cxnLst/>
              <a:rect l="l" t="t" r="r" b="b"/>
              <a:pathLst>
                <a:path w="1504950" h="353060">
                  <a:moveTo>
                    <a:pt x="1504571" y="352599"/>
                  </a:moveTo>
                  <a:lnTo>
                    <a:pt x="176299" y="352599"/>
                  </a:lnTo>
                  <a:lnTo>
                    <a:pt x="0" y="176299"/>
                  </a:lnTo>
                  <a:lnTo>
                    <a:pt x="176299" y="0"/>
                  </a:lnTo>
                  <a:lnTo>
                    <a:pt x="1504571" y="0"/>
                  </a:lnTo>
                  <a:lnTo>
                    <a:pt x="1328272" y="176299"/>
                  </a:lnTo>
                  <a:lnTo>
                    <a:pt x="1504571" y="352599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94767" y="4176866"/>
              <a:ext cx="532765" cy="1529715"/>
            </a:xfrm>
            <a:custGeom>
              <a:avLst/>
              <a:gdLst/>
              <a:ahLst/>
              <a:cxnLst/>
              <a:rect l="l" t="t" r="r" b="b"/>
              <a:pathLst>
                <a:path w="532764" h="1529714">
                  <a:moveTo>
                    <a:pt x="266324" y="1529696"/>
                  </a:moveTo>
                  <a:lnTo>
                    <a:pt x="0" y="1529696"/>
                  </a:lnTo>
                  <a:lnTo>
                    <a:pt x="266324" y="764848"/>
                  </a:lnTo>
                  <a:lnTo>
                    <a:pt x="0" y="0"/>
                  </a:lnTo>
                  <a:lnTo>
                    <a:pt x="266324" y="0"/>
                  </a:lnTo>
                  <a:lnTo>
                    <a:pt x="532673" y="764848"/>
                  </a:lnTo>
                  <a:lnTo>
                    <a:pt x="266324" y="152969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10243" y="3869467"/>
            <a:ext cx="2148840" cy="2143760"/>
          </a:xfrm>
          <a:custGeom>
            <a:avLst/>
            <a:gdLst/>
            <a:ahLst/>
            <a:cxnLst/>
            <a:rect l="l" t="t" r="r" b="b"/>
            <a:pathLst>
              <a:path w="2148840" h="2143760">
                <a:moveTo>
                  <a:pt x="1074417" y="2143745"/>
                </a:moveTo>
                <a:lnTo>
                  <a:pt x="1026558" y="2142701"/>
                </a:lnTo>
                <a:lnTo>
                  <a:pt x="979236" y="2139597"/>
                </a:lnTo>
                <a:lnTo>
                  <a:pt x="932493" y="2134477"/>
                </a:lnTo>
                <a:lnTo>
                  <a:pt x="886373" y="2127384"/>
                </a:lnTo>
                <a:lnTo>
                  <a:pt x="840920" y="2118362"/>
                </a:lnTo>
                <a:lnTo>
                  <a:pt x="796179" y="2107455"/>
                </a:lnTo>
                <a:lnTo>
                  <a:pt x="752191" y="2094706"/>
                </a:lnTo>
                <a:lnTo>
                  <a:pt x="709002" y="2080158"/>
                </a:lnTo>
                <a:lnTo>
                  <a:pt x="666655" y="2063856"/>
                </a:lnTo>
                <a:lnTo>
                  <a:pt x="625193" y="2045843"/>
                </a:lnTo>
                <a:lnTo>
                  <a:pt x="584660" y="2026162"/>
                </a:lnTo>
                <a:lnTo>
                  <a:pt x="545100" y="2004857"/>
                </a:lnTo>
                <a:lnTo>
                  <a:pt x="506557" y="1981972"/>
                </a:lnTo>
                <a:lnTo>
                  <a:pt x="469073" y="1957549"/>
                </a:lnTo>
                <a:lnTo>
                  <a:pt x="432694" y="1931634"/>
                </a:lnTo>
                <a:lnTo>
                  <a:pt x="397462" y="1904269"/>
                </a:lnTo>
                <a:lnTo>
                  <a:pt x="363421" y="1875497"/>
                </a:lnTo>
                <a:lnTo>
                  <a:pt x="330615" y="1845363"/>
                </a:lnTo>
                <a:lnTo>
                  <a:pt x="299087" y="1813910"/>
                </a:lnTo>
                <a:lnTo>
                  <a:pt x="268882" y="1781182"/>
                </a:lnTo>
                <a:lnTo>
                  <a:pt x="240042" y="1747221"/>
                </a:lnTo>
                <a:lnTo>
                  <a:pt x="212612" y="1712073"/>
                </a:lnTo>
                <a:lnTo>
                  <a:pt x="186635" y="1675779"/>
                </a:lnTo>
                <a:lnTo>
                  <a:pt x="162156" y="1638385"/>
                </a:lnTo>
                <a:lnTo>
                  <a:pt x="139216" y="1599933"/>
                </a:lnTo>
                <a:lnTo>
                  <a:pt x="117861" y="1560466"/>
                </a:lnTo>
                <a:lnTo>
                  <a:pt x="98133" y="1520030"/>
                </a:lnTo>
                <a:lnTo>
                  <a:pt x="80077" y="1478666"/>
                </a:lnTo>
                <a:lnTo>
                  <a:pt x="63737" y="1436419"/>
                </a:lnTo>
                <a:lnTo>
                  <a:pt x="49155" y="1393332"/>
                </a:lnTo>
                <a:lnTo>
                  <a:pt x="36376" y="1349450"/>
                </a:lnTo>
                <a:lnTo>
                  <a:pt x="25443" y="1304814"/>
                </a:lnTo>
                <a:lnTo>
                  <a:pt x="16400" y="1259470"/>
                </a:lnTo>
                <a:lnTo>
                  <a:pt x="9290" y="1213460"/>
                </a:lnTo>
                <a:lnTo>
                  <a:pt x="4158" y="1166828"/>
                </a:lnTo>
                <a:lnTo>
                  <a:pt x="1046" y="1119617"/>
                </a:lnTo>
                <a:lnTo>
                  <a:pt x="0" y="1071872"/>
                </a:lnTo>
                <a:lnTo>
                  <a:pt x="1046" y="1024127"/>
                </a:lnTo>
                <a:lnTo>
                  <a:pt x="4158" y="976917"/>
                </a:lnTo>
                <a:lnTo>
                  <a:pt x="9290" y="930285"/>
                </a:lnTo>
                <a:lnTo>
                  <a:pt x="16400" y="884275"/>
                </a:lnTo>
                <a:lnTo>
                  <a:pt x="25443" y="838931"/>
                </a:lnTo>
                <a:lnTo>
                  <a:pt x="36376" y="794295"/>
                </a:lnTo>
                <a:lnTo>
                  <a:pt x="49155" y="750412"/>
                </a:lnTo>
                <a:lnTo>
                  <a:pt x="63737" y="707326"/>
                </a:lnTo>
                <a:lnTo>
                  <a:pt x="80077" y="665079"/>
                </a:lnTo>
                <a:lnTo>
                  <a:pt x="98133" y="623715"/>
                </a:lnTo>
                <a:lnTo>
                  <a:pt x="117861" y="583278"/>
                </a:lnTo>
                <a:lnTo>
                  <a:pt x="139216" y="543812"/>
                </a:lnTo>
                <a:lnTo>
                  <a:pt x="162156" y="505360"/>
                </a:lnTo>
                <a:lnTo>
                  <a:pt x="186635" y="467965"/>
                </a:lnTo>
                <a:lnTo>
                  <a:pt x="212612" y="431672"/>
                </a:lnTo>
                <a:lnTo>
                  <a:pt x="240042" y="396523"/>
                </a:lnTo>
                <a:lnTo>
                  <a:pt x="268882" y="362563"/>
                </a:lnTo>
                <a:lnTo>
                  <a:pt x="299087" y="329834"/>
                </a:lnTo>
                <a:lnTo>
                  <a:pt x="330615" y="298381"/>
                </a:lnTo>
                <a:lnTo>
                  <a:pt x="363421" y="268247"/>
                </a:lnTo>
                <a:lnTo>
                  <a:pt x="397462" y="239476"/>
                </a:lnTo>
                <a:lnTo>
                  <a:pt x="432694" y="212111"/>
                </a:lnTo>
                <a:lnTo>
                  <a:pt x="469073" y="186195"/>
                </a:lnTo>
                <a:lnTo>
                  <a:pt x="506557" y="161773"/>
                </a:lnTo>
                <a:lnTo>
                  <a:pt x="545100" y="138888"/>
                </a:lnTo>
                <a:lnTo>
                  <a:pt x="584660" y="117583"/>
                </a:lnTo>
                <a:lnTo>
                  <a:pt x="625193" y="97902"/>
                </a:lnTo>
                <a:lnTo>
                  <a:pt x="666655" y="79889"/>
                </a:lnTo>
                <a:lnTo>
                  <a:pt x="709002" y="63587"/>
                </a:lnTo>
                <a:lnTo>
                  <a:pt x="752191" y="49039"/>
                </a:lnTo>
                <a:lnTo>
                  <a:pt x="796179" y="36290"/>
                </a:lnTo>
                <a:lnTo>
                  <a:pt x="840920" y="25383"/>
                </a:lnTo>
                <a:lnTo>
                  <a:pt x="886373" y="16361"/>
                </a:lnTo>
                <a:lnTo>
                  <a:pt x="932493" y="9268"/>
                </a:lnTo>
                <a:lnTo>
                  <a:pt x="979236" y="4148"/>
                </a:lnTo>
                <a:lnTo>
                  <a:pt x="1026558" y="1044"/>
                </a:lnTo>
                <a:lnTo>
                  <a:pt x="1074417" y="0"/>
                </a:lnTo>
                <a:lnTo>
                  <a:pt x="1124570" y="1167"/>
                </a:lnTo>
                <a:lnTo>
                  <a:pt x="1174406" y="4648"/>
                </a:lnTo>
                <a:lnTo>
                  <a:pt x="1223854" y="10413"/>
                </a:lnTo>
                <a:lnTo>
                  <a:pt x="1272839" y="18432"/>
                </a:lnTo>
                <a:lnTo>
                  <a:pt x="1321288" y="28674"/>
                </a:lnTo>
                <a:lnTo>
                  <a:pt x="1369127" y="41108"/>
                </a:lnTo>
                <a:lnTo>
                  <a:pt x="1416284" y="55706"/>
                </a:lnTo>
                <a:lnTo>
                  <a:pt x="1462685" y="72435"/>
                </a:lnTo>
                <a:lnTo>
                  <a:pt x="1508256" y="91267"/>
                </a:lnTo>
                <a:lnTo>
                  <a:pt x="1552924" y="112170"/>
                </a:lnTo>
                <a:lnTo>
                  <a:pt x="1596616" y="135114"/>
                </a:lnTo>
                <a:lnTo>
                  <a:pt x="1639258" y="160069"/>
                </a:lnTo>
                <a:lnTo>
                  <a:pt x="1680777" y="187005"/>
                </a:lnTo>
                <a:lnTo>
                  <a:pt x="1721099" y="215891"/>
                </a:lnTo>
                <a:lnTo>
                  <a:pt x="1760151" y="246698"/>
                </a:lnTo>
                <a:lnTo>
                  <a:pt x="1797859" y="279394"/>
                </a:lnTo>
                <a:lnTo>
                  <a:pt x="1834151" y="313949"/>
                </a:lnTo>
                <a:lnTo>
                  <a:pt x="1868784" y="350151"/>
                </a:lnTo>
                <a:lnTo>
                  <a:pt x="1901554" y="387767"/>
                </a:lnTo>
                <a:lnTo>
                  <a:pt x="1932430" y="426724"/>
                </a:lnTo>
                <a:lnTo>
                  <a:pt x="1961382" y="466949"/>
                </a:lnTo>
                <a:lnTo>
                  <a:pt x="1988380" y="508369"/>
                </a:lnTo>
                <a:lnTo>
                  <a:pt x="2013393" y="550909"/>
                </a:lnTo>
                <a:lnTo>
                  <a:pt x="2036390" y="594497"/>
                </a:lnTo>
                <a:lnTo>
                  <a:pt x="2057342" y="639059"/>
                </a:lnTo>
                <a:lnTo>
                  <a:pt x="2076217" y="684522"/>
                </a:lnTo>
                <a:lnTo>
                  <a:pt x="2092986" y="730814"/>
                </a:lnTo>
                <a:lnTo>
                  <a:pt x="2107618" y="777859"/>
                </a:lnTo>
                <a:lnTo>
                  <a:pt x="2120082" y="825586"/>
                </a:lnTo>
                <a:lnTo>
                  <a:pt x="2130349" y="873921"/>
                </a:lnTo>
                <a:lnTo>
                  <a:pt x="2138386" y="922790"/>
                </a:lnTo>
                <a:lnTo>
                  <a:pt x="2144165" y="972121"/>
                </a:lnTo>
                <a:lnTo>
                  <a:pt x="2147655" y="1021839"/>
                </a:lnTo>
                <a:lnTo>
                  <a:pt x="2148825" y="1071872"/>
                </a:lnTo>
                <a:lnTo>
                  <a:pt x="2147778" y="1119617"/>
                </a:lnTo>
                <a:lnTo>
                  <a:pt x="2144667" y="1166828"/>
                </a:lnTo>
                <a:lnTo>
                  <a:pt x="2139535" y="1213460"/>
                </a:lnTo>
                <a:lnTo>
                  <a:pt x="2132425" y="1259470"/>
                </a:lnTo>
                <a:lnTo>
                  <a:pt x="2123382" y="1304814"/>
                </a:lnTo>
                <a:lnTo>
                  <a:pt x="2112449" y="1349450"/>
                </a:lnTo>
                <a:lnTo>
                  <a:pt x="2099670" y="1393332"/>
                </a:lnTo>
                <a:lnTo>
                  <a:pt x="2085089" y="1436419"/>
                </a:lnTo>
                <a:lnTo>
                  <a:pt x="2068748" y="1478666"/>
                </a:lnTo>
                <a:lnTo>
                  <a:pt x="2050693" y="1520030"/>
                </a:lnTo>
                <a:lnTo>
                  <a:pt x="2030966" y="1560466"/>
                </a:lnTo>
                <a:lnTo>
                  <a:pt x="2009611" y="1599933"/>
                </a:lnTo>
                <a:lnTo>
                  <a:pt x="1986671" y="1638385"/>
                </a:lnTo>
                <a:lnTo>
                  <a:pt x="1962192" y="1675779"/>
                </a:lnTo>
                <a:lnTo>
                  <a:pt x="1936215" y="1712073"/>
                </a:lnTo>
                <a:lnTo>
                  <a:pt x="1908786" y="1747221"/>
                </a:lnTo>
                <a:lnTo>
                  <a:pt x="1879946" y="1781182"/>
                </a:lnTo>
                <a:lnTo>
                  <a:pt x="1849741" y="1813910"/>
                </a:lnTo>
                <a:lnTo>
                  <a:pt x="1818214" y="1845363"/>
                </a:lnTo>
                <a:lnTo>
                  <a:pt x="1785408" y="1875497"/>
                </a:lnTo>
                <a:lnTo>
                  <a:pt x="1751368" y="1904269"/>
                </a:lnTo>
                <a:lnTo>
                  <a:pt x="1716136" y="1931634"/>
                </a:lnTo>
                <a:lnTo>
                  <a:pt x="1679757" y="1957549"/>
                </a:lnTo>
                <a:lnTo>
                  <a:pt x="1642274" y="1981972"/>
                </a:lnTo>
                <a:lnTo>
                  <a:pt x="1603731" y="2004857"/>
                </a:lnTo>
                <a:lnTo>
                  <a:pt x="1564171" y="2026162"/>
                </a:lnTo>
                <a:lnTo>
                  <a:pt x="1523639" y="2045843"/>
                </a:lnTo>
                <a:lnTo>
                  <a:pt x="1482177" y="2063856"/>
                </a:lnTo>
                <a:lnTo>
                  <a:pt x="1439830" y="2080158"/>
                </a:lnTo>
                <a:lnTo>
                  <a:pt x="1396641" y="2094706"/>
                </a:lnTo>
                <a:lnTo>
                  <a:pt x="1352654" y="2107455"/>
                </a:lnTo>
                <a:lnTo>
                  <a:pt x="1307913" y="2118362"/>
                </a:lnTo>
                <a:lnTo>
                  <a:pt x="1262461" y="2127384"/>
                </a:lnTo>
                <a:lnTo>
                  <a:pt x="1216341" y="2134477"/>
                </a:lnTo>
                <a:lnTo>
                  <a:pt x="1169599" y="2139597"/>
                </a:lnTo>
                <a:lnTo>
                  <a:pt x="1122276" y="2142701"/>
                </a:lnTo>
                <a:lnTo>
                  <a:pt x="1074417" y="2143745"/>
                </a:lnTo>
                <a:close/>
              </a:path>
            </a:pathLst>
          </a:custGeom>
          <a:solidFill>
            <a:srgbClr val="336E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10845" y="4643273"/>
            <a:ext cx="114681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1594" marR="5080" indent="-49530">
              <a:lnSpc>
                <a:spcPct val="100699"/>
              </a:lnSpc>
              <a:spcBef>
                <a:spcPts val="85"/>
              </a:spcBef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Widespread Broadband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063114" y="4052341"/>
            <a:ext cx="1784985" cy="1768475"/>
            <a:chOff x="5063114" y="4052341"/>
            <a:chExt cx="1784985" cy="1768475"/>
          </a:xfrm>
        </p:grpSpPr>
        <p:sp>
          <p:nvSpPr>
            <p:cNvPr id="11" name="object 11"/>
            <p:cNvSpPr/>
            <p:nvPr/>
          </p:nvSpPr>
          <p:spPr>
            <a:xfrm>
              <a:off x="5063114" y="4052341"/>
              <a:ext cx="1784985" cy="1768475"/>
            </a:xfrm>
            <a:custGeom>
              <a:avLst/>
              <a:gdLst/>
              <a:ahLst/>
              <a:cxnLst/>
              <a:rect l="l" t="t" r="r" b="b"/>
              <a:pathLst>
                <a:path w="1784984" h="1768475">
                  <a:moveTo>
                    <a:pt x="1784821" y="1767846"/>
                  </a:moveTo>
                  <a:lnTo>
                    <a:pt x="0" y="1767846"/>
                  </a:lnTo>
                  <a:lnTo>
                    <a:pt x="0" y="0"/>
                  </a:lnTo>
                  <a:lnTo>
                    <a:pt x="1784821" y="0"/>
                  </a:lnTo>
                  <a:lnTo>
                    <a:pt x="1784821" y="1767846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32789" y="4343291"/>
              <a:ext cx="1266190" cy="176530"/>
            </a:xfrm>
            <a:custGeom>
              <a:avLst/>
              <a:gdLst/>
              <a:ahLst/>
              <a:cxnLst/>
              <a:rect l="l" t="t" r="r" b="b"/>
              <a:pathLst>
                <a:path w="1266190" h="176529">
                  <a:moveTo>
                    <a:pt x="1265647" y="176274"/>
                  </a:moveTo>
                  <a:lnTo>
                    <a:pt x="0" y="176274"/>
                  </a:lnTo>
                  <a:lnTo>
                    <a:pt x="0" y="0"/>
                  </a:lnTo>
                  <a:lnTo>
                    <a:pt x="1265647" y="0"/>
                  </a:lnTo>
                  <a:lnTo>
                    <a:pt x="1265647" y="17627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5537" y="4401066"/>
              <a:ext cx="66624" cy="666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32781" y="4370273"/>
              <a:ext cx="592455" cy="125095"/>
            </a:xfrm>
            <a:custGeom>
              <a:avLst/>
              <a:gdLst/>
              <a:ahLst/>
              <a:cxnLst/>
              <a:rect l="l" t="t" r="r" b="b"/>
              <a:pathLst>
                <a:path w="592454" h="125095">
                  <a:moveTo>
                    <a:pt x="591604" y="92595"/>
                  </a:moveTo>
                  <a:lnTo>
                    <a:pt x="0" y="92595"/>
                  </a:lnTo>
                  <a:lnTo>
                    <a:pt x="0" y="124472"/>
                  </a:lnTo>
                  <a:lnTo>
                    <a:pt x="591604" y="124472"/>
                  </a:lnTo>
                  <a:lnTo>
                    <a:pt x="591604" y="92595"/>
                  </a:lnTo>
                  <a:close/>
                </a:path>
                <a:path w="592454" h="125095">
                  <a:moveTo>
                    <a:pt x="591604" y="0"/>
                  </a:moveTo>
                  <a:lnTo>
                    <a:pt x="0" y="0"/>
                  </a:lnTo>
                  <a:lnTo>
                    <a:pt x="0" y="31877"/>
                  </a:lnTo>
                  <a:lnTo>
                    <a:pt x="591604" y="31877"/>
                  </a:lnTo>
                  <a:lnTo>
                    <a:pt x="591604" y="0"/>
                  </a:lnTo>
                  <a:close/>
                </a:path>
                <a:path w="592454" h="125095">
                  <a:moveTo>
                    <a:pt x="592328" y="46304"/>
                  </a:moveTo>
                  <a:lnTo>
                    <a:pt x="723" y="46304"/>
                  </a:lnTo>
                  <a:lnTo>
                    <a:pt x="723" y="78168"/>
                  </a:lnTo>
                  <a:lnTo>
                    <a:pt x="592328" y="78168"/>
                  </a:lnTo>
                  <a:lnTo>
                    <a:pt x="592328" y="463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0114" y="4549340"/>
              <a:ext cx="1266190" cy="176530"/>
            </a:xfrm>
            <a:custGeom>
              <a:avLst/>
              <a:gdLst/>
              <a:ahLst/>
              <a:cxnLst/>
              <a:rect l="l" t="t" r="r" b="b"/>
              <a:pathLst>
                <a:path w="1266190" h="176529">
                  <a:moveTo>
                    <a:pt x="1265647" y="176274"/>
                  </a:moveTo>
                  <a:lnTo>
                    <a:pt x="0" y="176274"/>
                  </a:lnTo>
                  <a:lnTo>
                    <a:pt x="0" y="0"/>
                  </a:lnTo>
                  <a:lnTo>
                    <a:pt x="1265647" y="0"/>
                  </a:lnTo>
                  <a:lnTo>
                    <a:pt x="1265647" y="17627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2862" y="4607115"/>
              <a:ext cx="66624" cy="666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30114" y="4576317"/>
              <a:ext cx="592455" cy="125095"/>
            </a:xfrm>
            <a:custGeom>
              <a:avLst/>
              <a:gdLst/>
              <a:ahLst/>
              <a:cxnLst/>
              <a:rect l="l" t="t" r="r" b="b"/>
              <a:pathLst>
                <a:path w="592454" h="125095">
                  <a:moveTo>
                    <a:pt x="591591" y="92608"/>
                  </a:moveTo>
                  <a:lnTo>
                    <a:pt x="0" y="92608"/>
                  </a:lnTo>
                  <a:lnTo>
                    <a:pt x="0" y="124472"/>
                  </a:lnTo>
                  <a:lnTo>
                    <a:pt x="591591" y="124472"/>
                  </a:lnTo>
                  <a:lnTo>
                    <a:pt x="591591" y="92608"/>
                  </a:lnTo>
                  <a:close/>
                </a:path>
                <a:path w="592454" h="125095">
                  <a:moveTo>
                    <a:pt x="591591" y="0"/>
                  </a:moveTo>
                  <a:lnTo>
                    <a:pt x="0" y="0"/>
                  </a:lnTo>
                  <a:lnTo>
                    <a:pt x="0" y="31877"/>
                  </a:lnTo>
                  <a:lnTo>
                    <a:pt x="591591" y="31877"/>
                  </a:lnTo>
                  <a:lnTo>
                    <a:pt x="591591" y="0"/>
                  </a:lnTo>
                  <a:close/>
                </a:path>
                <a:path w="592454" h="125095">
                  <a:moveTo>
                    <a:pt x="592315" y="46304"/>
                  </a:moveTo>
                  <a:lnTo>
                    <a:pt x="723" y="46304"/>
                  </a:lnTo>
                  <a:lnTo>
                    <a:pt x="723" y="78181"/>
                  </a:lnTo>
                  <a:lnTo>
                    <a:pt x="592315" y="78181"/>
                  </a:lnTo>
                  <a:lnTo>
                    <a:pt x="592315" y="463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33489" y="4751840"/>
              <a:ext cx="1266190" cy="176530"/>
            </a:xfrm>
            <a:custGeom>
              <a:avLst/>
              <a:gdLst/>
              <a:ahLst/>
              <a:cxnLst/>
              <a:rect l="l" t="t" r="r" b="b"/>
              <a:pathLst>
                <a:path w="1266190" h="176529">
                  <a:moveTo>
                    <a:pt x="1265647" y="176249"/>
                  </a:moveTo>
                  <a:lnTo>
                    <a:pt x="0" y="176249"/>
                  </a:lnTo>
                  <a:lnTo>
                    <a:pt x="0" y="0"/>
                  </a:lnTo>
                  <a:lnTo>
                    <a:pt x="1265647" y="0"/>
                  </a:lnTo>
                  <a:lnTo>
                    <a:pt x="1265647" y="176249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6237" y="4809615"/>
              <a:ext cx="66624" cy="665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333479" y="4778819"/>
              <a:ext cx="592455" cy="124460"/>
            </a:xfrm>
            <a:custGeom>
              <a:avLst/>
              <a:gdLst/>
              <a:ahLst/>
              <a:cxnLst/>
              <a:rect l="l" t="t" r="r" b="b"/>
              <a:pathLst>
                <a:path w="592454" h="124460">
                  <a:moveTo>
                    <a:pt x="591629" y="92583"/>
                  </a:moveTo>
                  <a:lnTo>
                    <a:pt x="0" y="92583"/>
                  </a:lnTo>
                  <a:lnTo>
                    <a:pt x="0" y="124447"/>
                  </a:lnTo>
                  <a:lnTo>
                    <a:pt x="591629" y="124447"/>
                  </a:lnTo>
                  <a:lnTo>
                    <a:pt x="591629" y="92583"/>
                  </a:lnTo>
                  <a:close/>
                </a:path>
                <a:path w="592454" h="124460">
                  <a:moveTo>
                    <a:pt x="591629" y="0"/>
                  </a:moveTo>
                  <a:lnTo>
                    <a:pt x="0" y="0"/>
                  </a:lnTo>
                  <a:lnTo>
                    <a:pt x="0" y="31877"/>
                  </a:lnTo>
                  <a:lnTo>
                    <a:pt x="591629" y="31877"/>
                  </a:lnTo>
                  <a:lnTo>
                    <a:pt x="591629" y="0"/>
                  </a:lnTo>
                  <a:close/>
                </a:path>
                <a:path w="592454" h="124460">
                  <a:moveTo>
                    <a:pt x="592353" y="46278"/>
                  </a:moveTo>
                  <a:lnTo>
                    <a:pt x="723" y="46278"/>
                  </a:lnTo>
                  <a:lnTo>
                    <a:pt x="723" y="78155"/>
                  </a:lnTo>
                  <a:lnTo>
                    <a:pt x="592353" y="78155"/>
                  </a:lnTo>
                  <a:lnTo>
                    <a:pt x="592353" y="4627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3514" y="4955739"/>
              <a:ext cx="1266190" cy="176530"/>
            </a:xfrm>
            <a:custGeom>
              <a:avLst/>
              <a:gdLst/>
              <a:ahLst/>
              <a:cxnLst/>
              <a:rect l="l" t="t" r="r" b="b"/>
              <a:pathLst>
                <a:path w="1266190" h="176529">
                  <a:moveTo>
                    <a:pt x="1265622" y="176274"/>
                  </a:moveTo>
                  <a:lnTo>
                    <a:pt x="0" y="176274"/>
                  </a:lnTo>
                  <a:lnTo>
                    <a:pt x="0" y="0"/>
                  </a:lnTo>
                  <a:lnTo>
                    <a:pt x="1265622" y="0"/>
                  </a:lnTo>
                  <a:lnTo>
                    <a:pt x="1265622" y="17627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6237" y="5013515"/>
              <a:ext cx="66624" cy="6662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333479" y="4982717"/>
              <a:ext cx="592455" cy="125095"/>
            </a:xfrm>
            <a:custGeom>
              <a:avLst/>
              <a:gdLst/>
              <a:ahLst/>
              <a:cxnLst/>
              <a:rect l="l" t="t" r="r" b="b"/>
              <a:pathLst>
                <a:path w="592454" h="125095">
                  <a:moveTo>
                    <a:pt x="591629" y="92608"/>
                  </a:moveTo>
                  <a:lnTo>
                    <a:pt x="0" y="92608"/>
                  </a:lnTo>
                  <a:lnTo>
                    <a:pt x="0" y="124472"/>
                  </a:lnTo>
                  <a:lnTo>
                    <a:pt x="591629" y="124472"/>
                  </a:lnTo>
                  <a:lnTo>
                    <a:pt x="591629" y="92608"/>
                  </a:lnTo>
                  <a:close/>
                </a:path>
                <a:path w="592454" h="125095">
                  <a:moveTo>
                    <a:pt x="591629" y="0"/>
                  </a:moveTo>
                  <a:lnTo>
                    <a:pt x="0" y="0"/>
                  </a:lnTo>
                  <a:lnTo>
                    <a:pt x="0" y="31877"/>
                  </a:lnTo>
                  <a:lnTo>
                    <a:pt x="591629" y="31877"/>
                  </a:lnTo>
                  <a:lnTo>
                    <a:pt x="591629" y="0"/>
                  </a:lnTo>
                  <a:close/>
                </a:path>
                <a:path w="592454" h="125095">
                  <a:moveTo>
                    <a:pt x="592353" y="46304"/>
                  </a:moveTo>
                  <a:lnTo>
                    <a:pt x="723" y="46304"/>
                  </a:lnTo>
                  <a:lnTo>
                    <a:pt x="723" y="78181"/>
                  </a:lnTo>
                  <a:lnTo>
                    <a:pt x="592353" y="78181"/>
                  </a:lnTo>
                  <a:lnTo>
                    <a:pt x="592353" y="463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33489" y="5159664"/>
              <a:ext cx="1266190" cy="176530"/>
            </a:xfrm>
            <a:custGeom>
              <a:avLst/>
              <a:gdLst/>
              <a:ahLst/>
              <a:cxnLst/>
              <a:rect l="l" t="t" r="r" b="b"/>
              <a:pathLst>
                <a:path w="1266190" h="176529">
                  <a:moveTo>
                    <a:pt x="1265647" y="176249"/>
                  </a:moveTo>
                  <a:lnTo>
                    <a:pt x="0" y="176249"/>
                  </a:lnTo>
                  <a:lnTo>
                    <a:pt x="0" y="0"/>
                  </a:lnTo>
                  <a:lnTo>
                    <a:pt x="1265647" y="0"/>
                  </a:lnTo>
                  <a:lnTo>
                    <a:pt x="1265647" y="176249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66237" y="5217439"/>
              <a:ext cx="66624" cy="666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333479" y="5186641"/>
              <a:ext cx="592455" cy="124460"/>
            </a:xfrm>
            <a:custGeom>
              <a:avLst/>
              <a:gdLst/>
              <a:ahLst/>
              <a:cxnLst/>
              <a:rect l="l" t="t" r="r" b="b"/>
              <a:pathLst>
                <a:path w="592454" h="124460">
                  <a:moveTo>
                    <a:pt x="591629" y="92583"/>
                  </a:moveTo>
                  <a:lnTo>
                    <a:pt x="0" y="92583"/>
                  </a:lnTo>
                  <a:lnTo>
                    <a:pt x="0" y="124460"/>
                  </a:lnTo>
                  <a:lnTo>
                    <a:pt x="591629" y="124460"/>
                  </a:lnTo>
                  <a:lnTo>
                    <a:pt x="591629" y="92583"/>
                  </a:lnTo>
                  <a:close/>
                </a:path>
                <a:path w="592454" h="124460">
                  <a:moveTo>
                    <a:pt x="591629" y="0"/>
                  </a:moveTo>
                  <a:lnTo>
                    <a:pt x="0" y="0"/>
                  </a:lnTo>
                  <a:lnTo>
                    <a:pt x="0" y="31877"/>
                  </a:lnTo>
                  <a:lnTo>
                    <a:pt x="591629" y="31877"/>
                  </a:lnTo>
                  <a:lnTo>
                    <a:pt x="591629" y="0"/>
                  </a:lnTo>
                  <a:close/>
                </a:path>
                <a:path w="592454" h="124460">
                  <a:moveTo>
                    <a:pt x="592353" y="46304"/>
                  </a:moveTo>
                  <a:lnTo>
                    <a:pt x="723" y="46304"/>
                  </a:lnTo>
                  <a:lnTo>
                    <a:pt x="723" y="78181"/>
                  </a:lnTo>
                  <a:lnTo>
                    <a:pt x="592353" y="78181"/>
                  </a:lnTo>
                  <a:lnTo>
                    <a:pt x="592353" y="463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3514" y="5363589"/>
              <a:ext cx="1266190" cy="176530"/>
            </a:xfrm>
            <a:custGeom>
              <a:avLst/>
              <a:gdLst/>
              <a:ahLst/>
              <a:cxnLst/>
              <a:rect l="l" t="t" r="r" b="b"/>
              <a:pathLst>
                <a:path w="1266190" h="176529">
                  <a:moveTo>
                    <a:pt x="1265622" y="176249"/>
                  </a:moveTo>
                  <a:lnTo>
                    <a:pt x="0" y="176249"/>
                  </a:lnTo>
                  <a:lnTo>
                    <a:pt x="0" y="0"/>
                  </a:lnTo>
                  <a:lnTo>
                    <a:pt x="1265622" y="0"/>
                  </a:lnTo>
                  <a:lnTo>
                    <a:pt x="1265622" y="176249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6237" y="5421364"/>
              <a:ext cx="66624" cy="6659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333479" y="5390540"/>
              <a:ext cx="592455" cy="125095"/>
            </a:xfrm>
            <a:custGeom>
              <a:avLst/>
              <a:gdLst/>
              <a:ahLst/>
              <a:cxnLst/>
              <a:rect l="l" t="t" r="r" b="b"/>
              <a:pathLst>
                <a:path w="592454" h="125095">
                  <a:moveTo>
                    <a:pt x="591629" y="92608"/>
                  </a:moveTo>
                  <a:lnTo>
                    <a:pt x="0" y="92608"/>
                  </a:lnTo>
                  <a:lnTo>
                    <a:pt x="0" y="124485"/>
                  </a:lnTo>
                  <a:lnTo>
                    <a:pt x="591629" y="124485"/>
                  </a:lnTo>
                  <a:lnTo>
                    <a:pt x="591629" y="92608"/>
                  </a:lnTo>
                  <a:close/>
                </a:path>
                <a:path w="592454" h="125095">
                  <a:moveTo>
                    <a:pt x="591629" y="0"/>
                  </a:moveTo>
                  <a:lnTo>
                    <a:pt x="0" y="0"/>
                  </a:lnTo>
                  <a:lnTo>
                    <a:pt x="0" y="31877"/>
                  </a:lnTo>
                  <a:lnTo>
                    <a:pt x="591629" y="31877"/>
                  </a:lnTo>
                  <a:lnTo>
                    <a:pt x="591629" y="0"/>
                  </a:lnTo>
                  <a:close/>
                </a:path>
                <a:path w="592454" h="125095">
                  <a:moveTo>
                    <a:pt x="592353" y="46304"/>
                  </a:moveTo>
                  <a:lnTo>
                    <a:pt x="723" y="46304"/>
                  </a:lnTo>
                  <a:lnTo>
                    <a:pt x="723" y="78181"/>
                  </a:lnTo>
                  <a:lnTo>
                    <a:pt x="592353" y="78181"/>
                  </a:lnTo>
                  <a:lnTo>
                    <a:pt x="592353" y="463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91410" y="4474466"/>
            <a:ext cx="1231265" cy="919480"/>
          </a:xfrm>
          <a:prstGeom prst="rect">
            <a:avLst/>
          </a:prstGeom>
          <a:solidFill>
            <a:srgbClr val="0070BF"/>
          </a:solidFill>
        </p:spPr>
        <p:txBody>
          <a:bodyPr vert="horz" wrap="square" lIns="0" tIns="142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25"/>
              </a:spcBef>
            </a:pPr>
            <a:endParaRPr sz="1400">
              <a:latin typeface="Times New Roman"/>
              <a:cs typeface="Times New Roman"/>
            </a:endParaRPr>
          </a:p>
          <a:p>
            <a:pPr marL="123189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Virtualization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197685" y="4474466"/>
            <a:ext cx="294640" cy="919480"/>
          </a:xfrm>
          <a:custGeom>
            <a:avLst/>
            <a:gdLst/>
            <a:ahLst/>
            <a:cxnLst/>
            <a:rect l="l" t="t" r="r" b="b"/>
            <a:pathLst>
              <a:path w="294640" h="919479">
                <a:moveTo>
                  <a:pt x="0" y="918998"/>
                </a:moveTo>
                <a:lnTo>
                  <a:pt x="0" y="0"/>
                </a:lnTo>
                <a:lnTo>
                  <a:pt x="294474" y="129349"/>
                </a:lnTo>
                <a:lnTo>
                  <a:pt x="294474" y="789648"/>
                </a:lnTo>
                <a:lnTo>
                  <a:pt x="0" y="918998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22332" y="4474466"/>
            <a:ext cx="294640" cy="919480"/>
          </a:xfrm>
          <a:custGeom>
            <a:avLst/>
            <a:gdLst/>
            <a:ahLst/>
            <a:cxnLst/>
            <a:rect l="l" t="t" r="r" b="b"/>
            <a:pathLst>
              <a:path w="294640" h="919479">
                <a:moveTo>
                  <a:pt x="294474" y="918998"/>
                </a:moveTo>
                <a:lnTo>
                  <a:pt x="0" y="789623"/>
                </a:lnTo>
                <a:lnTo>
                  <a:pt x="0" y="129349"/>
                </a:lnTo>
                <a:lnTo>
                  <a:pt x="294474" y="0"/>
                </a:lnTo>
                <a:lnTo>
                  <a:pt x="294474" y="918998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366556" y="3981217"/>
            <a:ext cx="2123440" cy="1920239"/>
          </a:xfrm>
          <a:prstGeom prst="rect">
            <a:avLst/>
          </a:prstGeom>
          <a:solidFill>
            <a:srgbClr val="336EBF"/>
          </a:solidFill>
        </p:spPr>
        <p:txBody>
          <a:bodyPr vert="horz" wrap="square" lIns="0" tIns="952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0"/>
              </a:spcBef>
            </a:pPr>
            <a:endParaRPr sz="1600">
              <a:latin typeface="Times New Roman"/>
              <a:cs typeface="Times New Roman"/>
            </a:endParaRPr>
          </a:p>
          <a:p>
            <a:pPr marL="289560" marR="282575" indent="445770">
              <a:lnSpc>
                <a:spcPct val="101600"/>
              </a:lnSpc>
            </a:pP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Hadoop</a:t>
            </a:r>
            <a:r>
              <a:rPr sz="1600" spc="5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Linux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Web</a:t>
            </a:r>
            <a:r>
              <a:rPr sz="16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Hosting</a:t>
            </a:r>
            <a:endParaRPr sz="1600">
              <a:latin typeface="Carlito"/>
              <a:cs typeface="Carlito"/>
            </a:endParaRPr>
          </a:p>
          <a:p>
            <a:pPr marL="193040" marR="187960" algn="ctr">
              <a:lnSpc>
                <a:spcPct val="101600"/>
              </a:lnSpc>
            </a:pP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Microsoft</a:t>
            </a:r>
            <a:r>
              <a:rPr sz="16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SQL</a:t>
            </a:r>
            <a:r>
              <a:rPr sz="16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Server Windows</a:t>
            </a:r>
            <a:endParaRPr sz="160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Windows</a:t>
            </a:r>
            <a:r>
              <a:rPr sz="16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Server</a:t>
            </a:r>
            <a:endParaRPr sz="1600">
              <a:latin typeface="Carlito"/>
              <a:cs typeface="Carlito"/>
            </a:endParaRPr>
          </a:p>
        </p:txBody>
      </p:sp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00"/>
              </a:spcBef>
            </a:pPr>
            <a:r>
              <a:rPr dirty="0"/>
              <a:t>Five</a:t>
            </a:r>
            <a:r>
              <a:rPr spc="-80" dirty="0"/>
              <a:t> </a:t>
            </a:r>
            <a:r>
              <a:rPr dirty="0"/>
              <a:t>Key</a:t>
            </a:r>
            <a:r>
              <a:rPr spc="-80" dirty="0"/>
              <a:t> </a:t>
            </a:r>
            <a:r>
              <a:rPr dirty="0"/>
              <a:t>Cloud</a:t>
            </a:r>
            <a:r>
              <a:rPr spc="-80" dirty="0"/>
              <a:t> </a:t>
            </a:r>
            <a:r>
              <a:rPr spc="-10" dirty="0"/>
              <a:t>Characteristics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509659"/>
            <a:ext cx="12192000" cy="2757805"/>
          </a:xfrm>
          <a:custGeom>
            <a:avLst/>
            <a:gdLst/>
            <a:ahLst/>
            <a:cxnLst/>
            <a:rect l="l" t="t" r="r" b="b"/>
            <a:pathLst>
              <a:path w="12192000" h="2757804">
                <a:moveTo>
                  <a:pt x="12191975" y="2757531"/>
                </a:moveTo>
                <a:lnTo>
                  <a:pt x="0" y="2757531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2757531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7061" y="1699964"/>
            <a:ext cx="6130925" cy="23012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27990" indent="-415290">
              <a:lnSpc>
                <a:spcPct val="100000"/>
              </a:lnSpc>
              <a:spcBef>
                <a:spcPts val="30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spc="-25" dirty="0">
                <a:solidFill>
                  <a:srgbClr val="FFFFFF"/>
                </a:solidFill>
                <a:latin typeface="Carlito"/>
                <a:cs typeface="Carlito"/>
              </a:rPr>
              <a:t>On-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demand</a:t>
            </a:r>
            <a:r>
              <a:rPr sz="2800" spc="-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self-service</a:t>
            </a:r>
            <a:endParaRPr sz="2800">
              <a:latin typeface="Carlito"/>
              <a:cs typeface="Carlito"/>
            </a:endParaRPr>
          </a:p>
          <a:p>
            <a:pPr marL="427990" indent="-415290">
              <a:lnSpc>
                <a:spcPct val="100000"/>
              </a:lnSpc>
              <a:spcBef>
                <a:spcPts val="20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Ubiquitous</a:t>
            </a:r>
            <a:r>
              <a:rPr sz="28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network</a:t>
            </a:r>
            <a:r>
              <a:rPr sz="28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access</a:t>
            </a:r>
            <a:endParaRPr sz="2800">
              <a:latin typeface="Carlito"/>
              <a:cs typeface="Carlito"/>
            </a:endParaRPr>
          </a:p>
          <a:p>
            <a:pPr marL="427990" indent="-415290">
              <a:lnSpc>
                <a:spcPct val="100000"/>
              </a:lnSpc>
              <a:spcBef>
                <a:spcPts val="24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Location-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independent</a:t>
            </a:r>
            <a:r>
              <a:rPr sz="28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resource</a:t>
            </a:r>
            <a:r>
              <a:rPr sz="2800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pooling</a:t>
            </a:r>
            <a:endParaRPr sz="2800">
              <a:latin typeface="Carlito"/>
              <a:cs typeface="Carlito"/>
            </a:endParaRPr>
          </a:p>
          <a:p>
            <a:pPr marL="427990" indent="-415290">
              <a:lnSpc>
                <a:spcPct val="100000"/>
              </a:lnSpc>
              <a:spcBef>
                <a:spcPts val="24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Rapid</a:t>
            </a:r>
            <a:r>
              <a:rPr sz="2800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elasticity</a:t>
            </a:r>
            <a:endParaRPr sz="2800">
              <a:latin typeface="Carlito"/>
              <a:cs typeface="Carlito"/>
            </a:endParaRPr>
          </a:p>
          <a:p>
            <a:pPr marL="427990" indent="-415290">
              <a:lnSpc>
                <a:spcPct val="100000"/>
              </a:lnSpc>
              <a:spcBef>
                <a:spcPts val="240"/>
              </a:spcBef>
              <a:buSzPct val="78571"/>
              <a:buFont typeface="Arial"/>
              <a:buChar char="▪"/>
              <a:tabLst>
                <a:tab pos="427990" algn="l"/>
              </a:tabLst>
            </a:pP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Pay</a:t>
            </a:r>
            <a:r>
              <a:rPr sz="280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for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what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dirty="0">
                <a:solidFill>
                  <a:srgbClr val="FFFFFF"/>
                </a:solidFill>
                <a:latin typeface="Carlito"/>
                <a:cs typeface="Carlito"/>
              </a:rPr>
              <a:t>you</a:t>
            </a: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arlito"/>
                <a:cs typeface="Carlito"/>
              </a:rPr>
              <a:t>use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5918" y="1981200"/>
            <a:ext cx="10198735" cy="3907154"/>
          </a:xfrm>
          <a:custGeom>
            <a:avLst/>
            <a:gdLst/>
            <a:ahLst/>
            <a:cxnLst/>
            <a:rect l="l" t="t" r="r" b="b"/>
            <a:pathLst>
              <a:path w="10198735" h="3907154">
                <a:moveTo>
                  <a:pt x="9318581" y="3906732"/>
                </a:moveTo>
                <a:lnTo>
                  <a:pt x="9290053" y="3906645"/>
                </a:lnTo>
                <a:lnTo>
                  <a:pt x="9262559" y="3906038"/>
                </a:lnTo>
                <a:lnTo>
                  <a:pt x="9236101" y="3904390"/>
                </a:lnTo>
                <a:lnTo>
                  <a:pt x="9210681" y="3901182"/>
                </a:lnTo>
                <a:lnTo>
                  <a:pt x="1640721" y="3901182"/>
                </a:lnTo>
                <a:lnTo>
                  <a:pt x="1613267" y="3904390"/>
                </a:lnTo>
                <a:lnTo>
                  <a:pt x="1585037" y="3906038"/>
                </a:lnTo>
                <a:lnTo>
                  <a:pt x="1556287" y="3906645"/>
                </a:lnTo>
                <a:lnTo>
                  <a:pt x="1527271" y="3906732"/>
                </a:lnTo>
                <a:lnTo>
                  <a:pt x="1478768" y="3905980"/>
                </a:lnTo>
                <a:lnTo>
                  <a:pt x="1430644" y="3903740"/>
                </a:lnTo>
                <a:lnTo>
                  <a:pt x="1382920" y="3900035"/>
                </a:lnTo>
                <a:lnTo>
                  <a:pt x="1335619" y="3894885"/>
                </a:lnTo>
                <a:lnTo>
                  <a:pt x="1288763" y="3888313"/>
                </a:lnTo>
                <a:lnTo>
                  <a:pt x="1242375" y="3880341"/>
                </a:lnTo>
                <a:lnTo>
                  <a:pt x="1196477" y="3870991"/>
                </a:lnTo>
                <a:lnTo>
                  <a:pt x="1151091" y="3860286"/>
                </a:lnTo>
                <a:lnTo>
                  <a:pt x="1106240" y="3848247"/>
                </a:lnTo>
                <a:lnTo>
                  <a:pt x="1061946" y="3834896"/>
                </a:lnTo>
                <a:lnTo>
                  <a:pt x="1018230" y="3820256"/>
                </a:lnTo>
                <a:lnTo>
                  <a:pt x="975117" y="3804348"/>
                </a:lnTo>
                <a:lnTo>
                  <a:pt x="932627" y="3787195"/>
                </a:lnTo>
                <a:lnTo>
                  <a:pt x="890784" y="3768818"/>
                </a:lnTo>
                <a:lnTo>
                  <a:pt x="849609" y="3749241"/>
                </a:lnTo>
                <a:lnTo>
                  <a:pt x="809124" y="3728484"/>
                </a:lnTo>
                <a:lnTo>
                  <a:pt x="769353" y="3706570"/>
                </a:lnTo>
                <a:lnTo>
                  <a:pt x="730317" y="3683522"/>
                </a:lnTo>
                <a:lnTo>
                  <a:pt x="692039" y="3659360"/>
                </a:lnTo>
                <a:lnTo>
                  <a:pt x="654541" y="3634108"/>
                </a:lnTo>
                <a:lnTo>
                  <a:pt x="617846" y="3607787"/>
                </a:lnTo>
                <a:lnTo>
                  <a:pt x="581975" y="3580419"/>
                </a:lnTo>
                <a:lnTo>
                  <a:pt x="546951" y="3552027"/>
                </a:lnTo>
                <a:lnTo>
                  <a:pt x="512796" y="3522632"/>
                </a:lnTo>
                <a:lnTo>
                  <a:pt x="479533" y="3492257"/>
                </a:lnTo>
                <a:lnTo>
                  <a:pt x="447184" y="3460923"/>
                </a:lnTo>
                <a:lnTo>
                  <a:pt x="415771" y="3428653"/>
                </a:lnTo>
                <a:lnTo>
                  <a:pt x="385317" y="3395469"/>
                </a:lnTo>
                <a:lnTo>
                  <a:pt x="355843" y="3361393"/>
                </a:lnTo>
                <a:lnTo>
                  <a:pt x="327373" y="3326447"/>
                </a:lnTo>
                <a:lnTo>
                  <a:pt x="299928" y="3290653"/>
                </a:lnTo>
                <a:lnTo>
                  <a:pt x="273531" y="3254033"/>
                </a:lnTo>
                <a:lnTo>
                  <a:pt x="248205" y="3216610"/>
                </a:lnTo>
                <a:lnTo>
                  <a:pt x="223970" y="3178405"/>
                </a:lnTo>
                <a:lnTo>
                  <a:pt x="200851" y="3139440"/>
                </a:lnTo>
                <a:lnTo>
                  <a:pt x="178868" y="3099737"/>
                </a:lnTo>
                <a:lnTo>
                  <a:pt x="158045" y="3059319"/>
                </a:lnTo>
                <a:lnTo>
                  <a:pt x="138404" y="3018208"/>
                </a:lnTo>
                <a:lnTo>
                  <a:pt x="119966" y="2976425"/>
                </a:lnTo>
                <a:lnTo>
                  <a:pt x="102755" y="2933993"/>
                </a:lnTo>
                <a:lnTo>
                  <a:pt x="86793" y="2890935"/>
                </a:lnTo>
                <a:lnTo>
                  <a:pt x="72102" y="2847271"/>
                </a:lnTo>
                <a:lnTo>
                  <a:pt x="58703" y="2803024"/>
                </a:lnTo>
                <a:lnTo>
                  <a:pt x="46621" y="2758216"/>
                </a:lnTo>
                <a:lnTo>
                  <a:pt x="35876" y="2712869"/>
                </a:lnTo>
                <a:lnTo>
                  <a:pt x="26492" y="2667006"/>
                </a:lnTo>
                <a:lnTo>
                  <a:pt x="18490" y="2620647"/>
                </a:lnTo>
                <a:lnTo>
                  <a:pt x="11893" y="2573817"/>
                </a:lnTo>
                <a:lnTo>
                  <a:pt x="6723" y="2526536"/>
                </a:lnTo>
                <a:lnTo>
                  <a:pt x="3003" y="2478826"/>
                </a:lnTo>
                <a:lnTo>
                  <a:pt x="754" y="2430710"/>
                </a:lnTo>
                <a:lnTo>
                  <a:pt x="0" y="2382210"/>
                </a:lnTo>
                <a:lnTo>
                  <a:pt x="754" y="2334021"/>
                </a:lnTo>
                <a:lnTo>
                  <a:pt x="3003" y="2286198"/>
                </a:lnTo>
                <a:lnTo>
                  <a:pt x="6723" y="2238764"/>
                </a:lnTo>
                <a:lnTo>
                  <a:pt x="11893" y="2191741"/>
                </a:lnTo>
                <a:lnTo>
                  <a:pt x="18490" y="2145152"/>
                </a:lnTo>
                <a:lnTo>
                  <a:pt x="26492" y="2099020"/>
                </a:lnTo>
                <a:lnTo>
                  <a:pt x="35876" y="2053367"/>
                </a:lnTo>
                <a:lnTo>
                  <a:pt x="46621" y="2008215"/>
                </a:lnTo>
                <a:lnTo>
                  <a:pt x="58703" y="1963588"/>
                </a:lnTo>
                <a:lnTo>
                  <a:pt x="72102" y="1919507"/>
                </a:lnTo>
                <a:lnTo>
                  <a:pt x="86793" y="1875996"/>
                </a:lnTo>
                <a:lnTo>
                  <a:pt x="102755" y="1833076"/>
                </a:lnTo>
                <a:lnTo>
                  <a:pt x="119966" y="1790771"/>
                </a:lnTo>
                <a:lnTo>
                  <a:pt x="138404" y="1749103"/>
                </a:lnTo>
                <a:lnTo>
                  <a:pt x="158045" y="1708094"/>
                </a:lnTo>
                <a:lnTo>
                  <a:pt x="178868" y="1667767"/>
                </a:lnTo>
                <a:lnTo>
                  <a:pt x="200851" y="1628145"/>
                </a:lnTo>
                <a:lnTo>
                  <a:pt x="223970" y="1589250"/>
                </a:lnTo>
                <a:lnTo>
                  <a:pt x="248205" y="1551104"/>
                </a:lnTo>
                <a:lnTo>
                  <a:pt x="273531" y="1513731"/>
                </a:lnTo>
                <a:lnTo>
                  <a:pt x="299928" y="1477152"/>
                </a:lnTo>
                <a:lnTo>
                  <a:pt x="327373" y="1441391"/>
                </a:lnTo>
                <a:lnTo>
                  <a:pt x="355843" y="1406470"/>
                </a:lnTo>
                <a:lnTo>
                  <a:pt x="385317" y="1372411"/>
                </a:lnTo>
                <a:lnTo>
                  <a:pt x="415771" y="1339238"/>
                </a:lnTo>
                <a:lnTo>
                  <a:pt x="447184" y="1306971"/>
                </a:lnTo>
                <a:lnTo>
                  <a:pt x="479533" y="1275635"/>
                </a:lnTo>
                <a:lnTo>
                  <a:pt x="512796" y="1245252"/>
                </a:lnTo>
                <a:lnTo>
                  <a:pt x="546951" y="1215843"/>
                </a:lnTo>
                <a:lnTo>
                  <a:pt x="581975" y="1187433"/>
                </a:lnTo>
                <a:lnTo>
                  <a:pt x="617846" y="1160042"/>
                </a:lnTo>
                <a:lnTo>
                  <a:pt x="654541" y="1133695"/>
                </a:lnTo>
                <a:lnTo>
                  <a:pt x="692039" y="1108413"/>
                </a:lnTo>
                <a:lnTo>
                  <a:pt x="730317" y="1084219"/>
                </a:lnTo>
                <a:lnTo>
                  <a:pt x="769353" y="1061135"/>
                </a:lnTo>
                <a:lnTo>
                  <a:pt x="809124" y="1039185"/>
                </a:lnTo>
                <a:lnTo>
                  <a:pt x="849609" y="1018390"/>
                </a:lnTo>
                <a:lnTo>
                  <a:pt x="890784" y="998773"/>
                </a:lnTo>
                <a:lnTo>
                  <a:pt x="932627" y="980357"/>
                </a:lnTo>
                <a:lnTo>
                  <a:pt x="975117" y="963164"/>
                </a:lnTo>
                <a:lnTo>
                  <a:pt x="1018230" y="947217"/>
                </a:lnTo>
                <a:lnTo>
                  <a:pt x="1061946" y="932539"/>
                </a:lnTo>
                <a:lnTo>
                  <a:pt x="1106240" y="919151"/>
                </a:lnTo>
                <a:lnTo>
                  <a:pt x="1151091" y="907077"/>
                </a:lnTo>
                <a:lnTo>
                  <a:pt x="1196477" y="896339"/>
                </a:lnTo>
                <a:lnTo>
                  <a:pt x="1242375" y="886959"/>
                </a:lnTo>
                <a:lnTo>
                  <a:pt x="1288763" y="878961"/>
                </a:lnTo>
                <a:lnTo>
                  <a:pt x="1335619" y="872366"/>
                </a:lnTo>
                <a:lnTo>
                  <a:pt x="1382920" y="867198"/>
                </a:lnTo>
                <a:lnTo>
                  <a:pt x="1430644" y="863478"/>
                </a:lnTo>
                <a:lnTo>
                  <a:pt x="1478768" y="861230"/>
                </a:lnTo>
                <a:lnTo>
                  <a:pt x="1527271" y="860475"/>
                </a:lnTo>
                <a:lnTo>
                  <a:pt x="1577496" y="861253"/>
                </a:lnTo>
                <a:lnTo>
                  <a:pt x="1626619" y="863588"/>
                </a:lnTo>
                <a:lnTo>
                  <a:pt x="1674835" y="867479"/>
                </a:lnTo>
                <a:lnTo>
                  <a:pt x="1722337" y="872926"/>
                </a:lnTo>
                <a:lnTo>
                  <a:pt x="1769320" y="879929"/>
                </a:lnTo>
                <a:lnTo>
                  <a:pt x="1815977" y="888489"/>
                </a:lnTo>
                <a:lnTo>
                  <a:pt x="1862505" y="898605"/>
                </a:lnTo>
                <a:lnTo>
                  <a:pt x="1909096" y="910278"/>
                </a:lnTo>
                <a:lnTo>
                  <a:pt x="1933485" y="869541"/>
                </a:lnTo>
                <a:lnTo>
                  <a:pt x="1958913" y="829516"/>
                </a:lnTo>
                <a:lnTo>
                  <a:pt x="1985361" y="790220"/>
                </a:lnTo>
                <a:lnTo>
                  <a:pt x="2012810" y="751668"/>
                </a:lnTo>
                <a:lnTo>
                  <a:pt x="2041240" y="713878"/>
                </a:lnTo>
                <a:lnTo>
                  <a:pt x="2070633" y="676866"/>
                </a:lnTo>
                <a:lnTo>
                  <a:pt x="2100969" y="640649"/>
                </a:lnTo>
                <a:lnTo>
                  <a:pt x="2132229" y="605243"/>
                </a:lnTo>
                <a:lnTo>
                  <a:pt x="2164394" y="570666"/>
                </a:lnTo>
                <a:lnTo>
                  <a:pt x="2197444" y="536932"/>
                </a:lnTo>
                <a:lnTo>
                  <a:pt x="2231361" y="504060"/>
                </a:lnTo>
                <a:lnTo>
                  <a:pt x="2266125" y="472066"/>
                </a:lnTo>
                <a:lnTo>
                  <a:pt x="2301717" y="440966"/>
                </a:lnTo>
                <a:lnTo>
                  <a:pt x="2338118" y="410777"/>
                </a:lnTo>
                <a:lnTo>
                  <a:pt x="2375308" y="381516"/>
                </a:lnTo>
                <a:lnTo>
                  <a:pt x="2413269" y="353199"/>
                </a:lnTo>
                <a:lnTo>
                  <a:pt x="2451981" y="325842"/>
                </a:lnTo>
                <a:lnTo>
                  <a:pt x="2491425" y="299463"/>
                </a:lnTo>
                <a:lnTo>
                  <a:pt x="2531581" y="274078"/>
                </a:lnTo>
                <a:lnTo>
                  <a:pt x="2572432" y="249704"/>
                </a:lnTo>
                <a:lnTo>
                  <a:pt x="2613957" y="226356"/>
                </a:lnTo>
                <a:lnTo>
                  <a:pt x="2656137" y="204053"/>
                </a:lnTo>
                <a:lnTo>
                  <a:pt x="2698953" y="182810"/>
                </a:lnTo>
                <a:lnTo>
                  <a:pt x="2742386" y="162643"/>
                </a:lnTo>
                <a:lnTo>
                  <a:pt x="2786417" y="143571"/>
                </a:lnTo>
                <a:lnTo>
                  <a:pt x="2831026" y="125608"/>
                </a:lnTo>
                <a:lnTo>
                  <a:pt x="2876194" y="108773"/>
                </a:lnTo>
                <a:lnTo>
                  <a:pt x="2921903" y="93080"/>
                </a:lnTo>
                <a:lnTo>
                  <a:pt x="2968132" y="78548"/>
                </a:lnTo>
                <a:lnTo>
                  <a:pt x="3014863" y="65192"/>
                </a:lnTo>
                <a:lnTo>
                  <a:pt x="3062076" y="53030"/>
                </a:lnTo>
                <a:lnTo>
                  <a:pt x="3109753" y="42077"/>
                </a:lnTo>
                <a:lnTo>
                  <a:pt x="3157874" y="32351"/>
                </a:lnTo>
                <a:lnTo>
                  <a:pt x="3206420" y="23867"/>
                </a:lnTo>
                <a:lnTo>
                  <a:pt x="3255371" y="16644"/>
                </a:lnTo>
                <a:lnTo>
                  <a:pt x="3304709" y="10696"/>
                </a:lnTo>
                <a:lnTo>
                  <a:pt x="3354415" y="6041"/>
                </a:lnTo>
                <a:lnTo>
                  <a:pt x="3404468" y="2696"/>
                </a:lnTo>
                <a:lnTo>
                  <a:pt x="3454850" y="676"/>
                </a:lnTo>
                <a:lnTo>
                  <a:pt x="3505542" y="0"/>
                </a:lnTo>
                <a:lnTo>
                  <a:pt x="3558113" y="705"/>
                </a:lnTo>
                <a:lnTo>
                  <a:pt x="3610319" y="2811"/>
                </a:lnTo>
                <a:lnTo>
                  <a:pt x="3662140" y="6301"/>
                </a:lnTo>
                <a:lnTo>
                  <a:pt x="3713558" y="11159"/>
                </a:lnTo>
                <a:lnTo>
                  <a:pt x="3764552" y="17369"/>
                </a:lnTo>
                <a:lnTo>
                  <a:pt x="3815103" y="24915"/>
                </a:lnTo>
                <a:lnTo>
                  <a:pt x="3865191" y="33780"/>
                </a:lnTo>
                <a:lnTo>
                  <a:pt x="3914798" y="43949"/>
                </a:lnTo>
                <a:lnTo>
                  <a:pt x="3963903" y="55405"/>
                </a:lnTo>
                <a:lnTo>
                  <a:pt x="4012487" y="68132"/>
                </a:lnTo>
                <a:lnTo>
                  <a:pt x="4060531" y="82113"/>
                </a:lnTo>
                <a:lnTo>
                  <a:pt x="4108014" y="97334"/>
                </a:lnTo>
                <a:lnTo>
                  <a:pt x="4154919" y="113777"/>
                </a:lnTo>
                <a:lnTo>
                  <a:pt x="4201224" y="131427"/>
                </a:lnTo>
                <a:lnTo>
                  <a:pt x="4246911" y="150267"/>
                </a:lnTo>
                <a:lnTo>
                  <a:pt x="4291959" y="170281"/>
                </a:lnTo>
                <a:lnTo>
                  <a:pt x="4336350" y="191453"/>
                </a:lnTo>
                <a:lnTo>
                  <a:pt x="4380065" y="213766"/>
                </a:lnTo>
                <a:lnTo>
                  <a:pt x="4423082" y="237206"/>
                </a:lnTo>
                <a:lnTo>
                  <a:pt x="4465384" y="261755"/>
                </a:lnTo>
                <a:lnTo>
                  <a:pt x="4506950" y="287397"/>
                </a:lnTo>
                <a:lnTo>
                  <a:pt x="4547761" y="314116"/>
                </a:lnTo>
                <a:lnTo>
                  <a:pt x="4587797" y="341896"/>
                </a:lnTo>
                <a:lnTo>
                  <a:pt x="4627040" y="370722"/>
                </a:lnTo>
                <a:lnTo>
                  <a:pt x="4665469" y="400575"/>
                </a:lnTo>
                <a:lnTo>
                  <a:pt x="4703064" y="431442"/>
                </a:lnTo>
                <a:lnTo>
                  <a:pt x="4739808" y="463305"/>
                </a:lnTo>
                <a:lnTo>
                  <a:pt x="4775679" y="496147"/>
                </a:lnTo>
                <a:lnTo>
                  <a:pt x="4810658" y="529954"/>
                </a:lnTo>
                <a:lnTo>
                  <a:pt x="4844727" y="564709"/>
                </a:lnTo>
                <a:lnTo>
                  <a:pt x="4877865" y="600396"/>
                </a:lnTo>
                <a:lnTo>
                  <a:pt x="4921947" y="577788"/>
                </a:lnTo>
                <a:lnTo>
                  <a:pt x="4966757" y="556475"/>
                </a:lnTo>
                <a:lnTo>
                  <a:pt x="5012286" y="536494"/>
                </a:lnTo>
                <a:lnTo>
                  <a:pt x="5058523" y="517885"/>
                </a:lnTo>
                <a:lnTo>
                  <a:pt x="5105459" y="500688"/>
                </a:lnTo>
                <a:lnTo>
                  <a:pt x="5153083" y="484943"/>
                </a:lnTo>
                <a:lnTo>
                  <a:pt x="5201386" y="470687"/>
                </a:lnTo>
                <a:lnTo>
                  <a:pt x="5250358" y="457961"/>
                </a:lnTo>
                <a:lnTo>
                  <a:pt x="5299989" y="446804"/>
                </a:lnTo>
                <a:lnTo>
                  <a:pt x="5350269" y="437256"/>
                </a:lnTo>
                <a:lnTo>
                  <a:pt x="5401189" y="429356"/>
                </a:lnTo>
                <a:lnTo>
                  <a:pt x="5452738" y="423142"/>
                </a:lnTo>
                <a:lnTo>
                  <a:pt x="5504907" y="418655"/>
                </a:lnTo>
                <a:lnTo>
                  <a:pt x="5557685" y="415934"/>
                </a:lnTo>
                <a:lnTo>
                  <a:pt x="5611063" y="415019"/>
                </a:lnTo>
                <a:lnTo>
                  <a:pt x="5661681" y="415839"/>
                </a:lnTo>
                <a:lnTo>
                  <a:pt x="5711889" y="418283"/>
                </a:lnTo>
                <a:lnTo>
                  <a:pt x="5761660" y="422324"/>
                </a:lnTo>
                <a:lnTo>
                  <a:pt x="5810968" y="427938"/>
                </a:lnTo>
                <a:lnTo>
                  <a:pt x="5859788" y="435097"/>
                </a:lnTo>
                <a:lnTo>
                  <a:pt x="5908094" y="443777"/>
                </a:lnTo>
                <a:lnTo>
                  <a:pt x="5955860" y="453951"/>
                </a:lnTo>
                <a:lnTo>
                  <a:pt x="6003061" y="465594"/>
                </a:lnTo>
                <a:lnTo>
                  <a:pt x="6049670" y="478681"/>
                </a:lnTo>
                <a:lnTo>
                  <a:pt x="6095662" y="493184"/>
                </a:lnTo>
                <a:lnTo>
                  <a:pt x="6141012" y="509079"/>
                </a:lnTo>
                <a:lnTo>
                  <a:pt x="6185693" y="526340"/>
                </a:lnTo>
                <a:lnTo>
                  <a:pt x="6229679" y="544941"/>
                </a:lnTo>
                <a:lnTo>
                  <a:pt x="6272945" y="564855"/>
                </a:lnTo>
                <a:lnTo>
                  <a:pt x="6315465" y="586059"/>
                </a:lnTo>
                <a:lnTo>
                  <a:pt x="6357213" y="608524"/>
                </a:lnTo>
                <a:lnTo>
                  <a:pt x="6398164" y="632227"/>
                </a:lnTo>
                <a:lnTo>
                  <a:pt x="6438292" y="657141"/>
                </a:lnTo>
                <a:lnTo>
                  <a:pt x="6477570" y="683240"/>
                </a:lnTo>
                <a:lnTo>
                  <a:pt x="6515974" y="710499"/>
                </a:lnTo>
                <a:lnTo>
                  <a:pt x="6553477" y="738891"/>
                </a:lnTo>
                <a:lnTo>
                  <a:pt x="6590053" y="768391"/>
                </a:lnTo>
                <a:lnTo>
                  <a:pt x="6625678" y="798974"/>
                </a:lnTo>
                <a:lnTo>
                  <a:pt x="6660324" y="830613"/>
                </a:lnTo>
                <a:lnTo>
                  <a:pt x="6693967" y="863282"/>
                </a:lnTo>
                <a:lnTo>
                  <a:pt x="6726580" y="896957"/>
                </a:lnTo>
                <a:lnTo>
                  <a:pt x="6758138" y="931611"/>
                </a:lnTo>
                <a:lnTo>
                  <a:pt x="6788615" y="967218"/>
                </a:lnTo>
                <a:lnTo>
                  <a:pt x="6817985" y="1003752"/>
                </a:lnTo>
                <a:lnTo>
                  <a:pt x="6846222" y="1041189"/>
                </a:lnTo>
                <a:lnTo>
                  <a:pt x="6873301" y="1079501"/>
                </a:lnTo>
                <a:lnTo>
                  <a:pt x="6899196" y="1118664"/>
                </a:lnTo>
                <a:lnTo>
                  <a:pt x="6923881" y="1158651"/>
                </a:lnTo>
                <a:lnTo>
                  <a:pt x="6947330" y="1199437"/>
                </a:lnTo>
                <a:lnTo>
                  <a:pt x="6969518" y="1240995"/>
                </a:lnTo>
                <a:lnTo>
                  <a:pt x="6990419" y="1283301"/>
                </a:lnTo>
                <a:lnTo>
                  <a:pt x="7010006" y="1326329"/>
                </a:lnTo>
                <a:lnTo>
                  <a:pt x="7028255" y="1370052"/>
                </a:lnTo>
                <a:lnTo>
                  <a:pt x="7045139" y="1414444"/>
                </a:lnTo>
                <a:lnTo>
                  <a:pt x="7060633" y="1459481"/>
                </a:lnTo>
                <a:lnTo>
                  <a:pt x="7074710" y="1505136"/>
                </a:lnTo>
                <a:lnTo>
                  <a:pt x="7116285" y="1477494"/>
                </a:lnTo>
                <a:lnTo>
                  <a:pt x="7159156" y="1451520"/>
                </a:lnTo>
                <a:lnTo>
                  <a:pt x="7203261" y="1427277"/>
                </a:lnTo>
                <a:lnTo>
                  <a:pt x="7248541" y="1404824"/>
                </a:lnTo>
                <a:lnTo>
                  <a:pt x="7294934" y="1384221"/>
                </a:lnTo>
                <a:lnTo>
                  <a:pt x="7342380" y="1365530"/>
                </a:lnTo>
                <a:lnTo>
                  <a:pt x="7390819" y="1348812"/>
                </a:lnTo>
                <a:lnTo>
                  <a:pt x="7440189" y="1334126"/>
                </a:lnTo>
                <a:lnTo>
                  <a:pt x="7490431" y="1321533"/>
                </a:lnTo>
                <a:lnTo>
                  <a:pt x="7541483" y="1311094"/>
                </a:lnTo>
                <a:lnTo>
                  <a:pt x="7593285" y="1302869"/>
                </a:lnTo>
                <a:lnTo>
                  <a:pt x="7645776" y="1296919"/>
                </a:lnTo>
                <a:lnTo>
                  <a:pt x="7698896" y="1293305"/>
                </a:lnTo>
                <a:lnTo>
                  <a:pt x="7752584" y="1292087"/>
                </a:lnTo>
                <a:lnTo>
                  <a:pt x="7802360" y="1293110"/>
                </a:lnTo>
                <a:lnTo>
                  <a:pt x="7851581" y="1296152"/>
                </a:lnTo>
                <a:lnTo>
                  <a:pt x="7900208" y="1301172"/>
                </a:lnTo>
                <a:lnTo>
                  <a:pt x="7948202" y="1308129"/>
                </a:lnTo>
                <a:lnTo>
                  <a:pt x="7995523" y="1316981"/>
                </a:lnTo>
                <a:lnTo>
                  <a:pt x="8042131" y="1327688"/>
                </a:lnTo>
                <a:lnTo>
                  <a:pt x="8087988" y="1340209"/>
                </a:lnTo>
                <a:lnTo>
                  <a:pt x="8133053" y="1354503"/>
                </a:lnTo>
                <a:lnTo>
                  <a:pt x="8177286" y="1370528"/>
                </a:lnTo>
                <a:lnTo>
                  <a:pt x="8220650" y="1388243"/>
                </a:lnTo>
                <a:lnTo>
                  <a:pt x="8263104" y="1407608"/>
                </a:lnTo>
                <a:lnTo>
                  <a:pt x="8304608" y="1428582"/>
                </a:lnTo>
                <a:lnTo>
                  <a:pt x="8345123" y="1451123"/>
                </a:lnTo>
                <a:lnTo>
                  <a:pt x="8384610" y="1475190"/>
                </a:lnTo>
                <a:lnTo>
                  <a:pt x="8423029" y="1500742"/>
                </a:lnTo>
                <a:lnTo>
                  <a:pt x="8460340" y="1527739"/>
                </a:lnTo>
                <a:lnTo>
                  <a:pt x="8496505" y="1556139"/>
                </a:lnTo>
                <a:lnTo>
                  <a:pt x="8531483" y="1585901"/>
                </a:lnTo>
                <a:lnTo>
                  <a:pt x="8565236" y="1616984"/>
                </a:lnTo>
                <a:lnTo>
                  <a:pt x="8597723" y="1649347"/>
                </a:lnTo>
                <a:lnTo>
                  <a:pt x="8628905" y="1682949"/>
                </a:lnTo>
                <a:lnTo>
                  <a:pt x="8658743" y="1717749"/>
                </a:lnTo>
                <a:lnTo>
                  <a:pt x="8687197" y="1753706"/>
                </a:lnTo>
                <a:lnTo>
                  <a:pt x="8714228" y="1790779"/>
                </a:lnTo>
                <a:lnTo>
                  <a:pt x="8739795" y="1828926"/>
                </a:lnTo>
                <a:lnTo>
                  <a:pt x="8763861" y="1868108"/>
                </a:lnTo>
                <a:lnTo>
                  <a:pt x="8786385" y="1908282"/>
                </a:lnTo>
                <a:lnTo>
                  <a:pt x="8807327" y="1949407"/>
                </a:lnTo>
                <a:lnTo>
                  <a:pt x="8826649" y="1991443"/>
                </a:lnTo>
                <a:lnTo>
                  <a:pt x="8844311" y="2034349"/>
                </a:lnTo>
                <a:lnTo>
                  <a:pt x="8860272" y="2078084"/>
                </a:lnTo>
                <a:lnTo>
                  <a:pt x="8874495" y="2122605"/>
                </a:lnTo>
                <a:lnTo>
                  <a:pt x="8886938" y="2167874"/>
                </a:lnTo>
                <a:lnTo>
                  <a:pt x="8897564" y="2213847"/>
                </a:lnTo>
                <a:lnTo>
                  <a:pt x="8906332" y="2260485"/>
                </a:lnTo>
                <a:lnTo>
                  <a:pt x="8947616" y="2240305"/>
                </a:lnTo>
                <a:lnTo>
                  <a:pt x="8990243" y="2222243"/>
                </a:lnTo>
                <a:lnTo>
                  <a:pt x="9034122" y="2206367"/>
                </a:lnTo>
                <a:lnTo>
                  <a:pt x="9079161" y="2192747"/>
                </a:lnTo>
                <a:lnTo>
                  <a:pt x="9125270" y="2181450"/>
                </a:lnTo>
                <a:lnTo>
                  <a:pt x="9172357" y="2172544"/>
                </a:lnTo>
                <a:lnTo>
                  <a:pt x="9220332" y="2166099"/>
                </a:lnTo>
                <a:lnTo>
                  <a:pt x="9269103" y="2162181"/>
                </a:lnTo>
                <a:lnTo>
                  <a:pt x="9318581" y="2160860"/>
                </a:lnTo>
                <a:lnTo>
                  <a:pt x="9366694" y="2162141"/>
                </a:lnTo>
                <a:lnTo>
                  <a:pt x="9414149" y="2165939"/>
                </a:lnTo>
                <a:lnTo>
                  <a:pt x="9460877" y="2172191"/>
                </a:lnTo>
                <a:lnTo>
                  <a:pt x="9506810" y="2180831"/>
                </a:lnTo>
                <a:lnTo>
                  <a:pt x="9551879" y="2191796"/>
                </a:lnTo>
                <a:lnTo>
                  <a:pt x="9596017" y="2205020"/>
                </a:lnTo>
                <a:lnTo>
                  <a:pt x="9639156" y="2220440"/>
                </a:lnTo>
                <a:lnTo>
                  <a:pt x="9681226" y="2237990"/>
                </a:lnTo>
                <a:lnTo>
                  <a:pt x="9722160" y="2257606"/>
                </a:lnTo>
                <a:lnTo>
                  <a:pt x="9761889" y="2279223"/>
                </a:lnTo>
                <a:lnTo>
                  <a:pt x="9800346" y="2302777"/>
                </a:lnTo>
                <a:lnTo>
                  <a:pt x="9837461" y="2328203"/>
                </a:lnTo>
                <a:lnTo>
                  <a:pt x="9873168" y="2355437"/>
                </a:lnTo>
                <a:lnTo>
                  <a:pt x="9907396" y="2384414"/>
                </a:lnTo>
                <a:lnTo>
                  <a:pt x="9940079" y="2415069"/>
                </a:lnTo>
                <a:lnTo>
                  <a:pt x="9971149" y="2447338"/>
                </a:lnTo>
                <a:lnTo>
                  <a:pt x="10000535" y="2481157"/>
                </a:lnTo>
                <a:lnTo>
                  <a:pt x="10028172" y="2516460"/>
                </a:lnTo>
                <a:lnTo>
                  <a:pt x="10053989" y="2553184"/>
                </a:lnTo>
                <a:lnTo>
                  <a:pt x="10077920" y="2591263"/>
                </a:lnTo>
                <a:lnTo>
                  <a:pt x="10099895" y="2630633"/>
                </a:lnTo>
                <a:lnTo>
                  <a:pt x="10119847" y="2671230"/>
                </a:lnTo>
                <a:lnTo>
                  <a:pt x="10137708" y="2712989"/>
                </a:lnTo>
                <a:lnTo>
                  <a:pt x="10153408" y="2755845"/>
                </a:lnTo>
                <a:lnTo>
                  <a:pt x="10166880" y="2799733"/>
                </a:lnTo>
                <a:lnTo>
                  <a:pt x="10178056" y="2844590"/>
                </a:lnTo>
                <a:lnTo>
                  <a:pt x="10186867" y="2890351"/>
                </a:lnTo>
                <a:lnTo>
                  <a:pt x="10193245" y="2936950"/>
                </a:lnTo>
                <a:lnTo>
                  <a:pt x="10197121" y="2984324"/>
                </a:lnTo>
                <a:lnTo>
                  <a:pt x="10198429" y="3032408"/>
                </a:lnTo>
                <a:lnTo>
                  <a:pt x="10197121" y="3080504"/>
                </a:lnTo>
                <a:lnTo>
                  <a:pt x="10193245" y="3127906"/>
                </a:lnTo>
                <a:lnTo>
                  <a:pt x="10186867" y="3174550"/>
                </a:lnTo>
                <a:lnTo>
                  <a:pt x="10178056" y="3220369"/>
                </a:lnTo>
                <a:lnTo>
                  <a:pt x="10166880" y="3265298"/>
                </a:lnTo>
                <a:lnTo>
                  <a:pt x="10153408" y="3309270"/>
                </a:lnTo>
                <a:lnTo>
                  <a:pt x="10137708" y="3352221"/>
                </a:lnTo>
                <a:lnTo>
                  <a:pt x="10119847" y="3394084"/>
                </a:lnTo>
                <a:lnTo>
                  <a:pt x="10099895" y="3434794"/>
                </a:lnTo>
                <a:lnTo>
                  <a:pt x="10077920" y="3474284"/>
                </a:lnTo>
                <a:lnTo>
                  <a:pt x="10053989" y="3512490"/>
                </a:lnTo>
                <a:lnTo>
                  <a:pt x="10028172" y="3549344"/>
                </a:lnTo>
                <a:lnTo>
                  <a:pt x="10000535" y="3584782"/>
                </a:lnTo>
                <a:lnTo>
                  <a:pt x="9971149" y="3618737"/>
                </a:lnTo>
                <a:lnTo>
                  <a:pt x="9940079" y="3651145"/>
                </a:lnTo>
                <a:lnTo>
                  <a:pt x="9907396" y="3681938"/>
                </a:lnTo>
                <a:lnTo>
                  <a:pt x="9873168" y="3711051"/>
                </a:lnTo>
                <a:lnTo>
                  <a:pt x="9837461" y="3738419"/>
                </a:lnTo>
                <a:lnTo>
                  <a:pt x="9800346" y="3763976"/>
                </a:lnTo>
                <a:lnTo>
                  <a:pt x="9761889" y="3787655"/>
                </a:lnTo>
                <a:lnTo>
                  <a:pt x="9722160" y="3809391"/>
                </a:lnTo>
                <a:lnTo>
                  <a:pt x="9681226" y="3829119"/>
                </a:lnTo>
                <a:lnTo>
                  <a:pt x="9639156" y="3846772"/>
                </a:lnTo>
                <a:lnTo>
                  <a:pt x="9596017" y="3862285"/>
                </a:lnTo>
                <a:lnTo>
                  <a:pt x="9551879" y="3875592"/>
                </a:lnTo>
                <a:lnTo>
                  <a:pt x="9506810" y="3886627"/>
                </a:lnTo>
                <a:lnTo>
                  <a:pt x="9460877" y="3895324"/>
                </a:lnTo>
                <a:lnTo>
                  <a:pt x="9414149" y="3901618"/>
                </a:lnTo>
                <a:lnTo>
                  <a:pt x="9366694" y="3905442"/>
                </a:lnTo>
                <a:lnTo>
                  <a:pt x="9318581" y="3906732"/>
                </a:lnTo>
                <a:close/>
              </a:path>
            </a:pathLst>
          </a:custGeom>
          <a:solidFill>
            <a:srgbClr val="5B9A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0780" y="3588885"/>
            <a:ext cx="83102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solidFill>
                  <a:srgbClr val="FFFFFF"/>
                </a:solidFill>
                <a:latin typeface="Carlito"/>
                <a:cs typeface="Carlito"/>
              </a:rPr>
              <a:t>Types</a:t>
            </a:r>
            <a:r>
              <a:rPr sz="6000" b="1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6000" b="1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6000" b="1" spc="-1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6000" b="1" dirty="0">
                <a:solidFill>
                  <a:srgbClr val="FFFFFF"/>
                </a:solidFill>
                <a:latin typeface="Carlito"/>
                <a:cs typeface="Carlito"/>
              </a:rPr>
              <a:t>Cloud</a:t>
            </a:r>
            <a:r>
              <a:rPr sz="6000" b="1" spc="-1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6000" b="1" spc="-10" dirty="0">
                <a:solidFill>
                  <a:srgbClr val="FFFFFF"/>
                </a:solidFill>
                <a:latin typeface="Carlito"/>
                <a:cs typeface="Carlito"/>
              </a:rPr>
              <a:t>Computing</a:t>
            </a:r>
            <a:endParaRPr sz="60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441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9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Cloud</a:t>
            </a:r>
            <a:r>
              <a:rPr spc="-90" dirty="0"/>
              <a:t> </a:t>
            </a:r>
            <a:r>
              <a:rPr spc="-10" dirty="0"/>
              <a:t>Computing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397" y="1922201"/>
            <a:ext cx="9524980" cy="42547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872" y="3588885"/>
            <a:ext cx="63093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Deployment</a:t>
            </a:r>
            <a:r>
              <a:rPr sz="6000" spc="-100" dirty="0"/>
              <a:t> </a:t>
            </a:r>
            <a:r>
              <a:rPr sz="6000" spc="-10" dirty="0"/>
              <a:t>Models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6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Deployment</a:t>
            </a:r>
            <a:r>
              <a:rPr spc="-175" dirty="0"/>
              <a:t> </a:t>
            </a:r>
            <a:r>
              <a:rPr spc="-10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7018" y="1929893"/>
            <a:ext cx="8915382" cy="41427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Deployment</a:t>
            </a:r>
            <a:r>
              <a:rPr spc="-100" dirty="0"/>
              <a:t> </a:t>
            </a:r>
            <a:r>
              <a:rPr spc="-10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2653" y="1882803"/>
            <a:ext cx="8830922" cy="32182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Deployment</a:t>
            </a:r>
            <a:r>
              <a:rPr spc="-100" dirty="0"/>
              <a:t> </a:t>
            </a:r>
            <a:r>
              <a:rPr spc="-10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8325" y="1921386"/>
            <a:ext cx="8744835" cy="40291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5560">
              <a:lnSpc>
                <a:spcPct val="100000"/>
              </a:lnSpc>
              <a:spcBef>
                <a:spcPts val="100"/>
              </a:spcBef>
            </a:pPr>
            <a:r>
              <a:rPr dirty="0"/>
              <a:t>Public</a:t>
            </a:r>
            <a:r>
              <a:rPr spc="-140" dirty="0"/>
              <a:t> </a:t>
            </a:r>
            <a:r>
              <a:rPr spc="-10" dirty="0"/>
              <a:t>Cloud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396" y="1870071"/>
            <a:ext cx="8848707" cy="406814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1260">
              <a:lnSpc>
                <a:spcPct val="100000"/>
              </a:lnSpc>
              <a:spcBef>
                <a:spcPts val="100"/>
              </a:spcBef>
            </a:pPr>
            <a:r>
              <a:rPr dirty="0"/>
              <a:t>Private</a:t>
            </a:r>
            <a:r>
              <a:rPr spc="-165" dirty="0"/>
              <a:t> </a:t>
            </a:r>
            <a:r>
              <a:rPr spc="-10" dirty="0"/>
              <a:t>Cloud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396" y="2071488"/>
            <a:ext cx="8848707" cy="41054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4440">
              <a:lnSpc>
                <a:spcPct val="100000"/>
              </a:lnSpc>
              <a:spcBef>
                <a:spcPts val="100"/>
              </a:spcBef>
            </a:pPr>
            <a:r>
              <a:rPr dirty="0"/>
              <a:t>Hybrid</a:t>
            </a:r>
            <a:r>
              <a:rPr spc="-30" dirty="0"/>
              <a:t> </a:t>
            </a:r>
            <a:r>
              <a:rPr spc="-10" dirty="0"/>
              <a:t>Cloud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1041" y="1971880"/>
            <a:ext cx="8839182" cy="40588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872" y="3588885"/>
            <a:ext cx="47155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Service</a:t>
            </a:r>
            <a:r>
              <a:rPr sz="6000" spc="-210" dirty="0"/>
              <a:t> </a:t>
            </a:r>
            <a:r>
              <a:rPr sz="6000" spc="-10" dirty="0"/>
              <a:t>Models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195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Service</a:t>
            </a:r>
            <a:r>
              <a:rPr spc="-100" dirty="0"/>
              <a:t> </a:t>
            </a:r>
            <a:r>
              <a:rPr spc="-10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4521" y="1825621"/>
            <a:ext cx="8905857" cy="42080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1955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Service</a:t>
            </a:r>
            <a:r>
              <a:rPr spc="-100" dirty="0"/>
              <a:t> </a:t>
            </a:r>
            <a:r>
              <a:rPr spc="-10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0794" y="2131151"/>
            <a:ext cx="8229583" cy="40102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208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IaaS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374" y="228124"/>
            <a:ext cx="11108690" cy="5949315"/>
            <a:chOff x="26374" y="228124"/>
            <a:chExt cx="11108690" cy="59493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74" y="228124"/>
              <a:ext cx="1344374" cy="9758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1219" y="690573"/>
              <a:ext cx="9753580" cy="548638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699898"/>
            <a:ext cx="9753580" cy="54863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766773"/>
            <a:ext cx="9753580" cy="54101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836298"/>
            <a:ext cx="9753580" cy="534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836298"/>
            <a:ext cx="9753580" cy="534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833448"/>
            <a:ext cx="9753580" cy="534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836298"/>
            <a:ext cx="9753580" cy="534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833448"/>
            <a:ext cx="9753580" cy="534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219" y="836298"/>
            <a:ext cx="9753580" cy="534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1655" y="339133"/>
            <a:ext cx="6288405" cy="12960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177925" marR="5080" indent="-1165860">
              <a:lnSpc>
                <a:spcPts val="4720"/>
              </a:lnSpc>
              <a:spcBef>
                <a:spcPts val="720"/>
              </a:spcBef>
            </a:pPr>
            <a:r>
              <a:rPr dirty="0"/>
              <a:t>Essentials</a:t>
            </a:r>
            <a:r>
              <a:rPr spc="-210" dirty="0"/>
              <a:t> </a:t>
            </a:r>
            <a:r>
              <a:rPr spc="-10" dirty="0"/>
              <a:t>Characteristics</a:t>
            </a:r>
            <a:r>
              <a:rPr spc="-204" dirty="0"/>
              <a:t> </a:t>
            </a:r>
            <a:r>
              <a:rPr spc="-25" dirty="0"/>
              <a:t>of </a:t>
            </a:r>
            <a:r>
              <a:rPr dirty="0"/>
              <a:t>Cloud</a:t>
            </a:r>
            <a:r>
              <a:rPr spc="-130" dirty="0"/>
              <a:t> </a:t>
            </a:r>
            <a:r>
              <a:rPr spc="-10" dirty="0"/>
              <a:t>Computing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2954" y="2533716"/>
            <a:ext cx="8095573" cy="28971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9675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195" dirty="0"/>
              <a:t> </a:t>
            </a:r>
            <a:r>
              <a:rPr spc="-10" dirty="0"/>
              <a:t>Characteristics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13" y="1689556"/>
            <a:ext cx="7477759" cy="4244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0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Massive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Scale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9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Resilient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Computing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9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spc="-10" dirty="0">
                <a:latin typeface="Times New Roman"/>
                <a:cs typeface="Times New Roman"/>
              </a:rPr>
              <a:t>Homogeneity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9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Geographic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Distribution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9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spc="-10" dirty="0">
                <a:latin typeface="Times New Roman"/>
                <a:cs typeface="Times New Roman"/>
              </a:rPr>
              <a:t>Virtualization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9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Service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Orientation</a:t>
            </a:r>
            <a:endParaRPr sz="2400">
              <a:latin typeface="Times New Roman"/>
              <a:cs typeface="Times New Roman"/>
            </a:endParaRPr>
          </a:p>
          <a:p>
            <a:pPr marL="194310" indent="-181610">
              <a:lnSpc>
                <a:spcPct val="100000"/>
              </a:lnSpc>
              <a:spcBef>
                <a:spcPts val="945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Times New Roman"/>
                <a:cs typeface="Times New Roman"/>
              </a:rPr>
              <a:t>Low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Software</a:t>
            </a:r>
            <a:endParaRPr sz="2400">
              <a:latin typeface="Times New Roman"/>
              <a:cs typeface="Times New Roman"/>
            </a:endParaRPr>
          </a:p>
          <a:p>
            <a:pPr marL="193675" marR="5080" indent="-181610">
              <a:lnSpc>
                <a:spcPts val="2620"/>
              </a:lnSpc>
              <a:spcBef>
                <a:spcPts val="1245"/>
              </a:spcBef>
              <a:buFont typeface="Arial"/>
              <a:buChar char="•"/>
              <a:tabLst>
                <a:tab pos="195580" algn="l"/>
              </a:tabLst>
            </a:pP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Cloud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Programming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Paradigms: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MapReduce/Hadoop, 	</a:t>
            </a:r>
            <a:r>
              <a:rPr sz="2400" spc="-20" dirty="0">
                <a:latin typeface="Times New Roman"/>
                <a:cs typeface="Times New Roman"/>
              </a:rPr>
              <a:t>NoSQL/Cassandra/MongoDB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others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0183" y="347720"/>
            <a:ext cx="7239833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Typical</a:t>
            </a:r>
            <a:r>
              <a:rPr spc="-204" dirty="0"/>
              <a:t> </a:t>
            </a:r>
            <a:r>
              <a:rPr dirty="0"/>
              <a:t>Computing</a:t>
            </a:r>
            <a:r>
              <a:rPr spc="-20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758" y="1319832"/>
            <a:ext cx="3075305" cy="8718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325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workloads</a:t>
            </a:r>
            <a:endParaRPr sz="2800">
              <a:latin typeface="Times New Roman"/>
              <a:cs typeface="Times New Roman"/>
            </a:endParaRPr>
          </a:p>
          <a:p>
            <a:pPr marL="645160" lvl="1" indent="-182880">
              <a:lnSpc>
                <a:spcPct val="100000"/>
              </a:lnSpc>
              <a:spcBef>
                <a:spcPts val="195"/>
              </a:spcBef>
              <a:buFont typeface="Arial"/>
              <a:buChar char="▪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Batch </a:t>
            </a:r>
            <a:r>
              <a:rPr sz="2400" spc="-20" dirty="0">
                <a:latin typeface="Times New Roman"/>
                <a:cs typeface="Times New Roman"/>
              </a:rPr>
              <a:t>jobs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758" y="2761504"/>
            <a:ext cx="2621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Wasted </a:t>
            </a:r>
            <a:r>
              <a:rPr sz="2800" spc="-10" dirty="0">
                <a:latin typeface="Times New Roman"/>
                <a:cs typeface="Times New Roman"/>
              </a:rPr>
              <a:t>Capacity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758" y="3790203"/>
            <a:ext cx="53003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market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0" dirty="0">
                <a:latin typeface="Times New Roman"/>
                <a:cs typeface="Times New Roman"/>
              </a:rPr>
              <a:t> cumbersome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02461" y="2430747"/>
            <a:ext cx="4977765" cy="3502660"/>
            <a:chOff x="6802461" y="2430747"/>
            <a:chExt cx="4977765" cy="3502660"/>
          </a:xfrm>
        </p:grpSpPr>
        <p:sp>
          <p:nvSpPr>
            <p:cNvPr id="7" name="object 7"/>
            <p:cNvSpPr/>
            <p:nvPr/>
          </p:nvSpPr>
          <p:spPr>
            <a:xfrm>
              <a:off x="6857111" y="2558719"/>
              <a:ext cx="0" cy="3358515"/>
            </a:xfrm>
            <a:custGeom>
              <a:avLst/>
              <a:gdLst/>
              <a:ahLst/>
              <a:cxnLst/>
              <a:rect l="l" t="t" r="r" b="b"/>
              <a:pathLst>
                <a:path h="3358515">
                  <a:moveTo>
                    <a:pt x="0" y="33580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2461" y="2430747"/>
              <a:ext cx="109299" cy="140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57111" y="5874738"/>
              <a:ext cx="4795520" cy="3810"/>
            </a:xfrm>
            <a:custGeom>
              <a:avLst/>
              <a:gdLst/>
              <a:ahLst/>
              <a:cxnLst/>
              <a:rect l="l" t="t" r="r" b="b"/>
              <a:pathLst>
                <a:path w="4795520" h="3810">
                  <a:moveTo>
                    <a:pt x="0" y="0"/>
                  </a:moveTo>
                  <a:lnTo>
                    <a:pt x="4795115" y="354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9476" y="5823638"/>
              <a:ext cx="140699" cy="1093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429814" y="3326306"/>
            <a:ext cx="381000" cy="1355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spc="-10" dirty="0">
                <a:latin typeface="Carlito"/>
                <a:cs typeface="Carlito"/>
              </a:rPr>
              <a:t>Compute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44410" y="2525844"/>
            <a:ext cx="4841240" cy="3364229"/>
            <a:chOff x="6844410" y="2525844"/>
            <a:chExt cx="4841240" cy="3364229"/>
          </a:xfrm>
        </p:grpSpPr>
        <p:sp>
          <p:nvSpPr>
            <p:cNvPr id="13" name="object 13"/>
            <p:cNvSpPr/>
            <p:nvPr/>
          </p:nvSpPr>
          <p:spPr>
            <a:xfrm>
              <a:off x="6857110" y="4590540"/>
              <a:ext cx="1448435" cy="232410"/>
            </a:xfrm>
            <a:custGeom>
              <a:avLst/>
              <a:gdLst/>
              <a:ahLst/>
              <a:cxnLst/>
              <a:rect l="l" t="t" r="r" b="b"/>
              <a:pathLst>
                <a:path w="1448434" h="232410">
                  <a:moveTo>
                    <a:pt x="0" y="232174"/>
                  </a:moveTo>
                  <a:lnTo>
                    <a:pt x="1448022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5808" y="4536415"/>
              <a:ext cx="145849" cy="1082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034104" y="4514340"/>
              <a:ext cx="1525905" cy="308610"/>
            </a:xfrm>
            <a:custGeom>
              <a:avLst/>
              <a:gdLst/>
              <a:ahLst/>
              <a:cxnLst/>
              <a:rect l="l" t="t" r="r" b="b"/>
              <a:pathLst>
                <a:path w="1525904" h="308610">
                  <a:moveTo>
                    <a:pt x="0" y="308374"/>
                  </a:moveTo>
                  <a:lnTo>
                    <a:pt x="1525396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8501" y="4460515"/>
              <a:ext cx="146674" cy="1076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487907" y="2535369"/>
              <a:ext cx="1550035" cy="3345179"/>
            </a:xfrm>
            <a:custGeom>
              <a:avLst/>
              <a:gdLst/>
              <a:ahLst/>
              <a:cxnLst/>
              <a:rect l="l" t="t" r="r" b="b"/>
              <a:pathLst>
                <a:path w="1550034" h="3345179">
                  <a:moveTo>
                    <a:pt x="1547296" y="3344868"/>
                  </a:moveTo>
                  <a:lnTo>
                    <a:pt x="1549746" y="0"/>
                  </a:lnTo>
                </a:path>
                <a:path w="1550034" h="3345179">
                  <a:moveTo>
                    <a:pt x="0" y="3344868"/>
                  </a:moveTo>
                  <a:lnTo>
                    <a:pt x="2474" y="0"/>
                  </a:lnTo>
                </a:path>
              </a:pathLst>
            </a:custGeom>
            <a:ln w="190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84179" y="3211907"/>
            <a:ext cx="967105" cy="59372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47955" marR="5080" indent="-135890">
              <a:lnSpc>
                <a:spcPts val="2070"/>
              </a:lnSpc>
              <a:spcBef>
                <a:spcPts val="440"/>
              </a:spcBef>
            </a:pPr>
            <a:r>
              <a:rPr sz="2000" spc="-10" dirty="0">
                <a:latin typeface="Carlito"/>
                <a:cs typeface="Carlito"/>
              </a:rPr>
              <a:t>Inactivity Period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49136" y="1607102"/>
            <a:ext cx="19608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Arial"/>
                <a:cs typeface="Arial"/>
              </a:rPr>
              <a:t>On</a:t>
            </a:r>
            <a:r>
              <a:rPr sz="3200" spc="-20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and</a:t>
            </a:r>
            <a:r>
              <a:rPr sz="3200" spc="-195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Off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21" y="29190"/>
            <a:ext cx="1371597" cy="137159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577346" y="6005869"/>
            <a:ext cx="730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i="1" spc="-20" dirty="0">
                <a:latin typeface="Carlito"/>
                <a:cs typeface="Carlito"/>
              </a:rPr>
              <a:t>Time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930">
              <a:lnSpc>
                <a:spcPct val="100000"/>
              </a:lnSpc>
              <a:spcBef>
                <a:spcPts val="100"/>
              </a:spcBef>
            </a:pPr>
            <a:r>
              <a:rPr dirty="0"/>
              <a:t>Typical</a:t>
            </a:r>
            <a:r>
              <a:rPr spc="-204" dirty="0"/>
              <a:t> </a:t>
            </a:r>
            <a:r>
              <a:rPr dirty="0"/>
              <a:t>Computing</a:t>
            </a:r>
            <a:r>
              <a:rPr spc="-20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3157" y="1802663"/>
            <a:ext cx="4603115" cy="378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Rapidly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growing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company</a:t>
            </a:r>
            <a:endParaRPr sz="2800">
              <a:latin typeface="Times New Roman"/>
              <a:cs typeface="Times New Roman"/>
            </a:endParaRPr>
          </a:p>
          <a:p>
            <a:pPr marL="187960" marR="5080" indent="-175895">
              <a:lnSpc>
                <a:spcPts val="3050"/>
              </a:lnSpc>
              <a:spcBef>
                <a:spcPts val="2875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Major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challenge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dept.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keep up with </a:t>
            </a:r>
            <a:r>
              <a:rPr sz="2800" spc="-10" dirty="0">
                <a:latin typeface="Times New Roman"/>
                <a:cs typeface="Times New Roman"/>
              </a:rPr>
              <a:t>growth</a:t>
            </a:r>
            <a:endParaRPr sz="2800">
              <a:latin typeface="Times New Roman"/>
              <a:cs typeface="Times New Roman"/>
            </a:endParaRPr>
          </a:p>
          <a:p>
            <a:pPr marL="187960" marR="822960" indent="-175895">
              <a:lnSpc>
                <a:spcPts val="3050"/>
              </a:lnSpc>
              <a:spcBef>
                <a:spcPts val="2300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Potential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business 	opportunity</a:t>
            </a:r>
            <a:endParaRPr sz="2800">
              <a:latin typeface="Times New Roman"/>
              <a:cs typeface="Times New Roman"/>
            </a:endParaRPr>
          </a:p>
          <a:p>
            <a:pPr marL="187960" marR="657860" indent="-175895">
              <a:lnSpc>
                <a:spcPts val="3050"/>
              </a:lnSpc>
              <a:spcBef>
                <a:spcPts val="2825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Potential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service 	problems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02461" y="2430747"/>
            <a:ext cx="4977765" cy="3502660"/>
            <a:chOff x="6802461" y="2430747"/>
            <a:chExt cx="4977765" cy="3502660"/>
          </a:xfrm>
        </p:grpSpPr>
        <p:sp>
          <p:nvSpPr>
            <p:cNvPr id="5" name="object 5"/>
            <p:cNvSpPr/>
            <p:nvPr/>
          </p:nvSpPr>
          <p:spPr>
            <a:xfrm>
              <a:off x="6857111" y="2558719"/>
              <a:ext cx="0" cy="3358515"/>
            </a:xfrm>
            <a:custGeom>
              <a:avLst/>
              <a:gdLst/>
              <a:ahLst/>
              <a:cxnLst/>
              <a:rect l="l" t="t" r="r" b="b"/>
              <a:pathLst>
                <a:path h="3358515">
                  <a:moveTo>
                    <a:pt x="0" y="33580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2461" y="2430747"/>
              <a:ext cx="109299" cy="1406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57111" y="5874738"/>
              <a:ext cx="4795520" cy="3810"/>
            </a:xfrm>
            <a:custGeom>
              <a:avLst/>
              <a:gdLst/>
              <a:ahLst/>
              <a:cxnLst/>
              <a:rect l="l" t="t" r="r" b="b"/>
              <a:pathLst>
                <a:path w="4795520" h="3810">
                  <a:moveTo>
                    <a:pt x="0" y="0"/>
                  </a:moveTo>
                  <a:lnTo>
                    <a:pt x="4795115" y="354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9476" y="5823638"/>
              <a:ext cx="140699" cy="1093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429814" y="3326306"/>
            <a:ext cx="381000" cy="1355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spc="-10" dirty="0">
                <a:latin typeface="Carlito"/>
                <a:cs typeface="Carlito"/>
              </a:rPr>
              <a:t>Compute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6136" y="1449663"/>
            <a:ext cx="24574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0" dirty="0">
                <a:latin typeface="Arial"/>
                <a:cs typeface="Arial"/>
              </a:rPr>
              <a:t>Rapid</a:t>
            </a:r>
            <a:r>
              <a:rPr sz="3200" spc="-114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Growth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57110" y="2583119"/>
            <a:ext cx="4500880" cy="3259454"/>
          </a:xfrm>
          <a:custGeom>
            <a:avLst/>
            <a:gdLst/>
            <a:ahLst/>
            <a:cxnLst/>
            <a:rect l="l" t="t" r="r" b="b"/>
            <a:pathLst>
              <a:path w="4500880" h="3259454">
                <a:moveTo>
                  <a:pt x="0" y="3258893"/>
                </a:moveTo>
                <a:lnTo>
                  <a:pt x="54295" y="3256435"/>
                </a:lnTo>
                <a:lnTo>
                  <a:pt x="108010" y="3253792"/>
                </a:lnTo>
                <a:lnTo>
                  <a:pt x="161160" y="3250945"/>
                </a:lnTo>
                <a:lnTo>
                  <a:pt x="213763" y="3247876"/>
                </a:lnTo>
                <a:lnTo>
                  <a:pt x="265836" y="3244566"/>
                </a:lnTo>
                <a:lnTo>
                  <a:pt x="317396" y="3240995"/>
                </a:lnTo>
                <a:lnTo>
                  <a:pt x="368462" y="3237145"/>
                </a:lnTo>
                <a:lnTo>
                  <a:pt x="419049" y="3232997"/>
                </a:lnTo>
                <a:lnTo>
                  <a:pt x="469175" y="3228531"/>
                </a:lnTo>
                <a:lnTo>
                  <a:pt x="518857" y="3223730"/>
                </a:lnTo>
                <a:lnTo>
                  <a:pt x="568113" y="3218573"/>
                </a:lnTo>
                <a:lnTo>
                  <a:pt x="616959" y="3213041"/>
                </a:lnTo>
                <a:lnTo>
                  <a:pt x="665414" y="3207117"/>
                </a:lnTo>
                <a:lnTo>
                  <a:pt x="713494" y="3200780"/>
                </a:lnTo>
                <a:lnTo>
                  <a:pt x="761216" y="3194013"/>
                </a:lnTo>
                <a:lnTo>
                  <a:pt x="808597" y="3186795"/>
                </a:lnTo>
                <a:lnTo>
                  <a:pt x="855655" y="3179108"/>
                </a:lnTo>
                <a:lnTo>
                  <a:pt x="902408" y="3170933"/>
                </a:lnTo>
                <a:lnTo>
                  <a:pt x="948871" y="3162252"/>
                </a:lnTo>
                <a:lnTo>
                  <a:pt x="995063" y="3153044"/>
                </a:lnTo>
                <a:lnTo>
                  <a:pt x="1041001" y="3143292"/>
                </a:lnTo>
                <a:lnTo>
                  <a:pt x="1086701" y="3132975"/>
                </a:lnTo>
                <a:lnTo>
                  <a:pt x="1132182" y="3122076"/>
                </a:lnTo>
                <a:lnTo>
                  <a:pt x="1177460" y="3110575"/>
                </a:lnTo>
                <a:lnTo>
                  <a:pt x="1222552" y="3098454"/>
                </a:lnTo>
                <a:lnTo>
                  <a:pt x="1267477" y="3085692"/>
                </a:lnTo>
                <a:lnTo>
                  <a:pt x="1312250" y="3072272"/>
                </a:lnTo>
                <a:lnTo>
                  <a:pt x="1356889" y="3058174"/>
                </a:lnTo>
                <a:lnTo>
                  <a:pt x="1401412" y="3043380"/>
                </a:lnTo>
                <a:lnTo>
                  <a:pt x="1445835" y="3027870"/>
                </a:lnTo>
                <a:lnTo>
                  <a:pt x="1490176" y="3011626"/>
                </a:lnTo>
                <a:lnTo>
                  <a:pt x="1534453" y="2994628"/>
                </a:lnTo>
                <a:lnTo>
                  <a:pt x="1578681" y="2976857"/>
                </a:lnTo>
                <a:lnTo>
                  <a:pt x="1622879" y="2958295"/>
                </a:lnTo>
                <a:lnTo>
                  <a:pt x="1667064" y="2938923"/>
                </a:lnTo>
                <a:lnTo>
                  <a:pt x="1711253" y="2918721"/>
                </a:lnTo>
                <a:lnTo>
                  <a:pt x="1755462" y="2897671"/>
                </a:lnTo>
                <a:lnTo>
                  <a:pt x="1799710" y="2875753"/>
                </a:lnTo>
                <a:lnTo>
                  <a:pt x="1844014" y="2852950"/>
                </a:lnTo>
                <a:lnTo>
                  <a:pt x="1888391" y="2829241"/>
                </a:lnTo>
                <a:lnTo>
                  <a:pt x="1932857" y="2804608"/>
                </a:lnTo>
                <a:lnTo>
                  <a:pt x="1977431" y="2779031"/>
                </a:lnTo>
                <a:lnTo>
                  <a:pt x="2022129" y="2752493"/>
                </a:lnTo>
                <a:lnTo>
                  <a:pt x="2066969" y="2724973"/>
                </a:lnTo>
                <a:lnTo>
                  <a:pt x="2111967" y="2696453"/>
                </a:lnTo>
                <a:lnTo>
                  <a:pt x="2157142" y="2666915"/>
                </a:lnTo>
                <a:lnTo>
                  <a:pt x="2202510" y="2636338"/>
                </a:lnTo>
                <a:lnTo>
                  <a:pt x="2248089" y="2604704"/>
                </a:lnTo>
                <a:lnTo>
                  <a:pt x="2293895" y="2571994"/>
                </a:lnTo>
                <a:lnTo>
                  <a:pt x="2327469" y="2547399"/>
                </a:lnTo>
                <a:lnTo>
                  <a:pt x="2361020" y="2522255"/>
                </a:lnTo>
                <a:lnTo>
                  <a:pt x="2394546" y="2496571"/>
                </a:lnTo>
                <a:lnTo>
                  <a:pt x="2428049" y="2470351"/>
                </a:lnTo>
                <a:lnTo>
                  <a:pt x="2461529" y="2443601"/>
                </a:lnTo>
                <a:lnTo>
                  <a:pt x="2494986" y="2416328"/>
                </a:lnTo>
                <a:lnTo>
                  <a:pt x="2528419" y="2388537"/>
                </a:lnTo>
                <a:lnTo>
                  <a:pt x="2561830" y="2360235"/>
                </a:lnTo>
                <a:lnTo>
                  <a:pt x="2595219" y="2331427"/>
                </a:lnTo>
                <a:lnTo>
                  <a:pt x="2628585" y="2302120"/>
                </a:lnTo>
                <a:lnTo>
                  <a:pt x="2661929" y="2272319"/>
                </a:lnTo>
                <a:lnTo>
                  <a:pt x="2695251" y="2242030"/>
                </a:lnTo>
                <a:lnTo>
                  <a:pt x="2728552" y="2211260"/>
                </a:lnTo>
                <a:lnTo>
                  <a:pt x="2761831" y="2180014"/>
                </a:lnTo>
                <a:lnTo>
                  <a:pt x="2795089" y="2148298"/>
                </a:lnTo>
                <a:lnTo>
                  <a:pt x="2828326" y="2116119"/>
                </a:lnTo>
                <a:lnTo>
                  <a:pt x="2861542" y="2083481"/>
                </a:lnTo>
                <a:lnTo>
                  <a:pt x="2894738" y="2050392"/>
                </a:lnTo>
                <a:lnTo>
                  <a:pt x="2927913" y="2016857"/>
                </a:lnTo>
                <a:lnTo>
                  <a:pt x="2961068" y="1982882"/>
                </a:lnTo>
                <a:lnTo>
                  <a:pt x="2994204" y="1948474"/>
                </a:lnTo>
                <a:lnTo>
                  <a:pt x="3027319" y="1913637"/>
                </a:lnTo>
                <a:lnTo>
                  <a:pt x="3060416" y="1878379"/>
                </a:lnTo>
                <a:lnTo>
                  <a:pt x="3093493" y="1842704"/>
                </a:lnTo>
                <a:lnTo>
                  <a:pt x="3126550" y="1806620"/>
                </a:lnTo>
                <a:lnTo>
                  <a:pt x="3159590" y="1770131"/>
                </a:lnTo>
                <a:lnTo>
                  <a:pt x="3192610" y="1733245"/>
                </a:lnTo>
                <a:lnTo>
                  <a:pt x="3225612" y="1695966"/>
                </a:lnTo>
                <a:lnTo>
                  <a:pt x="3258596" y="1658302"/>
                </a:lnTo>
                <a:lnTo>
                  <a:pt x="3291562" y="1620257"/>
                </a:lnTo>
                <a:lnTo>
                  <a:pt x="3324511" y="1581838"/>
                </a:lnTo>
                <a:lnTo>
                  <a:pt x="3357441" y="1543051"/>
                </a:lnTo>
                <a:lnTo>
                  <a:pt x="3390355" y="1503902"/>
                </a:lnTo>
                <a:lnTo>
                  <a:pt x="3423251" y="1464397"/>
                </a:lnTo>
                <a:lnTo>
                  <a:pt x="3456131" y="1424541"/>
                </a:lnTo>
                <a:lnTo>
                  <a:pt x="3488994" y="1384341"/>
                </a:lnTo>
                <a:lnTo>
                  <a:pt x="3521840" y="1343803"/>
                </a:lnTo>
                <a:lnTo>
                  <a:pt x="3554670" y="1302933"/>
                </a:lnTo>
                <a:lnTo>
                  <a:pt x="3587485" y="1261736"/>
                </a:lnTo>
                <a:lnTo>
                  <a:pt x="3620283" y="1220219"/>
                </a:lnTo>
                <a:lnTo>
                  <a:pt x="3653066" y="1178387"/>
                </a:lnTo>
                <a:lnTo>
                  <a:pt x="3685833" y="1136247"/>
                </a:lnTo>
                <a:lnTo>
                  <a:pt x="3718586" y="1093805"/>
                </a:lnTo>
                <a:lnTo>
                  <a:pt x="3751323" y="1051066"/>
                </a:lnTo>
                <a:lnTo>
                  <a:pt x="3784046" y="1008037"/>
                </a:lnTo>
                <a:lnTo>
                  <a:pt x="3816754" y="964724"/>
                </a:lnTo>
                <a:lnTo>
                  <a:pt x="3849448" y="921131"/>
                </a:lnTo>
                <a:lnTo>
                  <a:pt x="3882128" y="877267"/>
                </a:lnTo>
                <a:lnTo>
                  <a:pt x="3914794" y="833135"/>
                </a:lnTo>
                <a:lnTo>
                  <a:pt x="3947447" y="788743"/>
                </a:lnTo>
                <a:lnTo>
                  <a:pt x="3980086" y="744097"/>
                </a:lnTo>
                <a:lnTo>
                  <a:pt x="4012712" y="699202"/>
                </a:lnTo>
                <a:lnTo>
                  <a:pt x="4045325" y="654064"/>
                </a:lnTo>
                <a:lnTo>
                  <a:pt x="4077925" y="608689"/>
                </a:lnTo>
                <a:lnTo>
                  <a:pt x="4110513" y="563084"/>
                </a:lnTo>
                <a:lnTo>
                  <a:pt x="4143088" y="517254"/>
                </a:lnTo>
                <a:lnTo>
                  <a:pt x="4175651" y="471205"/>
                </a:lnTo>
                <a:lnTo>
                  <a:pt x="4208203" y="424944"/>
                </a:lnTo>
                <a:lnTo>
                  <a:pt x="4240742" y="378475"/>
                </a:lnTo>
                <a:lnTo>
                  <a:pt x="4273271" y="331806"/>
                </a:lnTo>
                <a:lnTo>
                  <a:pt x="4305787" y="284942"/>
                </a:lnTo>
                <a:lnTo>
                  <a:pt x="4338293" y="237889"/>
                </a:lnTo>
                <a:lnTo>
                  <a:pt x="4370789" y="190653"/>
                </a:lnTo>
                <a:lnTo>
                  <a:pt x="4403273" y="143240"/>
                </a:lnTo>
                <a:lnTo>
                  <a:pt x="4435747" y="95656"/>
                </a:lnTo>
                <a:lnTo>
                  <a:pt x="4468211" y="47907"/>
                </a:lnTo>
                <a:lnTo>
                  <a:pt x="4500665" y="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577346" y="6005869"/>
            <a:ext cx="730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i="1" spc="-20" dirty="0">
                <a:latin typeface="Carlito"/>
                <a:cs typeface="Carlito"/>
              </a:rPr>
              <a:t>Time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930">
              <a:lnSpc>
                <a:spcPct val="100000"/>
              </a:lnSpc>
              <a:spcBef>
                <a:spcPts val="100"/>
              </a:spcBef>
            </a:pPr>
            <a:r>
              <a:rPr dirty="0"/>
              <a:t>Typical</a:t>
            </a:r>
            <a:r>
              <a:rPr spc="-204" dirty="0"/>
              <a:t> </a:t>
            </a:r>
            <a:r>
              <a:rPr dirty="0"/>
              <a:t>Computing</a:t>
            </a:r>
            <a:r>
              <a:rPr spc="-20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3157" y="1802663"/>
            <a:ext cx="4240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Unexpected peak in </a:t>
            </a:r>
            <a:r>
              <a:rPr sz="2800" spc="-10" dirty="0">
                <a:latin typeface="Times New Roman"/>
                <a:cs typeface="Times New Roman"/>
              </a:rPr>
              <a:t>demand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57" y="2825007"/>
            <a:ext cx="4300855" cy="186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Loss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business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opportunity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  <a:buFont typeface="Arial"/>
              <a:buChar char="▪"/>
            </a:pPr>
            <a:endParaRPr sz="2800">
              <a:latin typeface="Times New Roman"/>
              <a:cs typeface="Times New Roman"/>
            </a:endParaRPr>
          </a:p>
          <a:p>
            <a:pPr marL="187960" marR="243204" indent="-175895">
              <a:lnSpc>
                <a:spcPts val="3050"/>
              </a:lnSpc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Wasted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capacity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demand 	wanes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02461" y="2430747"/>
            <a:ext cx="4977765" cy="3502660"/>
            <a:chOff x="6802461" y="2430747"/>
            <a:chExt cx="4977765" cy="3502660"/>
          </a:xfrm>
        </p:grpSpPr>
        <p:sp>
          <p:nvSpPr>
            <p:cNvPr id="6" name="object 6"/>
            <p:cNvSpPr/>
            <p:nvPr/>
          </p:nvSpPr>
          <p:spPr>
            <a:xfrm>
              <a:off x="6857111" y="2558719"/>
              <a:ext cx="0" cy="3358515"/>
            </a:xfrm>
            <a:custGeom>
              <a:avLst/>
              <a:gdLst/>
              <a:ahLst/>
              <a:cxnLst/>
              <a:rect l="l" t="t" r="r" b="b"/>
              <a:pathLst>
                <a:path h="3358515">
                  <a:moveTo>
                    <a:pt x="0" y="33580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2461" y="2430747"/>
              <a:ext cx="109299" cy="1406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57111" y="5874738"/>
              <a:ext cx="4795520" cy="3810"/>
            </a:xfrm>
            <a:custGeom>
              <a:avLst/>
              <a:gdLst/>
              <a:ahLst/>
              <a:cxnLst/>
              <a:rect l="l" t="t" r="r" b="b"/>
              <a:pathLst>
                <a:path w="4795520" h="3810">
                  <a:moveTo>
                    <a:pt x="0" y="0"/>
                  </a:moveTo>
                  <a:lnTo>
                    <a:pt x="4795115" y="354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9476" y="5823638"/>
              <a:ext cx="140699" cy="1093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429814" y="3326306"/>
            <a:ext cx="381000" cy="1355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spc="-10" dirty="0">
                <a:latin typeface="Carlito"/>
                <a:cs typeface="Carlito"/>
              </a:rPr>
              <a:t>Compute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5922" y="1911634"/>
            <a:ext cx="40335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Arial"/>
                <a:cs typeface="Arial"/>
              </a:rPr>
              <a:t>Unpredictable</a:t>
            </a:r>
            <a:r>
              <a:rPr sz="3200" spc="-180" dirty="0">
                <a:latin typeface="Arial"/>
                <a:cs typeface="Arial"/>
              </a:rPr>
              <a:t> </a:t>
            </a:r>
            <a:r>
              <a:rPr sz="3200" spc="-60" dirty="0">
                <a:latin typeface="Arial"/>
                <a:cs typeface="Arial"/>
              </a:rPr>
              <a:t>Bursting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57110" y="3223393"/>
            <a:ext cx="4923155" cy="1097280"/>
            <a:chOff x="6857110" y="3223393"/>
            <a:chExt cx="4923155" cy="1097280"/>
          </a:xfrm>
        </p:grpSpPr>
        <p:sp>
          <p:nvSpPr>
            <p:cNvPr id="13" name="object 13"/>
            <p:cNvSpPr/>
            <p:nvPr/>
          </p:nvSpPr>
          <p:spPr>
            <a:xfrm>
              <a:off x="9967804" y="4262366"/>
              <a:ext cx="1684655" cy="3810"/>
            </a:xfrm>
            <a:custGeom>
              <a:avLst/>
              <a:gdLst/>
              <a:ahLst/>
              <a:cxnLst/>
              <a:rect l="l" t="t" r="r" b="b"/>
              <a:pathLst>
                <a:path w="1684654" h="3810">
                  <a:moveTo>
                    <a:pt x="0" y="0"/>
                  </a:moveTo>
                  <a:lnTo>
                    <a:pt x="1684421" y="329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39426" y="4211016"/>
              <a:ext cx="140749" cy="1092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57110" y="4251741"/>
              <a:ext cx="1596390" cy="0"/>
            </a:xfrm>
            <a:custGeom>
              <a:avLst/>
              <a:gdLst/>
              <a:ahLst/>
              <a:cxnLst/>
              <a:rect l="l" t="t" r="r" b="b"/>
              <a:pathLst>
                <a:path w="1596390">
                  <a:moveTo>
                    <a:pt x="0" y="0"/>
                  </a:moveTo>
                  <a:lnTo>
                    <a:pt x="1595896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40307" y="4197091"/>
              <a:ext cx="140674" cy="1092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605407" y="3236093"/>
              <a:ext cx="1346835" cy="1031875"/>
            </a:xfrm>
            <a:custGeom>
              <a:avLst/>
              <a:gdLst/>
              <a:ahLst/>
              <a:cxnLst/>
              <a:rect l="l" t="t" r="r" b="b"/>
              <a:pathLst>
                <a:path w="1346834" h="1031875">
                  <a:moveTo>
                    <a:pt x="0" y="1015647"/>
                  </a:moveTo>
                  <a:lnTo>
                    <a:pt x="23663" y="956931"/>
                  </a:lnTo>
                  <a:lnTo>
                    <a:pt x="47334" y="898390"/>
                  </a:lnTo>
                  <a:lnTo>
                    <a:pt x="71017" y="840198"/>
                  </a:lnTo>
                  <a:lnTo>
                    <a:pt x="94721" y="782531"/>
                  </a:lnTo>
                  <a:lnTo>
                    <a:pt x="118452" y="725561"/>
                  </a:lnTo>
                  <a:lnTo>
                    <a:pt x="142215" y="669466"/>
                  </a:lnTo>
                  <a:lnTo>
                    <a:pt x="166018" y="614418"/>
                  </a:lnTo>
                  <a:lnTo>
                    <a:pt x="189868" y="560594"/>
                  </a:lnTo>
                  <a:lnTo>
                    <a:pt x="213770" y="508167"/>
                  </a:lnTo>
                  <a:lnTo>
                    <a:pt x="237732" y="457312"/>
                  </a:lnTo>
                  <a:lnTo>
                    <a:pt x="261760" y="408204"/>
                  </a:lnTo>
                  <a:lnTo>
                    <a:pt x="285860" y="361017"/>
                  </a:lnTo>
                  <a:lnTo>
                    <a:pt x="310040" y="315927"/>
                  </a:lnTo>
                  <a:lnTo>
                    <a:pt x="334305" y="273108"/>
                  </a:lnTo>
                  <a:lnTo>
                    <a:pt x="358662" y="232734"/>
                  </a:lnTo>
                  <a:lnTo>
                    <a:pt x="383119" y="194981"/>
                  </a:lnTo>
                  <a:lnTo>
                    <a:pt x="407681" y="160023"/>
                  </a:lnTo>
                  <a:lnTo>
                    <a:pt x="432355" y="128034"/>
                  </a:lnTo>
                  <a:lnTo>
                    <a:pt x="482066" y="73665"/>
                  </a:lnTo>
                  <a:lnTo>
                    <a:pt x="532304" y="33272"/>
                  </a:lnTo>
                  <a:lnTo>
                    <a:pt x="583123" y="8250"/>
                  </a:lnTo>
                  <a:lnTo>
                    <a:pt x="634573" y="0"/>
                  </a:lnTo>
                  <a:lnTo>
                    <a:pt x="659582" y="2371"/>
                  </a:lnTo>
                  <a:lnTo>
                    <a:pt x="710053" y="19124"/>
                  </a:lnTo>
                  <a:lnTo>
                    <a:pt x="761089" y="50852"/>
                  </a:lnTo>
                  <a:lnTo>
                    <a:pt x="812643" y="96306"/>
                  </a:lnTo>
                  <a:lnTo>
                    <a:pt x="864667" y="154239"/>
                  </a:lnTo>
                  <a:lnTo>
                    <a:pt x="890841" y="187495"/>
                  </a:lnTo>
                  <a:lnTo>
                    <a:pt x="917116" y="223402"/>
                  </a:lnTo>
                  <a:lnTo>
                    <a:pt x="943484" y="261806"/>
                  </a:lnTo>
                  <a:lnTo>
                    <a:pt x="969941" y="302549"/>
                  </a:lnTo>
                  <a:lnTo>
                    <a:pt x="996480" y="345475"/>
                  </a:lnTo>
                  <a:lnTo>
                    <a:pt x="1023096" y="390430"/>
                  </a:lnTo>
                  <a:lnTo>
                    <a:pt x="1049783" y="437256"/>
                  </a:lnTo>
                  <a:lnTo>
                    <a:pt x="1076534" y="485798"/>
                  </a:lnTo>
                  <a:lnTo>
                    <a:pt x="1103344" y="535900"/>
                  </a:lnTo>
                  <a:lnTo>
                    <a:pt x="1130208" y="587406"/>
                  </a:lnTo>
                  <a:lnTo>
                    <a:pt x="1157119" y="640160"/>
                  </a:lnTo>
                  <a:lnTo>
                    <a:pt x="1184071" y="694005"/>
                  </a:lnTo>
                  <a:lnTo>
                    <a:pt x="1211058" y="748787"/>
                  </a:lnTo>
                  <a:lnTo>
                    <a:pt x="1238075" y="804348"/>
                  </a:lnTo>
                  <a:lnTo>
                    <a:pt x="1265116" y="860533"/>
                  </a:lnTo>
                  <a:lnTo>
                    <a:pt x="1292175" y="917186"/>
                  </a:lnTo>
                  <a:lnTo>
                    <a:pt x="1319245" y="974151"/>
                  </a:lnTo>
                  <a:lnTo>
                    <a:pt x="1346322" y="1031272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577346" y="6005869"/>
            <a:ext cx="730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i="1" spc="-20" dirty="0">
                <a:latin typeface="Carlito"/>
                <a:cs typeface="Carlito"/>
              </a:rPr>
              <a:t>Time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930">
              <a:lnSpc>
                <a:spcPct val="100000"/>
              </a:lnSpc>
              <a:spcBef>
                <a:spcPts val="100"/>
              </a:spcBef>
            </a:pPr>
            <a:r>
              <a:rPr dirty="0"/>
              <a:t>Typical</a:t>
            </a:r>
            <a:r>
              <a:rPr spc="-204" dirty="0"/>
              <a:t> </a:t>
            </a:r>
            <a:r>
              <a:rPr dirty="0"/>
              <a:t>Computing</a:t>
            </a:r>
            <a:r>
              <a:rPr spc="-20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3157" y="1802663"/>
            <a:ext cx="41198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0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Seasonal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peaks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troughs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57" y="2788788"/>
            <a:ext cx="3350895" cy="12757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385"/>
              </a:spcBef>
              <a:buFont typeface="Arial"/>
              <a:buChar char="▪"/>
              <a:tabLst>
                <a:tab pos="188595" algn="l"/>
              </a:tabLst>
            </a:pPr>
            <a:r>
              <a:rPr sz="2800" dirty="0">
                <a:latin typeface="Times New Roman"/>
                <a:cs typeface="Times New Roman"/>
              </a:rPr>
              <a:t>Provisioning </a:t>
            </a:r>
            <a:r>
              <a:rPr sz="2800" spc="-10" dirty="0">
                <a:latin typeface="Times New Roman"/>
                <a:cs typeface="Times New Roman"/>
              </a:rPr>
              <a:t>dilemma</a:t>
            </a:r>
            <a:endParaRPr sz="2800">
              <a:latin typeface="Times New Roman"/>
              <a:cs typeface="Times New Roman"/>
            </a:endParaRPr>
          </a:p>
          <a:p>
            <a:pPr marL="645160" lvl="1" indent="-182880">
              <a:lnSpc>
                <a:spcPct val="100000"/>
              </a:lnSpc>
              <a:spcBef>
                <a:spcPts val="244"/>
              </a:spcBef>
              <a:buFont typeface="Arial"/>
              <a:buChar char="▪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Wasted capacity </a:t>
            </a:r>
            <a:r>
              <a:rPr sz="2400" spc="-25" dirty="0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  <a:p>
            <a:pPr marL="645160" lvl="1" indent="-182880">
              <a:lnSpc>
                <a:spcPct val="100000"/>
              </a:lnSpc>
              <a:spcBef>
                <a:spcPts val="195"/>
              </a:spcBef>
              <a:buFont typeface="Arial"/>
              <a:buChar char="▪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Loss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business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02461" y="2430747"/>
            <a:ext cx="4977765" cy="3502660"/>
            <a:chOff x="6802461" y="2430747"/>
            <a:chExt cx="4977765" cy="3502660"/>
          </a:xfrm>
        </p:grpSpPr>
        <p:sp>
          <p:nvSpPr>
            <p:cNvPr id="6" name="object 6"/>
            <p:cNvSpPr/>
            <p:nvPr/>
          </p:nvSpPr>
          <p:spPr>
            <a:xfrm>
              <a:off x="6857111" y="2558719"/>
              <a:ext cx="0" cy="3358515"/>
            </a:xfrm>
            <a:custGeom>
              <a:avLst/>
              <a:gdLst/>
              <a:ahLst/>
              <a:cxnLst/>
              <a:rect l="l" t="t" r="r" b="b"/>
              <a:pathLst>
                <a:path h="3358515">
                  <a:moveTo>
                    <a:pt x="0" y="3358043"/>
                  </a:moveTo>
                  <a:lnTo>
                    <a:pt x="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02461" y="2430747"/>
              <a:ext cx="109299" cy="1406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57111" y="5874738"/>
              <a:ext cx="4795520" cy="3810"/>
            </a:xfrm>
            <a:custGeom>
              <a:avLst/>
              <a:gdLst/>
              <a:ahLst/>
              <a:cxnLst/>
              <a:rect l="l" t="t" r="r" b="b"/>
              <a:pathLst>
                <a:path w="4795520" h="3810">
                  <a:moveTo>
                    <a:pt x="0" y="0"/>
                  </a:moveTo>
                  <a:lnTo>
                    <a:pt x="4795115" y="3549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39476" y="5823638"/>
              <a:ext cx="140699" cy="1093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429814" y="3326306"/>
            <a:ext cx="381000" cy="1355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spc="-10" dirty="0">
                <a:latin typeface="Carlito"/>
                <a:cs typeface="Carlito"/>
              </a:rPr>
              <a:t>Compute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00783" y="1838616"/>
            <a:ext cx="35140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5" dirty="0">
                <a:latin typeface="Arial"/>
                <a:cs typeface="Arial"/>
              </a:rPr>
              <a:t>Predictable</a:t>
            </a:r>
            <a:r>
              <a:rPr sz="3200" spc="-145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Bursting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44410" y="3276143"/>
            <a:ext cx="4795520" cy="1370965"/>
            <a:chOff x="6844410" y="3276143"/>
            <a:chExt cx="4795520" cy="1370965"/>
          </a:xfrm>
        </p:grpSpPr>
        <p:sp>
          <p:nvSpPr>
            <p:cNvPr id="13" name="object 13"/>
            <p:cNvSpPr/>
            <p:nvPr/>
          </p:nvSpPr>
          <p:spPr>
            <a:xfrm>
              <a:off x="6857110" y="3288843"/>
              <a:ext cx="4677410" cy="1345565"/>
            </a:xfrm>
            <a:custGeom>
              <a:avLst/>
              <a:gdLst/>
              <a:ahLst/>
              <a:cxnLst/>
              <a:rect l="l" t="t" r="r" b="b"/>
              <a:pathLst>
                <a:path w="4677409" h="1345564">
                  <a:moveTo>
                    <a:pt x="0" y="1247797"/>
                  </a:moveTo>
                  <a:lnTo>
                    <a:pt x="32950" y="1195142"/>
                  </a:lnTo>
                  <a:lnTo>
                    <a:pt x="65895" y="1142571"/>
                  </a:lnTo>
                  <a:lnTo>
                    <a:pt x="98826" y="1090166"/>
                  </a:lnTo>
                  <a:lnTo>
                    <a:pt x="131738" y="1038012"/>
                  </a:lnTo>
                  <a:lnTo>
                    <a:pt x="164624" y="986191"/>
                  </a:lnTo>
                  <a:lnTo>
                    <a:pt x="197477" y="934786"/>
                  </a:lnTo>
                  <a:lnTo>
                    <a:pt x="230291" y="883882"/>
                  </a:lnTo>
                  <a:lnTo>
                    <a:pt x="263058" y="833562"/>
                  </a:lnTo>
                  <a:lnTo>
                    <a:pt x="295774" y="783908"/>
                  </a:lnTo>
                  <a:lnTo>
                    <a:pt x="328430" y="735005"/>
                  </a:lnTo>
                  <a:lnTo>
                    <a:pt x="361020" y="686936"/>
                  </a:lnTo>
                  <a:lnTo>
                    <a:pt x="393539" y="639783"/>
                  </a:lnTo>
                  <a:lnTo>
                    <a:pt x="425978" y="593631"/>
                  </a:lnTo>
                  <a:lnTo>
                    <a:pt x="458332" y="548563"/>
                  </a:lnTo>
                  <a:lnTo>
                    <a:pt x="490595" y="504662"/>
                  </a:lnTo>
                  <a:lnTo>
                    <a:pt x="522758" y="462012"/>
                  </a:lnTo>
                  <a:lnTo>
                    <a:pt x="554817" y="420695"/>
                  </a:lnTo>
                  <a:lnTo>
                    <a:pt x="586764" y="380796"/>
                  </a:lnTo>
                  <a:lnTo>
                    <a:pt x="618593" y="342397"/>
                  </a:lnTo>
                  <a:lnTo>
                    <a:pt x="650297" y="305582"/>
                  </a:lnTo>
                  <a:lnTo>
                    <a:pt x="681869" y="270435"/>
                  </a:lnTo>
                  <a:lnTo>
                    <a:pt x="713304" y="237038"/>
                  </a:lnTo>
                  <a:lnTo>
                    <a:pt x="744594" y="205476"/>
                  </a:lnTo>
                  <a:lnTo>
                    <a:pt x="775733" y="175831"/>
                  </a:lnTo>
                  <a:lnTo>
                    <a:pt x="806714" y="148186"/>
                  </a:lnTo>
                  <a:lnTo>
                    <a:pt x="837532" y="122626"/>
                  </a:lnTo>
                  <a:lnTo>
                    <a:pt x="868178" y="99234"/>
                  </a:lnTo>
                  <a:lnTo>
                    <a:pt x="928932" y="59285"/>
                  </a:lnTo>
                  <a:lnTo>
                    <a:pt x="988923" y="29008"/>
                  </a:lnTo>
                  <a:lnTo>
                    <a:pt x="1048100" y="9068"/>
                  </a:lnTo>
                  <a:lnTo>
                    <a:pt x="1106409" y="132"/>
                  </a:lnTo>
                  <a:lnTo>
                    <a:pt x="1135222" y="0"/>
                  </a:lnTo>
                  <a:lnTo>
                    <a:pt x="1160902" y="3637"/>
                  </a:lnTo>
                  <a:lnTo>
                    <a:pt x="1211418" y="24690"/>
                  </a:lnTo>
                  <a:lnTo>
                    <a:pt x="1260895" y="62464"/>
                  </a:lnTo>
                  <a:lnTo>
                    <a:pt x="1309436" y="114976"/>
                  </a:lnTo>
                  <a:lnTo>
                    <a:pt x="1333387" y="146141"/>
                  </a:lnTo>
                  <a:lnTo>
                    <a:pt x="1357143" y="180247"/>
                  </a:lnTo>
                  <a:lnTo>
                    <a:pt x="1380715" y="217047"/>
                  </a:lnTo>
                  <a:lnTo>
                    <a:pt x="1404118" y="256294"/>
                  </a:lnTo>
                  <a:lnTo>
                    <a:pt x="1427363" y="297739"/>
                  </a:lnTo>
                  <a:lnTo>
                    <a:pt x="1450463" y="341135"/>
                  </a:lnTo>
                  <a:lnTo>
                    <a:pt x="1473431" y="386235"/>
                  </a:lnTo>
                  <a:lnTo>
                    <a:pt x="1496280" y="432790"/>
                  </a:lnTo>
                  <a:lnTo>
                    <a:pt x="1519022" y="480553"/>
                  </a:lnTo>
                  <a:lnTo>
                    <a:pt x="1541671" y="529277"/>
                  </a:lnTo>
                  <a:lnTo>
                    <a:pt x="1564239" y="578713"/>
                  </a:lnTo>
                  <a:lnTo>
                    <a:pt x="1586739" y="628614"/>
                  </a:lnTo>
                  <a:lnTo>
                    <a:pt x="1609184" y="678733"/>
                  </a:lnTo>
                  <a:lnTo>
                    <a:pt x="1631586" y="728820"/>
                  </a:lnTo>
                  <a:lnTo>
                    <a:pt x="1653958" y="778630"/>
                  </a:lnTo>
                  <a:lnTo>
                    <a:pt x="1676313" y="827914"/>
                  </a:lnTo>
                  <a:lnTo>
                    <a:pt x="1698664" y="876425"/>
                  </a:lnTo>
                  <a:lnTo>
                    <a:pt x="1721024" y="923914"/>
                  </a:lnTo>
                  <a:lnTo>
                    <a:pt x="1743405" y="970135"/>
                  </a:lnTo>
                  <a:lnTo>
                    <a:pt x="1765819" y="1014839"/>
                  </a:lnTo>
                  <a:lnTo>
                    <a:pt x="1788281" y="1057779"/>
                  </a:lnTo>
                  <a:lnTo>
                    <a:pt x="1810802" y="1098707"/>
                  </a:lnTo>
                  <a:lnTo>
                    <a:pt x="1833396" y="1137376"/>
                  </a:lnTo>
                  <a:lnTo>
                    <a:pt x="1856075" y="1173537"/>
                  </a:lnTo>
                  <a:lnTo>
                    <a:pt x="1878851" y="1206943"/>
                  </a:lnTo>
                  <a:lnTo>
                    <a:pt x="1924749" y="1264501"/>
                  </a:lnTo>
                  <a:lnTo>
                    <a:pt x="1971192" y="1308067"/>
                  </a:lnTo>
                  <a:lnTo>
                    <a:pt x="2018282" y="1335659"/>
                  </a:lnTo>
                  <a:lnTo>
                    <a:pt x="2066120" y="1345297"/>
                  </a:lnTo>
                  <a:lnTo>
                    <a:pt x="2090334" y="1342828"/>
                  </a:lnTo>
                  <a:lnTo>
                    <a:pt x="2139273" y="1323831"/>
                  </a:lnTo>
                  <a:lnTo>
                    <a:pt x="2188822" y="1287757"/>
                  </a:lnTo>
                  <a:lnTo>
                    <a:pt x="2238896" y="1236608"/>
                  </a:lnTo>
                  <a:lnTo>
                    <a:pt x="2264103" y="1206007"/>
                  </a:lnTo>
                  <a:lnTo>
                    <a:pt x="2289410" y="1172389"/>
                  </a:lnTo>
                  <a:lnTo>
                    <a:pt x="2314805" y="1136005"/>
                  </a:lnTo>
                  <a:lnTo>
                    <a:pt x="2340278" y="1097103"/>
                  </a:lnTo>
                  <a:lnTo>
                    <a:pt x="2365818" y="1055936"/>
                  </a:lnTo>
                  <a:lnTo>
                    <a:pt x="2391415" y="1012754"/>
                  </a:lnTo>
                  <a:lnTo>
                    <a:pt x="2417059" y="967806"/>
                  </a:lnTo>
                  <a:lnTo>
                    <a:pt x="2442737" y="921344"/>
                  </a:lnTo>
                  <a:lnTo>
                    <a:pt x="2468441" y="873617"/>
                  </a:lnTo>
                  <a:lnTo>
                    <a:pt x="2494159" y="824876"/>
                  </a:lnTo>
                  <a:lnTo>
                    <a:pt x="2519880" y="775373"/>
                  </a:lnTo>
                  <a:lnTo>
                    <a:pt x="2545595" y="725356"/>
                  </a:lnTo>
                  <a:lnTo>
                    <a:pt x="2571291" y="675076"/>
                  </a:lnTo>
                  <a:lnTo>
                    <a:pt x="2596959" y="624785"/>
                  </a:lnTo>
                  <a:lnTo>
                    <a:pt x="2622589" y="574731"/>
                  </a:lnTo>
                  <a:lnTo>
                    <a:pt x="2648168" y="525167"/>
                  </a:lnTo>
                  <a:lnTo>
                    <a:pt x="2673688" y="476341"/>
                  </a:lnTo>
                  <a:lnTo>
                    <a:pt x="2699136" y="428505"/>
                  </a:lnTo>
                  <a:lnTo>
                    <a:pt x="2724503" y="381909"/>
                  </a:lnTo>
                  <a:lnTo>
                    <a:pt x="2749777" y="336804"/>
                  </a:lnTo>
                  <a:lnTo>
                    <a:pt x="2774949" y="293439"/>
                  </a:lnTo>
                  <a:lnTo>
                    <a:pt x="2800008" y="252066"/>
                  </a:lnTo>
                  <a:lnTo>
                    <a:pt x="2824942" y="212934"/>
                  </a:lnTo>
                  <a:lnTo>
                    <a:pt x="2849741" y="176294"/>
                  </a:lnTo>
                  <a:lnTo>
                    <a:pt x="2874396" y="142397"/>
                  </a:lnTo>
                  <a:lnTo>
                    <a:pt x="2898894" y="111492"/>
                  </a:lnTo>
                  <a:lnTo>
                    <a:pt x="2947379" y="59664"/>
                  </a:lnTo>
                  <a:lnTo>
                    <a:pt x="2995113" y="22813"/>
                  </a:lnTo>
                  <a:lnTo>
                    <a:pt x="3042010" y="2942"/>
                  </a:lnTo>
                  <a:lnTo>
                    <a:pt x="3065118" y="0"/>
                  </a:lnTo>
                  <a:lnTo>
                    <a:pt x="3090565" y="2207"/>
                  </a:lnTo>
                  <a:lnTo>
                    <a:pt x="3140903" y="22227"/>
                  </a:lnTo>
                  <a:lnTo>
                    <a:pt x="3190541" y="61082"/>
                  </a:lnTo>
                  <a:lnTo>
                    <a:pt x="3239525" y="116406"/>
                  </a:lnTo>
                  <a:lnTo>
                    <a:pt x="3263786" y="149504"/>
                  </a:lnTo>
                  <a:lnTo>
                    <a:pt x="3287902" y="185831"/>
                  </a:lnTo>
                  <a:lnTo>
                    <a:pt x="3311877" y="225092"/>
                  </a:lnTo>
                  <a:lnTo>
                    <a:pt x="3335719" y="266990"/>
                  </a:lnTo>
                  <a:lnTo>
                    <a:pt x="3359432" y="311230"/>
                  </a:lnTo>
                  <a:lnTo>
                    <a:pt x="3383022" y="357517"/>
                  </a:lnTo>
                  <a:lnTo>
                    <a:pt x="3406496" y="405553"/>
                  </a:lnTo>
                  <a:lnTo>
                    <a:pt x="3429858" y="455044"/>
                  </a:lnTo>
                  <a:lnTo>
                    <a:pt x="3453116" y="505693"/>
                  </a:lnTo>
                  <a:lnTo>
                    <a:pt x="3476274" y="557204"/>
                  </a:lnTo>
                  <a:lnTo>
                    <a:pt x="3499339" y="609283"/>
                  </a:lnTo>
                  <a:lnTo>
                    <a:pt x="3522317" y="661632"/>
                  </a:lnTo>
                  <a:lnTo>
                    <a:pt x="3545213" y="713956"/>
                  </a:lnTo>
                  <a:lnTo>
                    <a:pt x="3568032" y="765958"/>
                  </a:lnTo>
                  <a:lnTo>
                    <a:pt x="3590782" y="817345"/>
                  </a:lnTo>
                  <a:lnTo>
                    <a:pt x="3613468" y="867818"/>
                  </a:lnTo>
                  <a:lnTo>
                    <a:pt x="3636095" y="917083"/>
                  </a:lnTo>
                  <a:lnTo>
                    <a:pt x="3658670" y="964843"/>
                  </a:lnTo>
                  <a:lnTo>
                    <a:pt x="3681198" y="1010803"/>
                  </a:lnTo>
                  <a:lnTo>
                    <a:pt x="3703685" y="1054667"/>
                  </a:lnTo>
                  <a:lnTo>
                    <a:pt x="3726137" y="1096139"/>
                  </a:lnTo>
                  <a:lnTo>
                    <a:pt x="3748559" y="1134923"/>
                  </a:lnTo>
                  <a:lnTo>
                    <a:pt x="3770959" y="1170723"/>
                  </a:lnTo>
                  <a:lnTo>
                    <a:pt x="3793341" y="1203244"/>
                  </a:lnTo>
                  <a:lnTo>
                    <a:pt x="3838075" y="1257263"/>
                  </a:lnTo>
                  <a:lnTo>
                    <a:pt x="3882810" y="1294613"/>
                  </a:lnTo>
                  <a:lnTo>
                    <a:pt x="3939189" y="1316273"/>
                  </a:lnTo>
                  <a:lnTo>
                    <a:pt x="3973930" y="1318955"/>
                  </a:lnTo>
                  <a:lnTo>
                    <a:pt x="4009292" y="1314900"/>
                  </a:lnTo>
                  <a:lnTo>
                    <a:pt x="4081384" y="1288819"/>
                  </a:lnTo>
                  <a:lnTo>
                    <a:pt x="4117869" y="1267908"/>
                  </a:lnTo>
                  <a:lnTo>
                    <a:pt x="4154481" y="1242495"/>
                  </a:lnTo>
                  <a:lnTo>
                    <a:pt x="4191098" y="1213140"/>
                  </a:lnTo>
                  <a:lnTo>
                    <a:pt x="4227598" y="1180399"/>
                  </a:lnTo>
                  <a:lnTo>
                    <a:pt x="4263855" y="1144832"/>
                  </a:lnTo>
                  <a:lnTo>
                    <a:pt x="4299748" y="1106998"/>
                  </a:lnTo>
                  <a:lnTo>
                    <a:pt x="4335153" y="1067454"/>
                  </a:lnTo>
                  <a:lnTo>
                    <a:pt x="4369948" y="1026759"/>
                  </a:lnTo>
                  <a:lnTo>
                    <a:pt x="4404008" y="985472"/>
                  </a:lnTo>
                  <a:lnTo>
                    <a:pt x="4437211" y="944151"/>
                  </a:lnTo>
                  <a:lnTo>
                    <a:pt x="4469433" y="903355"/>
                  </a:lnTo>
                  <a:lnTo>
                    <a:pt x="4500552" y="863642"/>
                  </a:lnTo>
                  <a:lnTo>
                    <a:pt x="4530444" y="825571"/>
                  </a:lnTo>
                  <a:lnTo>
                    <a:pt x="4558987" y="789700"/>
                  </a:lnTo>
                  <a:lnTo>
                    <a:pt x="4586056" y="756588"/>
                  </a:lnTo>
                  <a:lnTo>
                    <a:pt x="4611529" y="726794"/>
                  </a:lnTo>
                  <a:lnTo>
                    <a:pt x="4657194" y="679390"/>
                  </a:lnTo>
                  <a:lnTo>
                    <a:pt x="4677140" y="662898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83235" y="4461041"/>
              <a:ext cx="4747260" cy="36830"/>
            </a:xfrm>
            <a:custGeom>
              <a:avLst/>
              <a:gdLst/>
              <a:ahLst/>
              <a:cxnLst/>
              <a:rect l="l" t="t" r="r" b="b"/>
              <a:pathLst>
                <a:path w="4747259" h="36829">
                  <a:moveTo>
                    <a:pt x="0" y="36224"/>
                  </a:moveTo>
                  <a:lnTo>
                    <a:pt x="4746765" y="0"/>
                  </a:lnTo>
                </a:path>
              </a:pathLst>
            </a:custGeom>
            <a:ln w="1904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577346" y="6005869"/>
            <a:ext cx="73088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800" i="1" spc="-20" dirty="0">
                <a:latin typeface="Carlito"/>
                <a:cs typeface="Carlito"/>
              </a:rPr>
              <a:t>Time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4394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185" dirty="0"/>
              <a:t> </a:t>
            </a:r>
            <a:r>
              <a:rPr dirty="0"/>
              <a:t>Computing</a:t>
            </a:r>
            <a:r>
              <a:rPr spc="-185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3157" y="1802663"/>
            <a:ext cx="10222865" cy="423354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87960" marR="904875" indent="-175895">
              <a:lnSpc>
                <a:spcPts val="3000"/>
              </a:lnSpc>
              <a:spcBef>
                <a:spcPts val="500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large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enterprise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quickly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&amp;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economically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deploys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internal 	</a:t>
            </a:r>
            <a:r>
              <a:rPr sz="2800" dirty="0">
                <a:latin typeface="Times New Roman"/>
                <a:cs typeface="Times New Roman"/>
              </a:rPr>
              <a:t>applications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distributed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workforce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87960" marR="450215" indent="-175895">
              <a:lnSpc>
                <a:spcPts val="3050"/>
              </a:lnSpc>
              <a:spcBef>
                <a:spcPts val="2835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e-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commerce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website</a:t>
            </a:r>
            <a:r>
              <a:rPr sz="28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accommodates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sudden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demand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“hot” 	</a:t>
            </a:r>
            <a:r>
              <a:rPr sz="2800" dirty="0">
                <a:latin typeface="Times New Roman"/>
                <a:cs typeface="Times New Roman"/>
              </a:rPr>
              <a:t>product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caused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viral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buzz.</a:t>
            </a:r>
            <a:endParaRPr sz="2800">
              <a:latin typeface="Times New Roman"/>
              <a:cs typeface="Times New Roman"/>
            </a:endParaRPr>
          </a:p>
          <a:p>
            <a:pPr marL="187960" marR="5080" indent="-175895">
              <a:lnSpc>
                <a:spcPts val="3050"/>
              </a:lnSpc>
              <a:spcBef>
                <a:spcPts val="2825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pharmaceutical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research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executes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large-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scale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simulations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using 	</a:t>
            </a:r>
            <a:r>
              <a:rPr sz="2800" dirty="0">
                <a:latin typeface="Times New Roman"/>
                <a:cs typeface="Times New Roman"/>
              </a:rPr>
              <a:t>computing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power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cloud</a:t>
            </a:r>
            <a:r>
              <a:rPr sz="2800" spc="-10" dirty="0">
                <a:latin typeface="Times New Roman"/>
                <a:cs typeface="Times New Roman"/>
              </a:rPr>
              <a:t> vendors.</a:t>
            </a:r>
            <a:endParaRPr sz="2800">
              <a:latin typeface="Times New Roman"/>
              <a:cs typeface="Times New Roman"/>
            </a:endParaRPr>
          </a:p>
          <a:p>
            <a:pPr marL="187960" marR="250825" indent="-175895">
              <a:lnSpc>
                <a:spcPts val="3050"/>
              </a:lnSpc>
              <a:spcBef>
                <a:spcPts val="2825"/>
              </a:spcBef>
              <a:buFont typeface="Arial"/>
              <a:buChar char="▪"/>
              <a:tabLst>
                <a:tab pos="18923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media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company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unlimited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video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music,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media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worldwide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</a:t>
            </a:r>
            <a:r>
              <a:rPr sz="2800" spc="-10" dirty="0">
                <a:latin typeface="Times New Roman"/>
                <a:cs typeface="Times New Roman"/>
              </a:rPr>
              <a:t> base.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8613" y="286563"/>
            <a:ext cx="7954437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935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195" dirty="0"/>
              <a:t> </a:t>
            </a:r>
            <a:r>
              <a:rPr dirty="0"/>
              <a:t>Computing</a:t>
            </a:r>
            <a:r>
              <a:rPr spc="-185" dirty="0"/>
              <a:t> </a:t>
            </a:r>
            <a:r>
              <a:rPr spc="-10" dirty="0"/>
              <a:t>Nutshe</a:t>
            </a:r>
            <a:r>
              <a:rPr u="dbl" spc="-10" dirty="0">
                <a:uFill>
                  <a:solidFill>
                    <a:srgbClr val="7E7E7E"/>
                  </a:solidFill>
                </a:uFill>
              </a:rPr>
              <a:t>ll</a:t>
            </a:r>
            <a:r>
              <a:rPr u="dbl" spc="1100" dirty="0">
                <a:uFill>
                  <a:solidFill>
                    <a:srgbClr val="7E7E7E"/>
                  </a:solidFill>
                </a:uFill>
              </a:rPr>
              <a:t> 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87960" marR="305435" indent="-175895">
              <a:lnSpc>
                <a:spcPts val="3000"/>
              </a:lnSpc>
              <a:spcBef>
                <a:spcPts val="500"/>
              </a:spcBef>
              <a:buFont typeface="Arial"/>
              <a:buChar char="▪"/>
              <a:tabLst>
                <a:tab pos="189230" algn="l"/>
              </a:tabLst>
            </a:pPr>
            <a:r>
              <a:rPr spc="-25" dirty="0"/>
              <a:t>End-</a:t>
            </a:r>
            <a:r>
              <a:rPr dirty="0"/>
              <a:t>users</a:t>
            </a:r>
            <a:r>
              <a:rPr spc="-35" dirty="0"/>
              <a:t> </a:t>
            </a:r>
            <a:r>
              <a:rPr dirty="0"/>
              <a:t>connect</a:t>
            </a:r>
            <a:r>
              <a:rPr spc="-30" dirty="0"/>
              <a:t> </a:t>
            </a:r>
            <a:r>
              <a:rPr dirty="0"/>
              <a:t>over</a:t>
            </a:r>
            <a:r>
              <a:rPr spc="-30" dirty="0"/>
              <a:t> </a:t>
            </a:r>
            <a:r>
              <a:rPr spc="-25" dirty="0"/>
              <a:t>the 	</a:t>
            </a:r>
            <a:r>
              <a:rPr dirty="0"/>
              <a:t>Internet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cloud</a:t>
            </a:r>
            <a:r>
              <a:rPr spc="-25" dirty="0"/>
              <a:t> </a:t>
            </a:r>
            <a:r>
              <a:rPr dirty="0"/>
              <a:t>from</a:t>
            </a:r>
            <a:r>
              <a:rPr spc="-25" dirty="0"/>
              <a:t> </a:t>
            </a:r>
            <a:r>
              <a:rPr spc="-10" dirty="0"/>
              <a:t>their 	</a:t>
            </a:r>
            <a:r>
              <a:rPr dirty="0">
                <a:solidFill>
                  <a:srgbClr val="FF0000"/>
                </a:solidFill>
              </a:rPr>
              <a:t>own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personal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computers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or 	</a:t>
            </a:r>
            <a:r>
              <a:rPr dirty="0">
                <a:solidFill>
                  <a:srgbClr val="FF0000"/>
                </a:solidFill>
              </a:rPr>
              <a:t>portable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devices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order</a:t>
            </a:r>
            <a:r>
              <a:rPr spc="-30" dirty="0"/>
              <a:t> </a:t>
            </a:r>
            <a:r>
              <a:rPr spc="-25" dirty="0"/>
              <a:t>to 	</a:t>
            </a:r>
            <a:r>
              <a:rPr dirty="0"/>
              <a:t>access</a:t>
            </a:r>
            <a:r>
              <a:rPr spc="-30" dirty="0"/>
              <a:t> </a:t>
            </a:r>
            <a:r>
              <a:rPr spc="-10" dirty="0"/>
              <a:t>services.</a:t>
            </a:r>
          </a:p>
          <a:p>
            <a:pPr marL="187960" marR="5080" indent="-175895">
              <a:lnSpc>
                <a:spcPct val="89800"/>
              </a:lnSpc>
              <a:spcBef>
                <a:spcPts val="940"/>
              </a:spcBef>
              <a:buFont typeface="Arial"/>
              <a:buChar char="▪"/>
              <a:tabLst>
                <a:tab pos="189230" algn="l"/>
              </a:tabLst>
            </a:pPr>
            <a:r>
              <a:rPr dirty="0"/>
              <a:t>To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end-user,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-10" dirty="0">
                <a:solidFill>
                  <a:srgbClr val="FF0000"/>
                </a:solidFill>
              </a:rPr>
              <a:t>underlying 	</a:t>
            </a:r>
            <a:r>
              <a:rPr dirty="0">
                <a:solidFill>
                  <a:srgbClr val="FF0000"/>
                </a:solidFill>
              </a:rPr>
              <a:t>infrastructure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/>
              <a:t>such</a:t>
            </a:r>
            <a:r>
              <a:rPr spc="-25" dirty="0"/>
              <a:t> </a:t>
            </a:r>
            <a:r>
              <a:rPr dirty="0"/>
              <a:t>as</a:t>
            </a:r>
            <a:r>
              <a:rPr spc="-25" dirty="0"/>
              <a:t> the 	</a:t>
            </a:r>
            <a:r>
              <a:rPr dirty="0"/>
              <a:t>hardware, operating system, </a:t>
            </a:r>
            <a:r>
              <a:rPr spc="-10" dirty="0"/>
              <a:t>etc., 	</a:t>
            </a:r>
            <a:r>
              <a:rPr dirty="0"/>
              <a:t>is</a:t>
            </a:r>
            <a:r>
              <a:rPr spc="-5" dirty="0"/>
              <a:t> </a:t>
            </a:r>
            <a:r>
              <a:rPr spc="-10" dirty="0">
                <a:solidFill>
                  <a:srgbClr val="FF0000"/>
                </a:solidFill>
              </a:rPr>
              <a:t>invisible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494207" y="1228572"/>
            <a:ext cx="1511300" cy="977265"/>
            <a:chOff x="8494207" y="1228572"/>
            <a:chExt cx="1511300" cy="977265"/>
          </a:xfrm>
        </p:grpSpPr>
        <p:sp>
          <p:nvSpPr>
            <p:cNvPr id="5" name="object 5"/>
            <p:cNvSpPr/>
            <p:nvPr/>
          </p:nvSpPr>
          <p:spPr>
            <a:xfrm>
              <a:off x="8815657" y="1228572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4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92005" y="126816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9"/>
                  </a:moveTo>
                  <a:lnTo>
                    <a:pt x="13942" y="43865"/>
                  </a:lnTo>
                  <a:lnTo>
                    <a:pt x="6687" y="38972"/>
                  </a:lnTo>
                  <a:lnTo>
                    <a:pt x="1794" y="31715"/>
                  </a:lnTo>
                  <a:lnTo>
                    <a:pt x="0" y="22829"/>
                  </a:lnTo>
                  <a:lnTo>
                    <a:pt x="1794" y="13943"/>
                  </a:lnTo>
                  <a:lnTo>
                    <a:pt x="6687" y="6687"/>
                  </a:lnTo>
                  <a:lnTo>
                    <a:pt x="13942" y="1794"/>
                  </a:lnTo>
                  <a:lnTo>
                    <a:pt x="22824" y="0"/>
                  </a:lnTo>
                  <a:lnTo>
                    <a:pt x="28899" y="0"/>
                  </a:lnTo>
                  <a:lnTo>
                    <a:pt x="34699" y="2404"/>
                  </a:lnTo>
                  <a:lnTo>
                    <a:pt x="43249" y="10967"/>
                  </a:lnTo>
                  <a:lnTo>
                    <a:pt x="45674" y="16774"/>
                  </a:lnTo>
                  <a:lnTo>
                    <a:pt x="45674" y="22829"/>
                  </a:lnTo>
                  <a:lnTo>
                    <a:pt x="43879" y="31715"/>
                  </a:lnTo>
                  <a:lnTo>
                    <a:pt x="38984" y="38972"/>
                  </a:lnTo>
                  <a:lnTo>
                    <a:pt x="31721" y="43865"/>
                  </a:lnTo>
                  <a:lnTo>
                    <a:pt x="22824" y="4565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6046" y="1369808"/>
              <a:ext cx="1188085" cy="679450"/>
            </a:xfrm>
            <a:custGeom>
              <a:avLst/>
              <a:gdLst/>
              <a:ahLst/>
              <a:cxnLst/>
              <a:rect l="l" t="t" r="r" b="b"/>
              <a:pathLst>
                <a:path w="1188084" h="679450">
                  <a:moveTo>
                    <a:pt x="1185227" y="0"/>
                  </a:moveTo>
                  <a:lnTo>
                    <a:pt x="317779" y="0"/>
                  </a:lnTo>
                  <a:lnTo>
                    <a:pt x="317779" y="15405"/>
                  </a:lnTo>
                  <a:lnTo>
                    <a:pt x="0" y="15405"/>
                  </a:lnTo>
                  <a:lnTo>
                    <a:pt x="0" y="136207"/>
                  </a:lnTo>
                  <a:lnTo>
                    <a:pt x="867422" y="136207"/>
                  </a:lnTo>
                  <a:lnTo>
                    <a:pt x="867422" y="120802"/>
                  </a:lnTo>
                  <a:lnTo>
                    <a:pt x="1185227" y="120802"/>
                  </a:lnTo>
                  <a:lnTo>
                    <a:pt x="1185227" y="0"/>
                  </a:lnTo>
                  <a:close/>
                </a:path>
                <a:path w="1188084" h="679450">
                  <a:moveTo>
                    <a:pt x="1187526" y="558050"/>
                  </a:moveTo>
                  <a:lnTo>
                    <a:pt x="320103" y="558050"/>
                  </a:lnTo>
                  <a:lnTo>
                    <a:pt x="320103" y="678853"/>
                  </a:lnTo>
                  <a:lnTo>
                    <a:pt x="1187526" y="678853"/>
                  </a:lnTo>
                  <a:lnTo>
                    <a:pt x="1187526" y="558050"/>
                  </a:lnTo>
                  <a:close/>
                </a:path>
                <a:path w="1188084" h="679450">
                  <a:moveTo>
                    <a:pt x="1187526" y="418287"/>
                  </a:moveTo>
                  <a:lnTo>
                    <a:pt x="320103" y="418287"/>
                  </a:lnTo>
                  <a:lnTo>
                    <a:pt x="320103" y="539089"/>
                  </a:lnTo>
                  <a:lnTo>
                    <a:pt x="1187526" y="539089"/>
                  </a:lnTo>
                  <a:lnTo>
                    <a:pt x="1187526" y="418287"/>
                  </a:lnTo>
                  <a:close/>
                </a:path>
                <a:path w="1188084" h="679450">
                  <a:moveTo>
                    <a:pt x="1187526" y="278536"/>
                  </a:moveTo>
                  <a:lnTo>
                    <a:pt x="320103" y="278536"/>
                  </a:lnTo>
                  <a:lnTo>
                    <a:pt x="320103" y="399338"/>
                  </a:lnTo>
                  <a:lnTo>
                    <a:pt x="1187526" y="399338"/>
                  </a:lnTo>
                  <a:lnTo>
                    <a:pt x="1187526" y="278536"/>
                  </a:lnTo>
                  <a:close/>
                </a:path>
                <a:path w="1188084" h="679450">
                  <a:moveTo>
                    <a:pt x="1187526" y="138772"/>
                  </a:moveTo>
                  <a:lnTo>
                    <a:pt x="320103" y="138772"/>
                  </a:lnTo>
                  <a:lnTo>
                    <a:pt x="320103" y="259575"/>
                  </a:lnTo>
                  <a:lnTo>
                    <a:pt x="1187526" y="259575"/>
                  </a:lnTo>
                  <a:lnTo>
                    <a:pt x="1187526" y="138772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046" y="1403692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60" y="63461"/>
                  </a:moveTo>
                  <a:lnTo>
                    <a:pt x="0" y="63461"/>
                  </a:lnTo>
                  <a:lnTo>
                    <a:pt x="0" y="85318"/>
                  </a:lnTo>
                  <a:lnTo>
                    <a:pt x="405460" y="85318"/>
                  </a:lnTo>
                  <a:lnTo>
                    <a:pt x="405460" y="63461"/>
                  </a:lnTo>
                  <a:close/>
                </a:path>
                <a:path w="406400" h="85725">
                  <a:moveTo>
                    <a:pt x="405460" y="0"/>
                  </a:moveTo>
                  <a:lnTo>
                    <a:pt x="0" y="0"/>
                  </a:lnTo>
                  <a:lnTo>
                    <a:pt x="0" y="21856"/>
                  </a:lnTo>
                  <a:lnTo>
                    <a:pt x="405460" y="21856"/>
                  </a:lnTo>
                  <a:lnTo>
                    <a:pt x="405460" y="0"/>
                  </a:lnTo>
                  <a:close/>
                </a:path>
                <a:path w="406400" h="85725">
                  <a:moveTo>
                    <a:pt x="405955" y="31737"/>
                  </a:moveTo>
                  <a:lnTo>
                    <a:pt x="508" y="31737"/>
                  </a:lnTo>
                  <a:lnTo>
                    <a:pt x="508" y="53581"/>
                  </a:lnTo>
                  <a:lnTo>
                    <a:pt x="405955" y="53581"/>
                  </a:lnTo>
                  <a:lnTo>
                    <a:pt x="405955" y="317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94207" y="1526431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94204" y="1544929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96532" y="1665211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96528" y="1683702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96532" y="1804968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96528" y="1823465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96532" y="1944726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96528" y="1963216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96532" y="2084483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96528" y="2102980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37406" y="1380972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4">
                  <a:moveTo>
                    <a:pt x="867423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23" y="0"/>
                  </a:lnTo>
                  <a:lnTo>
                    <a:pt x="867423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13755" y="142056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9"/>
                  </a:moveTo>
                  <a:lnTo>
                    <a:pt x="13932" y="43865"/>
                  </a:lnTo>
                  <a:lnTo>
                    <a:pt x="6678" y="38972"/>
                  </a:lnTo>
                  <a:lnTo>
                    <a:pt x="1791" y="31715"/>
                  </a:lnTo>
                  <a:lnTo>
                    <a:pt x="0" y="22829"/>
                  </a:lnTo>
                  <a:lnTo>
                    <a:pt x="1791" y="13943"/>
                  </a:lnTo>
                  <a:lnTo>
                    <a:pt x="6678" y="6687"/>
                  </a:lnTo>
                  <a:lnTo>
                    <a:pt x="13932" y="1794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74" y="2404"/>
                  </a:lnTo>
                  <a:lnTo>
                    <a:pt x="43249" y="10967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5" y="31715"/>
                  </a:lnTo>
                  <a:lnTo>
                    <a:pt x="38962" y="38972"/>
                  </a:lnTo>
                  <a:lnTo>
                    <a:pt x="31706" y="43865"/>
                  </a:lnTo>
                  <a:lnTo>
                    <a:pt x="22824" y="4565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37396" y="1399463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47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47" y="85305"/>
                  </a:lnTo>
                  <a:lnTo>
                    <a:pt x="405447" y="63461"/>
                  </a:lnTo>
                  <a:close/>
                </a:path>
                <a:path w="406400" h="85725">
                  <a:moveTo>
                    <a:pt x="405447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47" y="21844"/>
                  </a:lnTo>
                  <a:lnTo>
                    <a:pt x="405447" y="0"/>
                  </a:lnTo>
                  <a:close/>
                </a:path>
                <a:path w="406400" h="85725">
                  <a:moveTo>
                    <a:pt x="405955" y="31737"/>
                  </a:moveTo>
                  <a:lnTo>
                    <a:pt x="508" y="31737"/>
                  </a:lnTo>
                  <a:lnTo>
                    <a:pt x="508" y="53581"/>
                  </a:lnTo>
                  <a:lnTo>
                    <a:pt x="405955" y="53581"/>
                  </a:lnTo>
                  <a:lnTo>
                    <a:pt x="405955" y="317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35556" y="1522196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911905" y="1561794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7"/>
                  </a:moveTo>
                  <a:lnTo>
                    <a:pt x="13942" y="43863"/>
                  </a:lnTo>
                  <a:lnTo>
                    <a:pt x="6687" y="38971"/>
                  </a:lnTo>
                  <a:lnTo>
                    <a:pt x="1794" y="31715"/>
                  </a:lnTo>
                  <a:lnTo>
                    <a:pt x="0" y="22829"/>
                  </a:lnTo>
                  <a:lnTo>
                    <a:pt x="1794" y="13942"/>
                  </a:lnTo>
                  <a:lnTo>
                    <a:pt x="6687" y="6686"/>
                  </a:lnTo>
                  <a:lnTo>
                    <a:pt x="13942" y="1793"/>
                  </a:lnTo>
                  <a:lnTo>
                    <a:pt x="22824" y="0"/>
                  </a:lnTo>
                  <a:lnTo>
                    <a:pt x="28899" y="0"/>
                  </a:lnTo>
                  <a:lnTo>
                    <a:pt x="34699" y="2404"/>
                  </a:lnTo>
                  <a:lnTo>
                    <a:pt x="43249" y="10967"/>
                  </a:lnTo>
                  <a:lnTo>
                    <a:pt x="45674" y="16774"/>
                  </a:lnTo>
                  <a:lnTo>
                    <a:pt x="45674" y="22829"/>
                  </a:lnTo>
                  <a:lnTo>
                    <a:pt x="43879" y="31715"/>
                  </a:lnTo>
                  <a:lnTo>
                    <a:pt x="38984" y="38971"/>
                  </a:lnTo>
                  <a:lnTo>
                    <a:pt x="31721" y="43863"/>
                  </a:lnTo>
                  <a:lnTo>
                    <a:pt x="22824" y="45657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135554" y="1540687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37881" y="1660976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914230" y="1700574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7"/>
                  </a:moveTo>
                  <a:lnTo>
                    <a:pt x="13942" y="43863"/>
                  </a:lnTo>
                  <a:lnTo>
                    <a:pt x="6687" y="38971"/>
                  </a:lnTo>
                  <a:lnTo>
                    <a:pt x="1794" y="31715"/>
                  </a:lnTo>
                  <a:lnTo>
                    <a:pt x="0" y="22829"/>
                  </a:lnTo>
                  <a:lnTo>
                    <a:pt x="1794" y="13942"/>
                  </a:lnTo>
                  <a:lnTo>
                    <a:pt x="6687" y="6686"/>
                  </a:lnTo>
                  <a:lnTo>
                    <a:pt x="13942" y="1793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99" y="2404"/>
                  </a:lnTo>
                  <a:lnTo>
                    <a:pt x="43249" y="10967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5" y="31715"/>
                  </a:lnTo>
                  <a:lnTo>
                    <a:pt x="38962" y="38971"/>
                  </a:lnTo>
                  <a:lnTo>
                    <a:pt x="31706" y="43863"/>
                  </a:lnTo>
                  <a:lnTo>
                    <a:pt x="22824" y="45657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137879" y="1679473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137881" y="1800736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914230" y="1840331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9"/>
                  </a:moveTo>
                  <a:lnTo>
                    <a:pt x="13942" y="43866"/>
                  </a:lnTo>
                  <a:lnTo>
                    <a:pt x="6687" y="38973"/>
                  </a:lnTo>
                  <a:lnTo>
                    <a:pt x="1794" y="31716"/>
                  </a:lnTo>
                  <a:lnTo>
                    <a:pt x="0" y="22829"/>
                  </a:lnTo>
                  <a:lnTo>
                    <a:pt x="1794" y="13943"/>
                  </a:lnTo>
                  <a:lnTo>
                    <a:pt x="6687" y="6687"/>
                  </a:lnTo>
                  <a:lnTo>
                    <a:pt x="13942" y="1794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99" y="2407"/>
                  </a:lnTo>
                  <a:lnTo>
                    <a:pt x="43249" y="10969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8" y="31716"/>
                  </a:lnTo>
                  <a:lnTo>
                    <a:pt x="38971" y="38973"/>
                  </a:lnTo>
                  <a:lnTo>
                    <a:pt x="31717" y="43866"/>
                  </a:lnTo>
                  <a:lnTo>
                    <a:pt x="22824" y="4565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37879" y="1819223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56"/>
                  </a:lnTo>
                  <a:lnTo>
                    <a:pt x="405472" y="21856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37"/>
                  </a:moveTo>
                  <a:lnTo>
                    <a:pt x="495" y="31737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137881" y="1940491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7"/>
                  </a:moveTo>
                  <a:lnTo>
                    <a:pt x="0" y="120807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914230" y="1980088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7"/>
                  </a:moveTo>
                  <a:lnTo>
                    <a:pt x="13942" y="43863"/>
                  </a:lnTo>
                  <a:lnTo>
                    <a:pt x="6687" y="38971"/>
                  </a:lnTo>
                  <a:lnTo>
                    <a:pt x="1794" y="31715"/>
                  </a:lnTo>
                  <a:lnTo>
                    <a:pt x="0" y="22829"/>
                  </a:lnTo>
                  <a:lnTo>
                    <a:pt x="1794" y="13942"/>
                  </a:lnTo>
                  <a:lnTo>
                    <a:pt x="6687" y="6686"/>
                  </a:lnTo>
                  <a:lnTo>
                    <a:pt x="13942" y="1793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99" y="2404"/>
                  </a:lnTo>
                  <a:lnTo>
                    <a:pt x="43249" y="10967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5" y="31715"/>
                  </a:lnTo>
                  <a:lnTo>
                    <a:pt x="38962" y="38971"/>
                  </a:lnTo>
                  <a:lnTo>
                    <a:pt x="31706" y="43863"/>
                  </a:lnTo>
                  <a:lnTo>
                    <a:pt x="22824" y="45657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137879" y="1958987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49"/>
                  </a:moveTo>
                  <a:lnTo>
                    <a:pt x="0" y="63449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49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44"/>
                  </a:lnTo>
                  <a:lnTo>
                    <a:pt x="405472" y="21844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24"/>
                  </a:moveTo>
                  <a:lnTo>
                    <a:pt x="495" y="31724"/>
                  </a:lnTo>
                  <a:lnTo>
                    <a:pt x="495" y="53568"/>
                  </a:lnTo>
                  <a:lnTo>
                    <a:pt x="405968" y="53568"/>
                  </a:lnTo>
                  <a:lnTo>
                    <a:pt x="405968" y="3172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137881" y="2080250"/>
              <a:ext cx="868044" cy="121285"/>
            </a:xfrm>
            <a:custGeom>
              <a:avLst/>
              <a:gdLst/>
              <a:ahLst/>
              <a:cxnLst/>
              <a:rect l="l" t="t" r="r" b="b"/>
              <a:pathLst>
                <a:path w="868045" h="121285">
                  <a:moveTo>
                    <a:pt x="867448" y="120804"/>
                  </a:moveTo>
                  <a:lnTo>
                    <a:pt x="0" y="120804"/>
                  </a:lnTo>
                  <a:lnTo>
                    <a:pt x="0" y="0"/>
                  </a:lnTo>
                  <a:lnTo>
                    <a:pt x="867448" y="0"/>
                  </a:lnTo>
                  <a:lnTo>
                    <a:pt x="867448" y="12080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914230" y="2119845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24" y="45659"/>
                  </a:moveTo>
                  <a:lnTo>
                    <a:pt x="13942" y="43866"/>
                  </a:lnTo>
                  <a:lnTo>
                    <a:pt x="6687" y="38973"/>
                  </a:lnTo>
                  <a:lnTo>
                    <a:pt x="1794" y="31716"/>
                  </a:lnTo>
                  <a:lnTo>
                    <a:pt x="0" y="22829"/>
                  </a:lnTo>
                  <a:lnTo>
                    <a:pt x="1794" y="13943"/>
                  </a:lnTo>
                  <a:lnTo>
                    <a:pt x="6687" y="6687"/>
                  </a:lnTo>
                  <a:lnTo>
                    <a:pt x="13942" y="1794"/>
                  </a:lnTo>
                  <a:lnTo>
                    <a:pt x="22824" y="0"/>
                  </a:lnTo>
                  <a:lnTo>
                    <a:pt x="28874" y="0"/>
                  </a:lnTo>
                  <a:lnTo>
                    <a:pt x="34699" y="2407"/>
                  </a:lnTo>
                  <a:lnTo>
                    <a:pt x="43249" y="10969"/>
                  </a:lnTo>
                  <a:lnTo>
                    <a:pt x="45649" y="16774"/>
                  </a:lnTo>
                  <a:lnTo>
                    <a:pt x="45649" y="22829"/>
                  </a:lnTo>
                  <a:lnTo>
                    <a:pt x="43858" y="31716"/>
                  </a:lnTo>
                  <a:lnTo>
                    <a:pt x="38971" y="38973"/>
                  </a:lnTo>
                  <a:lnTo>
                    <a:pt x="31717" y="43866"/>
                  </a:lnTo>
                  <a:lnTo>
                    <a:pt x="22824" y="4565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137879" y="2098738"/>
              <a:ext cx="406400" cy="85725"/>
            </a:xfrm>
            <a:custGeom>
              <a:avLst/>
              <a:gdLst/>
              <a:ahLst/>
              <a:cxnLst/>
              <a:rect l="l" t="t" r="r" b="b"/>
              <a:pathLst>
                <a:path w="406400" h="85725">
                  <a:moveTo>
                    <a:pt x="405472" y="63461"/>
                  </a:moveTo>
                  <a:lnTo>
                    <a:pt x="0" y="63461"/>
                  </a:lnTo>
                  <a:lnTo>
                    <a:pt x="0" y="85305"/>
                  </a:lnTo>
                  <a:lnTo>
                    <a:pt x="405472" y="85305"/>
                  </a:lnTo>
                  <a:lnTo>
                    <a:pt x="405472" y="63461"/>
                  </a:lnTo>
                  <a:close/>
                </a:path>
                <a:path w="406400" h="85725">
                  <a:moveTo>
                    <a:pt x="405472" y="0"/>
                  </a:moveTo>
                  <a:lnTo>
                    <a:pt x="0" y="0"/>
                  </a:lnTo>
                  <a:lnTo>
                    <a:pt x="0" y="21856"/>
                  </a:lnTo>
                  <a:lnTo>
                    <a:pt x="405472" y="21856"/>
                  </a:lnTo>
                  <a:lnTo>
                    <a:pt x="405472" y="0"/>
                  </a:lnTo>
                  <a:close/>
                </a:path>
                <a:path w="406400" h="85725">
                  <a:moveTo>
                    <a:pt x="405968" y="31737"/>
                  </a:moveTo>
                  <a:lnTo>
                    <a:pt x="495" y="31737"/>
                  </a:lnTo>
                  <a:lnTo>
                    <a:pt x="495" y="53581"/>
                  </a:lnTo>
                  <a:lnTo>
                    <a:pt x="405968" y="53581"/>
                  </a:lnTo>
                  <a:lnTo>
                    <a:pt x="405968" y="3173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807669" y="2215250"/>
            <a:ext cx="87603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Servers</a:t>
            </a:r>
            <a:endParaRPr sz="1800" dirty="0">
              <a:latin typeface="Carlito"/>
              <a:cs typeface="Carli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484136" y="2103748"/>
            <a:ext cx="1248410" cy="710565"/>
            <a:chOff x="6484136" y="2103748"/>
            <a:chExt cx="1248410" cy="710565"/>
          </a:xfrm>
        </p:grpSpPr>
        <p:sp>
          <p:nvSpPr>
            <p:cNvPr id="39" name="object 39"/>
            <p:cNvSpPr/>
            <p:nvPr/>
          </p:nvSpPr>
          <p:spPr>
            <a:xfrm>
              <a:off x="6484136" y="2103748"/>
              <a:ext cx="923925" cy="431800"/>
            </a:xfrm>
            <a:custGeom>
              <a:avLst/>
              <a:gdLst/>
              <a:ahLst/>
              <a:cxnLst/>
              <a:rect l="l" t="t" r="r" b="b"/>
              <a:pathLst>
                <a:path w="923925" h="431800">
                  <a:moveTo>
                    <a:pt x="923823" y="431696"/>
                  </a:moveTo>
                  <a:lnTo>
                    <a:pt x="107924" y="431696"/>
                  </a:lnTo>
                  <a:lnTo>
                    <a:pt x="0" y="0"/>
                  </a:lnTo>
                  <a:lnTo>
                    <a:pt x="815898" y="0"/>
                  </a:lnTo>
                  <a:lnTo>
                    <a:pt x="923823" y="431696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14136" y="2138873"/>
              <a:ext cx="873760" cy="384810"/>
            </a:xfrm>
            <a:custGeom>
              <a:avLst/>
              <a:gdLst/>
              <a:ahLst/>
              <a:cxnLst/>
              <a:rect l="l" t="t" r="r" b="b"/>
              <a:pathLst>
                <a:path w="873759" h="384810">
                  <a:moveTo>
                    <a:pt x="873223" y="384596"/>
                  </a:moveTo>
                  <a:lnTo>
                    <a:pt x="96149" y="384596"/>
                  </a:lnTo>
                  <a:lnTo>
                    <a:pt x="0" y="0"/>
                  </a:lnTo>
                  <a:lnTo>
                    <a:pt x="777073" y="0"/>
                  </a:lnTo>
                  <a:lnTo>
                    <a:pt x="873223" y="384596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93461" y="2535444"/>
              <a:ext cx="1139190" cy="278765"/>
            </a:xfrm>
            <a:custGeom>
              <a:avLst/>
              <a:gdLst/>
              <a:ahLst/>
              <a:cxnLst/>
              <a:rect l="l" t="t" r="r" b="b"/>
              <a:pathLst>
                <a:path w="1139190" h="278764">
                  <a:moveTo>
                    <a:pt x="1138847" y="278749"/>
                  </a:moveTo>
                  <a:lnTo>
                    <a:pt x="324099" y="278749"/>
                  </a:lnTo>
                  <a:lnTo>
                    <a:pt x="0" y="0"/>
                  </a:lnTo>
                  <a:lnTo>
                    <a:pt x="814773" y="0"/>
                  </a:lnTo>
                  <a:lnTo>
                    <a:pt x="1138847" y="27874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690586" y="2581269"/>
              <a:ext cx="872490" cy="120650"/>
            </a:xfrm>
            <a:custGeom>
              <a:avLst/>
              <a:gdLst/>
              <a:ahLst/>
              <a:cxnLst/>
              <a:rect l="l" t="t" r="r" b="b"/>
              <a:pathLst>
                <a:path w="872490" h="120650">
                  <a:moveTo>
                    <a:pt x="872223" y="120649"/>
                  </a:moveTo>
                  <a:lnTo>
                    <a:pt x="140274" y="120649"/>
                  </a:lnTo>
                  <a:lnTo>
                    <a:pt x="0" y="0"/>
                  </a:lnTo>
                  <a:lnTo>
                    <a:pt x="731948" y="0"/>
                  </a:lnTo>
                  <a:lnTo>
                    <a:pt x="872223" y="120649"/>
                  </a:lnTo>
                  <a:close/>
                </a:path>
              </a:pathLst>
            </a:custGeom>
            <a:solidFill>
              <a:srgbClr val="8C87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96460" y="2713894"/>
              <a:ext cx="318135" cy="60325"/>
            </a:xfrm>
            <a:custGeom>
              <a:avLst/>
              <a:gdLst/>
              <a:ahLst/>
              <a:cxnLst/>
              <a:rect l="l" t="t" r="r" b="b"/>
              <a:pathLst>
                <a:path w="318134" h="60325">
                  <a:moveTo>
                    <a:pt x="317924" y="60324"/>
                  </a:moveTo>
                  <a:lnTo>
                    <a:pt x="70149" y="60324"/>
                  </a:lnTo>
                  <a:lnTo>
                    <a:pt x="0" y="0"/>
                  </a:lnTo>
                  <a:lnTo>
                    <a:pt x="247774" y="0"/>
                  </a:lnTo>
                  <a:lnTo>
                    <a:pt x="317924" y="60324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504739" y="2896819"/>
            <a:ext cx="90985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Laptops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198309" y="2771673"/>
            <a:ext cx="4390390" cy="1682114"/>
          </a:xfrm>
          <a:custGeom>
            <a:avLst/>
            <a:gdLst/>
            <a:ahLst/>
            <a:cxnLst/>
            <a:rect l="l" t="t" r="r" b="b"/>
            <a:pathLst>
              <a:path w="4390390" h="1682114">
                <a:moveTo>
                  <a:pt x="4389958" y="1305318"/>
                </a:moveTo>
                <a:lnTo>
                  <a:pt x="4386999" y="1258023"/>
                </a:lnTo>
                <a:lnTo>
                  <a:pt x="4378350" y="1212545"/>
                </a:lnTo>
                <a:lnTo>
                  <a:pt x="4364380" y="1169225"/>
                </a:lnTo>
                <a:lnTo>
                  <a:pt x="4345444" y="1128407"/>
                </a:lnTo>
                <a:lnTo>
                  <a:pt x="4321899" y="1090447"/>
                </a:lnTo>
                <a:lnTo>
                  <a:pt x="4294124" y="1055662"/>
                </a:lnTo>
                <a:lnTo>
                  <a:pt x="4262463" y="1024420"/>
                </a:lnTo>
                <a:lnTo>
                  <a:pt x="4227284" y="997038"/>
                </a:lnTo>
                <a:lnTo>
                  <a:pt x="4188955" y="973874"/>
                </a:lnTo>
                <a:lnTo>
                  <a:pt x="4147820" y="955255"/>
                </a:lnTo>
                <a:lnTo>
                  <a:pt x="4147477" y="955154"/>
                </a:lnTo>
                <a:lnTo>
                  <a:pt x="4132757" y="950518"/>
                </a:lnTo>
                <a:lnTo>
                  <a:pt x="4104246" y="941539"/>
                </a:lnTo>
                <a:lnTo>
                  <a:pt x="4103801" y="941387"/>
                </a:lnTo>
                <a:lnTo>
                  <a:pt x="4058018" y="932865"/>
                </a:lnTo>
                <a:lnTo>
                  <a:pt x="4010507" y="929944"/>
                </a:lnTo>
                <a:lnTo>
                  <a:pt x="3963174" y="932929"/>
                </a:lnTo>
                <a:lnTo>
                  <a:pt x="3941330" y="937082"/>
                </a:lnTo>
                <a:lnTo>
                  <a:pt x="3918039" y="941311"/>
                </a:lnTo>
                <a:lnTo>
                  <a:pt x="3874579" y="954760"/>
                </a:lnTo>
                <a:lnTo>
                  <a:pt x="3833787" y="973023"/>
                </a:lnTo>
                <a:lnTo>
                  <a:pt x="3823741" y="926630"/>
                </a:lnTo>
                <a:lnTo>
                  <a:pt x="3809466" y="881926"/>
                </a:lnTo>
                <a:lnTo>
                  <a:pt x="3791166" y="839127"/>
                </a:lnTo>
                <a:lnTo>
                  <a:pt x="3769080" y="798461"/>
                </a:lnTo>
                <a:lnTo>
                  <a:pt x="3743401" y="760158"/>
                </a:lnTo>
                <a:lnTo>
                  <a:pt x="3714369" y="724433"/>
                </a:lnTo>
                <a:lnTo>
                  <a:pt x="3682174" y="691515"/>
                </a:lnTo>
                <a:lnTo>
                  <a:pt x="3647046" y="661631"/>
                </a:lnTo>
                <a:lnTo>
                  <a:pt x="3609200" y="635000"/>
                </a:lnTo>
                <a:lnTo>
                  <a:pt x="3568852" y="611847"/>
                </a:lnTo>
                <a:lnTo>
                  <a:pt x="3526218" y="592404"/>
                </a:lnTo>
                <a:lnTo>
                  <a:pt x="3481514" y="576897"/>
                </a:lnTo>
                <a:lnTo>
                  <a:pt x="3434956" y="565531"/>
                </a:lnTo>
                <a:lnTo>
                  <a:pt x="3386759" y="558558"/>
                </a:lnTo>
                <a:lnTo>
                  <a:pt x="3337141" y="556171"/>
                </a:lnTo>
                <a:lnTo>
                  <a:pt x="3283597" y="559003"/>
                </a:lnTo>
                <a:lnTo>
                  <a:pt x="3231591" y="567245"/>
                </a:lnTo>
                <a:lnTo>
                  <a:pt x="3181426" y="580593"/>
                </a:lnTo>
                <a:lnTo>
                  <a:pt x="3133445" y="598703"/>
                </a:lnTo>
                <a:lnTo>
                  <a:pt x="3087967" y="621258"/>
                </a:lnTo>
                <a:lnTo>
                  <a:pt x="3081629" y="625221"/>
                </a:lnTo>
                <a:lnTo>
                  <a:pt x="3045282" y="647776"/>
                </a:lnTo>
                <a:lnTo>
                  <a:pt x="3030651" y="603516"/>
                </a:lnTo>
                <a:lnTo>
                  <a:pt x="3012871" y="560603"/>
                </a:lnTo>
                <a:lnTo>
                  <a:pt x="2992145" y="519264"/>
                </a:lnTo>
                <a:lnTo>
                  <a:pt x="2968574" y="479640"/>
                </a:lnTo>
                <a:lnTo>
                  <a:pt x="2942323" y="441871"/>
                </a:lnTo>
                <a:lnTo>
                  <a:pt x="2913494" y="406082"/>
                </a:lnTo>
                <a:lnTo>
                  <a:pt x="2882239" y="372389"/>
                </a:lnTo>
                <a:lnTo>
                  <a:pt x="2848686" y="340956"/>
                </a:lnTo>
                <a:lnTo>
                  <a:pt x="2812961" y="311886"/>
                </a:lnTo>
                <a:lnTo>
                  <a:pt x="2775191" y="285318"/>
                </a:lnTo>
                <a:lnTo>
                  <a:pt x="2735516" y="261391"/>
                </a:lnTo>
                <a:lnTo>
                  <a:pt x="2694051" y="240220"/>
                </a:lnTo>
                <a:lnTo>
                  <a:pt x="2650947" y="221957"/>
                </a:lnTo>
                <a:lnTo>
                  <a:pt x="2606332" y="206717"/>
                </a:lnTo>
                <a:lnTo>
                  <a:pt x="2560332" y="194640"/>
                </a:lnTo>
                <a:lnTo>
                  <a:pt x="2513063" y="185839"/>
                </a:lnTo>
                <a:lnTo>
                  <a:pt x="2464689" y="180467"/>
                </a:lnTo>
                <a:lnTo>
                  <a:pt x="2415311" y="178650"/>
                </a:lnTo>
                <a:lnTo>
                  <a:pt x="2414689" y="178676"/>
                </a:lnTo>
                <a:lnTo>
                  <a:pt x="2366391" y="180441"/>
                </a:lnTo>
                <a:lnTo>
                  <a:pt x="2366264" y="180467"/>
                </a:lnTo>
                <a:lnTo>
                  <a:pt x="2365933" y="180467"/>
                </a:lnTo>
                <a:lnTo>
                  <a:pt x="2318359" y="185737"/>
                </a:lnTo>
                <a:lnTo>
                  <a:pt x="2272220" y="194310"/>
                </a:lnTo>
                <a:lnTo>
                  <a:pt x="2272017" y="194335"/>
                </a:lnTo>
                <a:lnTo>
                  <a:pt x="2251837" y="199605"/>
                </a:lnTo>
                <a:lnTo>
                  <a:pt x="2227046" y="206044"/>
                </a:lnTo>
                <a:lnTo>
                  <a:pt x="2183219" y="220751"/>
                </a:lnTo>
                <a:lnTo>
                  <a:pt x="2140762" y="238277"/>
                </a:lnTo>
                <a:lnTo>
                  <a:pt x="2099716" y="258457"/>
                </a:lnTo>
                <a:lnTo>
                  <a:pt x="2065045" y="222478"/>
                </a:lnTo>
                <a:lnTo>
                  <a:pt x="2028151" y="188849"/>
                </a:lnTo>
                <a:lnTo>
                  <a:pt x="1989162" y="157645"/>
                </a:lnTo>
                <a:lnTo>
                  <a:pt x="1948192" y="128968"/>
                </a:lnTo>
                <a:lnTo>
                  <a:pt x="1905355" y="102908"/>
                </a:lnTo>
                <a:lnTo>
                  <a:pt x="1860765" y="79552"/>
                </a:lnTo>
                <a:lnTo>
                  <a:pt x="1814525" y="59016"/>
                </a:lnTo>
                <a:lnTo>
                  <a:pt x="1766760" y="41376"/>
                </a:lnTo>
                <a:lnTo>
                  <a:pt x="1717573" y="26733"/>
                </a:lnTo>
                <a:lnTo>
                  <a:pt x="1667090" y="15176"/>
                </a:lnTo>
                <a:lnTo>
                  <a:pt x="1615427" y="6807"/>
                </a:lnTo>
                <a:lnTo>
                  <a:pt x="1562684" y="1714"/>
                </a:lnTo>
                <a:lnTo>
                  <a:pt x="1508988" y="0"/>
                </a:lnTo>
                <a:lnTo>
                  <a:pt x="1508645" y="12"/>
                </a:lnTo>
                <a:lnTo>
                  <a:pt x="1508315" y="0"/>
                </a:lnTo>
                <a:lnTo>
                  <a:pt x="1457172" y="1600"/>
                </a:lnTo>
                <a:lnTo>
                  <a:pt x="1406855" y="6350"/>
                </a:lnTo>
                <a:lnTo>
                  <a:pt x="1357464" y="14147"/>
                </a:lnTo>
                <a:lnTo>
                  <a:pt x="1309090" y="24904"/>
                </a:lnTo>
                <a:lnTo>
                  <a:pt x="1261846" y="38531"/>
                </a:lnTo>
                <a:lnTo>
                  <a:pt x="1215847" y="54927"/>
                </a:lnTo>
                <a:lnTo>
                  <a:pt x="1171181" y="74002"/>
                </a:lnTo>
                <a:lnTo>
                  <a:pt x="1127963" y="95669"/>
                </a:lnTo>
                <a:lnTo>
                  <a:pt x="1086281" y="119824"/>
                </a:lnTo>
                <a:lnTo>
                  <a:pt x="1046264" y="146392"/>
                </a:lnTo>
                <a:lnTo>
                  <a:pt x="1007986" y="175260"/>
                </a:lnTo>
                <a:lnTo>
                  <a:pt x="971575" y="206336"/>
                </a:lnTo>
                <a:lnTo>
                  <a:pt x="937120" y="239547"/>
                </a:lnTo>
                <a:lnTo>
                  <a:pt x="904735" y="274789"/>
                </a:lnTo>
                <a:lnTo>
                  <a:pt x="874509" y="311962"/>
                </a:lnTo>
                <a:lnTo>
                  <a:pt x="846569" y="350977"/>
                </a:lnTo>
                <a:lnTo>
                  <a:pt x="821055" y="391655"/>
                </a:lnTo>
                <a:lnTo>
                  <a:pt x="781710" y="382447"/>
                </a:lnTo>
                <a:lnTo>
                  <a:pt x="741400" y="375754"/>
                </a:lnTo>
                <a:lnTo>
                  <a:pt x="700189" y="371741"/>
                </a:lnTo>
                <a:lnTo>
                  <a:pt x="657415" y="370395"/>
                </a:lnTo>
                <a:lnTo>
                  <a:pt x="608330" y="372198"/>
                </a:lnTo>
                <a:lnTo>
                  <a:pt x="560235" y="377520"/>
                </a:lnTo>
                <a:lnTo>
                  <a:pt x="513245" y="386232"/>
                </a:lnTo>
                <a:lnTo>
                  <a:pt x="467487" y="398208"/>
                </a:lnTo>
                <a:lnTo>
                  <a:pt x="423100" y="413321"/>
                </a:lnTo>
                <a:lnTo>
                  <a:pt x="380199" y="431431"/>
                </a:lnTo>
                <a:lnTo>
                  <a:pt x="338912" y="452424"/>
                </a:lnTo>
                <a:lnTo>
                  <a:pt x="299377" y="476161"/>
                </a:lnTo>
                <a:lnTo>
                  <a:pt x="261708" y="502526"/>
                </a:lnTo>
                <a:lnTo>
                  <a:pt x="226034" y="531380"/>
                </a:lnTo>
                <a:lnTo>
                  <a:pt x="192493" y="562597"/>
                </a:lnTo>
                <a:lnTo>
                  <a:pt x="161188" y="596049"/>
                </a:lnTo>
                <a:lnTo>
                  <a:pt x="132283" y="631621"/>
                </a:lnTo>
                <a:lnTo>
                  <a:pt x="105867" y="669163"/>
                </a:lnTo>
                <a:lnTo>
                  <a:pt x="82092" y="708558"/>
                </a:lnTo>
                <a:lnTo>
                  <a:pt x="61074" y="749681"/>
                </a:lnTo>
                <a:lnTo>
                  <a:pt x="42938" y="792391"/>
                </a:lnTo>
                <a:lnTo>
                  <a:pt x="27813" y="836574"/>
                </a:lnTo>
                <a:lnTo>
                  <a:pt x="15836" y="882103"/>
                </a:lnTo>
                <a:lnTo>
                  <a:pt x="7124" y="928839"/>
                </a:lnTo>
                <a:lnTo>
                  <a:pt x="1803" y="976655"/>
                </a:lnTo>
                <a:lnTo>
                  <a:pt x="0" y="1025423"/>
                </a:lnTo>
                <a:lnTo>
                  <a:pt x="12" y="1025804"/>
                </a:lnTo>
                <a:lnTo>
                  <a:pt x="0" y="1026172"/>
                </a:lnTo>
                <a:lnTo>
                  <a:pt x="1790" y="1075105"/>
                </a:lnTo>
                <a:lnTo>
                  <a:pt x="7112" y="1123061"/>
                </a:lnTo>
                <a:lnTo>
                  <a:pt x="15824" y="1169898"/>
                </a:lnTo>
                <a:lnTo>
                  <a:pt x="27813" y="1215517"/>
                </a:lnTo>
                <a:lnTo>
                  <a:pt x="42926" y="1259776"/>
                </a:lnTo>
                <a:lnTo>
                  <a:pt x="61061" y="1302550"/>
                </a:lnTo>
                <a:lnTo>
                  <a:pt x="82080" y="1343710"/>
                </a:lnTo>
                <a:lnTo>
                  <a:pt x="105854" y="1383131"/>
                </a:lnTo>
                <a:lnTo>
                  <a:pt x="132257" y="1420698"/>
                </a:lnTo>
                <a:lnTo>
                  <a:pt x="161188" y="1456296"/>
                </a:lnTo>
                <a:lnTo>
                  <a:pt x="192493" y="1489773"/>
                </a:lnTo>
                <a:lnTo>
                  <a:pt x="226034" y="1520977"/>
                </a:lnTo>
                <a:lnTo>
                  <a:pt x="261708" y="1549819"/>
                </a:lnTo>
                <a:lnTo>
                  <a:pt x="299377" y="1576158"/>
                </a:lnTo>
                <a:lnTo>
                  <a:pt x="338912" y="1599857"/>
                </a:lnTo>
                <a:lnTo>
                  <a:pt x="380199" y="1620812"/>
                </a:lnTo>
                <a:lnTo>
                  <a:pt x="423100" y="1638884"/>
                </a:lnTo>
                <a:lnTo>
                  <a:pt x="467487" y="1653959"/>
                </a:lnTo>
                <a:lnTo>
                  <a:pt x="513245" y="1665897"/>
                </a:lnTo>
                <a:lnTo>
                  <a:pt x="560235" y="1674571"/>
                </a:lnTo>
                <a:lnTo>
                  <a:pt x="608330" y="1679879"/>
                </a:lnTo>
                <a:lnTo>
                  <a:pt x="657415" y="1681670"/>
                </a:lnTo>
                <a:lnTo>
                  <a:pt x="657555" y="1681670"/>
                </a:lnTo>
                <a:lnTo>
                  <a:pt x="661581" y="1681657"/>
                </a:lnTo>
                <a:lnTo>
                  <a:pt x="669912" y="1681632"/>
                </a:lnTo>
                <a:lnTo>
                  <a:pt x="682282" y="1681378"/>
                </a:lnTo>
                <a:lnTo>
                  <a:pt x="694436" y="1680667"/>
                </a:lnTo>
                <a:lnTo>
                  <a:pt x="706272" y="1679270"/>
                </a:lnTo>
                <a:lnTo>
                  <a:pt x="3964787" y="1679270"/>
                </a:lnTo>
                <a:lnTo>
                  <a:pt x="3975735" y="1680667"/>
                </a:lnTo>
                <a:lnTo>
                  <a:pt x="3985463" y="1681276"/>
                </a:lnTo>
                <a:lnTo>
                  <a:pt x="3986644" y="1681353"/>
                </a:lnTo>
                <a:lnTo>
                  <a:pt x="3987127" y="1681378"/>
                </a:lnTo>
                <a:lnTo>
                  <a:pt x="3993985" y="1681530"/>
                </a:lnTo>
                <a:lnTo>
                  <a:pt x="3998518" y="1681632"/>
                </a:lnTo>
                <a:lnTo>
                  <a:pt x="4010507" y="1681670"/>
                </a:lnTo>
                <a:lnTo>
                  <a:pt x="4011231" y="1681670"/>
                </a:lnTo>
                <a:lnTo>
                  <a:pt x="4058602" y="1678749"/>
                </a:lnTo>
                <a:lnTo>
                  <a:pt x="4104246" y="1670215"/>
                </a:lnTo>
                <a:lnTo>
                  <a:pt x="4147820" y="1656410"/>
                </a:lnTo>
                <a:lnTo>
                  <a:pt x="4188955" y="1637690"/>
                </a:lnTo>
                <a:lnTo>
                  <a:pt x="4214584" y="1622120"/>
                </a:lnTo>
                <a:lnTo>
                  <a:pt x="4227106" y="1614538"/>
                </a:lnTo>
                <a:lnTo>
                  <a:pt x="4227284" y="1614398"/>
                </a:lnTo>
                <a:lnTo>
                  <a:pt x="4262348" y="1587080"/>
                </a:lnTo>
                <a:lnTo>
                  <a:pt x="4294048" y="1555737"/>
                </a:lnTo>
                <a:lnTo>
                  <a:pt x="4321861" y="1520888"/>
                </a:lnTo>
                <a:lnTo>
                  <a:pt x="4345419" y="1482839"/>
                </a:lnTo>
                <a:lnTo>
                  <a:pt x="4364367" y="1441970"/>
                </a:lnTo>
                <a:lnTo>
                  <a:pt x="4378350" y="1398612"/>
                </a:lnTo>
                <a:lnTo>
                  <a:pt x="4386999" y="1353121"/>
                </a:lnTo>
                <a:lnTo>
                  <a:pt x="4389958" y="1305826"/>
                </a:lnTo>
                <a:lnTo>
                  <a:pt x="4389933" y="1305585"/>
                </a:lnTo>
                <a:lnTo>
                  <a:pt x="4389958" y="1305318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456579" y="3314902"/>
            <a:ext cx="14560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Application Platform Infrastructure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848185" y="1458164"/>
            <a:ext cx="4893310" cy="3675379"/>
            <a:chOff x="6848185" y="1458164"/>
            <a:chExt cx="4893310" cy="3675379"/>
          </a:xfrm>
        </p:grpSpPr>
        <p:sp>
          <p:nvSpPr>
            <p:cNvPr id="48" name="object 48"/>
            <p:cNvSpPr/>
            <p:nvPr/>
          </p:nvSpPr>
          <p:spPr>
            <a:xfrm>
              <a:off x="10988927" y="1458164"/>
              <a:ext cx="752475" cy="1355090"/>
            </a:xfrm>
            <a:custGeom>
              <a:avLst/>
              <a:gdLst/>
              <a:ahLst/>
              <a:cxnLst/>
              <a:rect l="l" t="t" r="r" b="b"/>
              <a:pathLst>
                <a:path w="752475" h="1355089">
                  <a:moveTo>
                    <a:pt x="751973" y="1354654"/>
                  </a:moveTo>
                  <a:lnTo>
                    <a:pt x="0" y="1354654"/>
                  </a:lnTo>
                  <a:lnTo>
                    <a:pt x="0" y="0"/>
                  </a:lnTo>
                  <a:lnTo>
                    <a:pt x="751973" y="0"/>
                  </a:lnTo>
                  <a:lnTo>
                    <a:pt x="751973" y="1354654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7151" y="1941073"/>
              <a:ext cx="74799" cy="7479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1061941" y="1520989"/>
              <a:ext cx="495300" cy="264160"/>
            </a:xfrm>
            <a:custGeom>
              <a:avLst/>
              <a:gdLst/>
              <a:ahLst/>
              <a:cxnLst/>
              <a:rect l="l" t="t" r="r" b="b"/>
              <a:pathLst>
                <a:path w="495300" h="264160">
                  <a:moveTo>
                    <a:pt x="494880" y="148145"/>
                  </a:moveTo>
                  <a:lnTo>
                    <a:pt x="0" y="148145"/>
                  </a:lnTo>
                  <a:lnTo>
                    <a:pt x="0" y="264109"/>
                  </a:lnTo>
                  <a:lnTo>
                    <a:pt x="494880" y="264109"/>
                  </a:lnTo>
                  <a:lnTo>
                    <a:pt x="494880" y="148145"/>
                  </a:lnTo>
                  <a:close/>
                </a:path>
                <a:path w="495300" h="264160">
                  <a:moveTo>
                    <a:pt x="494880" y="0"/>
                  </a:moveTo>
                  <a:lnTo>
                    <a:pt x="0" y="0"/>
                  </a:lnTo>
                  <a:lnTo>
                    <a:pt x="0" y="115976"/>
                  </a:lnTo>
                  <a:lnTo>
                    <a:pt x="494880" y="115976"/>
                  </a:lnTo>
                  <a:lnTo>
                    <a:pt x="494880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48182" y="2377693"/>
              <a:ext cx="4775200" cy="2755900"/>
            </a:xfrm>
            <a:custGeom>
              <a:avLst/>
              <a:gdLst/>
              <a:ahLst/>
              <a:cxnLst/>
              <a:rect l="l" t="t" r="r" b="b"/>
              <a:pathLst>
                <a:path w="4775200" h="2755900">
                  <a:moveTo>
                    <a:pt x="425945" y="1927377"/>
                  </a:moveTo>
                  <a:lnTo>
                    <a:pt x="0" y="1927377"/>
                  </a:lnTo>
                  <a:lnTo>
                    <a:pt x="0" y="2755823"/>
                  </a:lnTo>
                  <a:lnTo>
                    <a:pt x="425945" y="2755823"/>
                  </a:lnTo>
                  <a:lnTo>
                    <a:pt x="425945" y="1927377"/>
                  </a:lnTo>
                  <a:close/>
                </a:path>
                <a:path w="4775200" h="2755900">
                  <a:moveTo>
                    <a:pt x="4279735" y="12"/>
                  </a:moveTo>
                  <a:lnTo>
                    <a:pt x="4253433" y="12"/>
                  </a:lnTo>
                  <a:lnTo>
                    <a:pt x="4253433" y="435127"/>
                  </a:lnTo>
                  <a:lnTo>
                    <a:pt x="4279735" y="435127"/>
                  </a:lnTo>
                  <a:lnTo>
                    <a:pt x="4279735" y="12"/>
                  </a:lnTo>
                  <a:close/>
                </a:path>
                <a:path w="4775200" h="2755900">
                  <a:moveTo>
                    <a:pt x="4324718" y="0"/>
                  </a:moveTo>
                  <a:lnTo>
                    <a:pt x="4298442" y="0"/>
                  </a:lnTo>
                  <a:lnTo>
                    <a:pt x="4298442" y="435127"/>
                  </a:lnTo>
                  <a:lnTo>
                    <a:pt x="4324718" y="435127"/>
                  </a:lnTo>
                  <a:lnTo>
                    <a:pt x="4324718" y="0"/>
                  </a:lnTo>
                  <a:close/>
                </a:path>
                <a:path w="4775200" h="2755900">
                  <a:moveTo>
                    <a:pt x="4369714" y="0"/>
                  </a:moveTo>
                  <a:lnTo>
                    <a:pt x="4343412" y="0"/>
                  </a:lnTo>
                  <a:lnTo>
                    <a:pt x="4343412" y="435127"/>
                  </a:lnTo>
                  <a:lnTo>
                    <a:pt x="4369714" y="435127"/>
                  </a:lnTo>
                  <a:lnTo>
                    <a:pt x="4369714" y="0"/>
                  </a:lnTo>
                  <a:close/>
                </a:path>
                <a:path w="4775200" h="2755900">
                  <a:moveTo>
                    <a:pt x="4414685" y="0"/>
                  </a:moveTo>
                  <a:lnTo>
                    <a:pt x="4388409" y="0"/>
                  </a:lnTo>
                  <a:lnTo>
                    <a:pt x="4388409" y="435127"/>
                  </a:lnTo>
                  <a:lnTo>
                    <a:pt x="4414685" y="435127"/>
                  </a:lnTo>
                  <a:lnTo>
                    <a:pt x="4414685" y="0"/>
                  </a:lnTo>
                  <a:close/>
                </a:path>
                <a:path w="4775200" h="2755900">
                  <a:moveTo>
                    <a:pt x="4459694" y="12"/>
                  </a:moveTo>
                  <a:lnTo>
                    <a:pt x="4433392" y="12"/>
                  </a:lnTo>
                  <a:lnTo>
                    <a:pt x="4433392" y="435127"/>
                  </a:lnTo>
                  <a:lnTo>
                    <a:pt x="4459694" y="435127"/>
                  </a:lnTo>
                  <a:lnTo>
                    <a:pt x="4459694" y="12"/>
                  </a:lnTo>
                  <a:close/>
                </a:path>
                <a:path w="4775200" h="2755900">
                  <a:moveTo>
                    <a:pt x="4504690" y="0"/>
                  </a:moveTo>
                  <a:lnTo>
                    <a:pt x="4478388" y="0"/>
                  </a:lnTo>
                  <a:lnTo>
                    <a:pt x="4478388" y="435127"/>
                  </a:lnTo>
                  <a:lnTo>
                    <a:pt x="4504690" y="435127"/>
                  </a:lnTo>
                  <a:lnTo>
                    <a:pt x="4504690" y="0"/>
                  </a:lnTo>
                  <a:close/>
                </a:path>
                <a:path w="4775200" h="2755900">
                  <a:moveTo>
                    <a:pt x="4549660" y="0"/>
                  </a:moveTo>
                  <a:lnTo>
                    <a:pt x="4523384" y="0"/>
                  </a:lnTo>
                  <a:lnTo>
                    <a:pt x="4523384" y="435127"/>
                  </a:lnTo>
                  <a:lnTo>
                    <a:pt x="4549660" y="435127"/>
                  </a:lnTo>
                  <a:lnTo>
                    <a:pt x="4549660" y="0"/>
                  </a:lnTo>
                  <a:close/>
                </a:path>
                <a:path w="4775200" h="2755900">
                  <a:moveTo>
                    <a:pt x="4594657" y="0"/>
                  </a:moveTo>
                  <a:lnTo>
                    <a:pt x="4568368" y="0"/>
                  </a:lnTo>
                  <a:lnTo>
                    <a:pt x="4568368" y="435127"/>
                  </a:lnTo>
                  <a:lnTo>
                    <a:pt x="4594657" y="435127"/>
                  </a:lnTo>
                  <a:lnTo>
                    <a:pt x="4594657" y="0"/>
                  </a:lnTo>
                  <a:close/>
                </a:path>
                <a:path w="4775200" h="2755900">
                  <a:moveTo>
                    <a:pt x="4639640" y="0"/>
                  </a:moveTo>
                  <a:lnTo>
                    <a:pt x="4613364" y="0"/>
                  </a:lnTo>
                  <a:lnTo>
                    <a:pt x="4613364" y="435127"/>
                  </a:lnTo>
                  <a:lnTo>
                    <a:pt x="4639640" y="435127"/>
                  </a:lnTo>
                  <a:lnTo>
                    <a:pt x="4639640" y="0"/>
                  </a:lnTo>
                  <a:close/>
                </a:path>
                <a:path w="4775200" h="2755900">
                  <a:moveTo>
                    <a:pt x="4684636" y="0"/>
                  </a:moveTo>
                  <a:lnTo>
                    <a:pt x="4658334" y="0"/>
                  </a:lnTo>
                  <a:lnTo>
                    <a:pt x="4658334" y="435127"/>
                  </a:lnTo>
                  <a:lnTo>
                    <a:pt x="4684636" y="435127"/>
                  </a:lnTo>
                  <a:lnTo>
                    <a:pt x="4684636" y="0"/>
                  </a:lnTo>
                  <a:close/>
                </a:path>
                <a:path w="4775200" h="2755900">
                  <a:moveTo>
                    <a:pt x="4729607" y="0"/>
                  </a:moveTo>
                  <a:lnTo>
                    <a:pt x="4703343" y="0"/>
                  </a:lnTo>
                  <a:lnTo>
                    <a:pt x="4703343" y="435127"/>
                  </a:lnTo>
                  <a:lnTo>
                    <a:pt x="4729607" y="435127"/>
                  </a:lnTo>
                  <a:lnTo>
                    <a:pt x="4729607" y="0"/>
                  </a:lnTo>
                  <a:close/>
                </a:path>
                <a:path w="4775200" h="2755900">
                  <a:moveTo>
                    <a:pt x="4774616" y="0"/>
                  </a:moveTo>
                  <a:lnTo>
                    <a:pt x="4748314" y="0"/>
                  </a:lnTo>
                  <a:lnTo>
                    <a:pt x="4748314" y="435127"/>
                  </a:lnTo>
                  <a:lnTo>
                    <a:pt x="4774616" y="435127"/>
                  </a:lnTo>
                  <a:lnTo>
                    <a:pt x="477461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878104" y="4321352"/>
              <a:ext cx="366395" cy="795020"/>
            </a:xfrm>
            <a:custGeom>
              <a:avLst/>
              <a:gdLst/>
              <a:ahLst/>
              <a:cxnLst/>
              <a:rect l="l" t="t" r="r" b="b"/>
              <a:pathLst>
                <a:path w="366395" h="795020">
                  <a:moveTo>
                    <a:pt x="211226" y="754862"/>
                  </a:moveTo>
                  <a:lnTo>
                    <a:pt x="208254" y="746912"/>
                  </a:lnTo>
                  <a:lnTo>
                    <a:pt x="197700" y="735139"/>
                  </a:lnTo>
                  <a:lnTo>
                    <a:pt x="190525" y="731837"/>
                  </a:lnTo>
                  <a:lnTo>
                    <a:pt x="183045" y="731837"/>
                  </a:lnTo>
                  <a:lnTo>
                    <a:pt x="172097" y="734301"/>
                  </a:lnTo>
                  <a:lnTo>
                    <a:pt x="163144" y="741019"/>
                  </a:lnTo>
                  <a:lnTo>
                    <a:pt x="157111" y="750989"/>
                  </a:lnTo>
                  <a:lnTo>
                    <a:pt x="154901" y="763193"/>
                  </a:lnTo>
                  <a:lnTo>
                    <a:pt x="157111" y="775398"/>
                  </a:lnTo>
                  <a:lnTo>
                    <a:pt x="163144" y="785368"/>
                  </a:lnTo>
                  <a:lnTo>
                    <a:pt x="172097" y="792086"/>
                  </a:lnTo>
                  <a:lnTo>
                    <a:pt x="183045" y="794537"/>
                  </a:lnTo>
                  <a:lnTo>
                    <a:pt x="194017" y="792086"/>
                  </a:lnTo>
                  <a:lnTo>
                    <a:pt x="202971" y="785368"/>
                  </a:lnTo>
                  <a:lnTo>
                    <a:pt x="209003" y="775398"/>
                  </a:lnTo>
                  <a:lnTo>
                    <a:pt x="211226" y="763193"/>
                  </a:lnTo>
                  <a:lnTo>
                    <a:pt x="211226" y="754862"/>
                  </a:lnTo>
                  <a:close/>
                </a:path>
                <a:path w="366395" h="795020">
                  <a:moveTo>
                    <a:pt x="268897" y="10375"/>
                  </a:moveTo>
                  <a:lnTo>
                    <a:pt x="267576" y="6769"/>
                  </a:lnTo>
                  <a:lnTo>
                    <a:pt x="262826" y="1473"/>
                  </a:lnTo>
                  <a:lnTo>
                    <a:pt x="259600" y="0"/>
                  </a:lnTo>
                  <a:lnTo>
                    <a:pt x="249224" y="0"/>
                  </a:lnTo>
                  <a:lnTo>
                    <a:pt x="243547" y="6324"/>
                  </a:lnTo>
                  <a:lnTo>
                    <a:pt x="243547" y="14097"/>
                  </a:lnTo>
                  <a:lnTo>
                    <a:pt x="243547" y="21894"/>
                  </a:lnTo>
                  <a:lnTo>
                    <a:pt x="249224" y="28194"/>
                  </a:lnTo>
                  <a:lnTo>
                    <a:pt x="263220" y="28194"/>
                  </a:lnTo>
                  <a:lnTo>
                    <a:pt x="268897" y="21894"/>
                  </a:lnTo>
                  <a:lnTo>
                    <a:pt x="268897" y="10375"/>
                  </a:lnTo>
                  <a:close/>
                </a:path>
                <a:path w="366395" h="795020">
                  <a:moveTo>
                    <a:pt x="366128" y="44475"/>
                  </a:moveTo>
                  <a:lnTo>
                    <a:pt x="0" y="44475"/>
                  </a:lnTo>
                  <a:lnTo>
                    <a:pt x="0" y="710298"/>
                  </a:lnTo>
                  <a:lnTo>
                    <a:pt x="366128" y="710298"/>
                  </a:lnTo>
                  <a:lnTo>
                    <a:pt x="366128" y="44475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28160" y="4334141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904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0922168" y="2932805"/>
            <a:ext cx="98673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Desktop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67720" y="5134142"/>
            <a:ext cx="8953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Phones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034372" y="5388135"/>
            <a:ext cx="84570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Tablets</a:t>
            </a:r>
            <a:endParaRPr sz="1800" dirty="0">
              <a:latin typeface="Carlito"/>
              <a:cs typeface="Carlito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0847902" y="4484965"/>
            <a:ext cx="1143000" cy="937894"/>
            <a:chOff x="10847902" y="4484965"/>
            <a:chExt cx="1143000" cy="937894"/>
          </a:xfrm>
        </p:grpSpPr>
        <p:sp>
          <p:nvSpPr>
            <p:cNvPr id="58" name="object 58"/>
            <p:cNvSpPr/>
            <p:nvPr/>
          </p:nvSpPr>
          <p:spPr>
            <a:xfrm>
              <a:off x="10847902" y="4484965"/>
              <a:ext cx="1143000" cy="937894"/>
            </a:xfrm>
            <a:custGeom>
              <a:avLst/>
              <a:gdLst/>
              <a:ahLst/>
              <a:cxnLst/>
              <a:rect l="l" t="t" r="r" b="b"/>
              <a:pathLst>
                <a:path w="1143000" h="937895">
                  <a:moveTo>
                    <a:pt x="1142997" y="937273"/>
                  </a:moveTo>
                  <a:lnTo>
                    <a:pt x="0" y="937273"/>
                  </a:lnTo>
                  <a:lnTo>
                    <a:pt x="0" y="0"/>
                  </a:lnTo>
                  <a:lnTo>
                    <a:pt x="1142997" y="0"/>
                  </a:lnTo>
                  <a:lnTo>
                    <a:pt x="1142997" y="93727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931702" y="4550790"/>
              <a:ext cx="918844" cy="805815"/>
            </a:xfrm>
            <a:custGeom>
              <a:avLst/>
              <a:gdLst/>
              <a:ahLst/>
              <a:cxnLst/>
              <a:rect l="l" t="t" r="r" b="b"/>
              <a:pathLst>
                <a:path w="918845" h="805814">
                  <a:moveTo>
                    <a:pt x="918623" y="805623"/>
                  </a:moveTo>
                  <a:lnTo>
                    <a:pt x="0" y="805623"/>
                  </a:lnTo>
                  <a:lnTo>
                    <a:pt x="0" y="0"/>
                  </a:lnTo>
                  <a:lnTo>
                    <a:pt x="918623" y="0"/>
                  </a:lnTo>
                  <a:lnTo>
                    <a:pt x="918623" y="805623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0076" y="4891640"/>
              <a:ext cx="86499" cy="123924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0870328" y="4764690"/>
              <a:ext cx="39370" cy="55880"/>
            </a:xfrm>
            <a:custGeom>
              <a:avLst/>
              <a:gdLst/>
              <a:ahLst/>
              <a:cxnLst/>
              <a:rect l="l" t="t" r="r" b="b"/>
              <a:pathLst>
                <a:path w="39370" h="55879">
                  <a:moveTo>
                    <a:pt x="19474" y="55774"/>
                  </a:moveTo>
                  <a:lnTo>
                    <a:pt x="11896" y="53585"/>
                  </a:lnTo>
                  <a:lnTo>
                    <a:pt x="5706" y="47612"/>
                  </a:lnTo>
                  <a:lnTo>
                    <a:pt x="1531" y="38752"/>
                  </a:lnTo>
                  <a:lnTo>
                    <a:pt x="0" y="27899"/>
                  </a:lnTo>
                  <a:lnTo>
                    <a:pt x="1531" y="17043"/>
                  </a:lnTo>
                  <a:lnTo>
                    <a:pt x="5706" y="8174"/>
                  </a:lnTo>
                  <a:lnTo>
                    <a:pt x="11896" y="2193"/>
                  </a:lnTo>
                  <a:lnTo>
                    <a:pt x="19474" y="0"/>
                  </a:lnTo>
                  <a:lnTo>
                    <a:pt x="27049" y="2193"/>
                  </a:lnTo>
                  <a:lnTo>
                    <a:pt x="33231" y="8174"/>
                  </a:lnTo>
                  <a:lnTo>
                    <a:pt x="37397" y="17043"/>
                  </a:lnTo>
                  <a:lnTo>
                    <a:pt x="38924" y="27899"/>
                  </a:lnTo>
                  <a:lnTo>
                    <a:pt x="37397" y="38752"/>
                  </a:lnTo>
                  <a:lnTo>
                    <a:pt x="33231" y="47612"/>
                  </a:lnTo>
                  <a:lnTo>
                    <a:pt x="27049" y="53585"/>
                  </a:lnTo>
                  <a:lnTo>
                    <a:pt x="19474" y="55774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888002" y="4917289"/>
              <a:ext cx="0" cy="109220"/>
            </a:xfrm>
            <a:custGeom>
              <a:avLst/>
              <a:gdLst/>
              <a:ahLst/>
              <a:cxnLst/>
              <a:rect l="l" t="t" r="r" b="b"/>
              <a:pathLst>
                <a:path h="109220">
                  <a:moveTo>
                    <a:pt x="0" y="10892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7728175" y="5552463"/>
            <a:ext cx="28822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rlito"/>
                <a:cs typeface="Carlito"/>
              </a:rPr>
              <a:t>Cloud</a:t>
            </a:r>
            <a:r>
              <a:rPr sz="3200" spc="-10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Computing</a:t>
            </a:r>
            <a:endParaRPr sz="3200">
              <a:latin typeface="Carlito"/>
              <a:cs typeface="Carlito"/>
            </a:endParaRPr>
          </a:p>
        </p:txBody>
      </p:sp>
      <p:pic>
        <p:nvPicPr>
          <p:cNvPr id="64" name="object 6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spc="-20" dirty="0"/>
          </a:p>
        </p:txBody>
      </p:sp>
      <p:sp>
        <p:nvSpPr>
          <p:cNvPr id="66" name="object 6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8160" y="368055"/>
            <a:ext cx="7954437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8915">
              <a:lnSpc>
                <a:spcPct val="100000"/>
              </a:lnSpc>
              <a:spcBef>
                <a:spcPts val="100"/>
              </a:spcBef>
            </a:pPr>
            <a:r>
              <a:rPr dirty="0"/>
              <a:t>Many</a:t>
            </a:r>
            <a:r>
              <a:rPr spc="-125" dirty="0"/>
              <a:t> </a:t>
            </a:r>
            <a:r>
              <a:rPr dirty="0"/>
              <a:t>Cloud</a:t>
            </a:r>
            <a:r>
              <a:rPr spc="-125" dirty="0"/>
              <a:t> </a:t>
            </a:r>
            <a:r>
              <a:rPr spc="-10" dirty="0"/>
              <a:t>Providers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2486" y="1410322"/>
            <a:ext cx="5502910" cy="430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ts val="3315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AWS: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Amazon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Web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Services</a:t>
            </a:r>
            <a:endParaRPr sz="28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80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EC2: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Elastic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Cloud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S3: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Storage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Service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82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EBS: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Elastic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Storage</a:t>
            </a:r>
            <a:endParaRPr sz="24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Microsoft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Azure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Google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Engine/AppEngine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Rightscale, Salesforce, </a:t>
            </a:r>
            <a:r>
              <a:rPr sz="2800" spc="-20" dirty="0">
                <a:latin typeface="Times New Roman"/>
                <a:cs typeface="Times New Roman"/>
              </a:rPr>
              <a:t>EMC,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Gigaspaces, 10gen, Datastax, </a:t>
            </a:r>
            <a:r>
              <a:rPr sz="2800" spc="-10" dirty="0">
                <a:latin typeface="Times New Roman"/>
                <a:cs typeface="Times New Roman"/>
              </a:rPr>
              <a:t>Oracle,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VMWare, Yahoo, </a:t>
            </a:r>
            <a:r>
              <a:rPr sz="2800" spc="-10" dirty="0">
                <a:latin typeface="Times New Roman"/>
                <a:cs typeface="Times New Roman"/>
              </a:rPr>
              <a:t>Cloudera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100s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more…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1735" y="1249580"/>
            <a:ext cx="4265241" cy="54337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5"/>
          </p:nvPr>
        </p:nvSpPr>
        <p:spPr>
          <a:xfrm>
            <a:off x="3970366" y="6505561"/>
            <a:ext cx="2743199" cy="177800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44</a:t>
            </a:fld>
            <a:endParaRPr lang="en-US"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742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Cloud-</a:t>
            </a:r>
            <a:r>
              <a:rPr spc="-10" dirty="0"/>
              <a:t>Sourcing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146" y="1343692"/>
            <a:ext cx="7042150" cy="491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ts val="3325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Why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becoming </a:t>
            </a:r>
            <a:r>
              <a:rPr sz="2800" spc="-10" dirty="0">
                <a:latin typeface="Times New Roman"/>
                <a:cs typeface="Times New Roman"/>
              </a:rPr>
              <a:t>important?</a:t>
            </a:r>
            <a:endParaRPr sz="28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9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Using </a:t>
            </a:r>
            <a:r>
              <a:rPr sz="2400" spc="-10" dirty="0">
                <a:latin typeface="Times New Roman"/>
                <a:cs typeface="Times New Roman"/>
              </a:rPr>
              <a:t>high-scale/low-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providers,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time/place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browser,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Rapid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scalability;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incremental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sharing,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82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forget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15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87325" indent="-174625">
              <a:lnSpc>
                <a:spcPts val="3315"/>
              </a:lnSpc>
              <a:buFont typeface="Arial"/>
              <a:buChar char="•"/>
              <a:tabLst>
                <a:tab pos="187325" algn="l"/>
              </a:tabLst>
            </a:pPr>
            <a:r>
              <a:rPr sz="2800" spc="-10" dirty="0">
                <a:latin typeface="Times New Roman"/>
                <a:cs typeface="Times New Roman"/>
              </a:rPr>
              <a:t>Concerns:</a:t>
            </a:r>
            <a:endParaRPr sz="28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80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Performance, reliability, and </a:t>
            </a:r>
            <a:r>
              <a:rPr sz="2400" spc="-10" dirty="0">
                <a:latin typeface="Times New Roman"/>
                <a:cs typeface="Times New Roman"/>
              </a:rPr>
              <a:t>SLAs,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parameters,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features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choices,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Interaction between Cloud </a:t>
            </a:r>
            <a:r>
              <a:rPr sz="2400" spc="-10" dirty="0">
                <a:latin typeface="Times New Roman"/>
                <a:cs typeface="Times New Roman"/>
              </a:rPr>
              <a:t>providers,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77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SOAP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REST!</a:t>
            </a:r>
            <a:endParaRPr sz="24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82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Privacy, security, compliance, </a:t>
            </a:r>
            <a:r>
              <a:rPr sz="2400" spc="-10" dirty="0">
                <a:latin typeface="Times New Roman"/>
                <a:cs typeface="Times New Roman"/>
              </a:rPr>
              <a:t>trust…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1" y="29190"/>
            <a:ext cx="1371597" cy="1371596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>
            <a:off x="5943600" y="6467713"/>
            <a:ext cx="1785923" cy="177800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45</a:t>
            </a:fld>
            <a:endParaRPr lang="en-US"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8781" y="639170"/>
            <a:ext cx="89566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</a:t>
            </a:r>
            <a:r>
              <a:rPr spc="-10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Cloud</a:t>
            </a:r>
            <a:r>
              <a:rPr spc="-10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545" y="1768525"/>
            <a:ext cx="9133840" cy="3971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ts val="3325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Lower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costs</a:t>
            </a:r>
            <a:endParaRPr sz="2800">
              <a:latin typeface="Times New Roman"/>
              <a:cs typeface="Times New Roman"/>
            </a:endParaRPr>
          </a:p>
          <a:p>
            <a:pPr marL="643255" marR="372110" lvl="1" indent="-181610">
              <a:lnSpc>
                <a:spcPct val="79000"/>
              </a:lnSpc>
              <a:spcBef>
                <a:spcPts val="570"/>
              </a:spcBef>
              <a:buFont typeface="Arial"/>
              <a:buChar char="•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high-powered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high-priced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</a:t>
            </a:r>
            <a:r>
              <a:rPr sz="2400" spc="-10" dirty="0">
                <a:latin typeface="Times New Roman"/>
                <a:cs typeface="Times New Roman"/>
              </a:rPr>
              <a:t> cloud 	</a:t>
            </a:r>
            <a:r>
              <a:rPr sz="2400" dirty="0">
                <a:latin typeface="Times New Roman"/>
                <a:cs typeface="Times New Roman"/>
              </a:rPr>
              <a:t>computing's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web-based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applications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65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87325" indent="-174625">
              <a:lnSpc>
                <a:spcPts val="3315"/>
              </a:lnSpc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Improved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performance</a:t>
            </a:r>
            <a:endParaRPr sz="2800">
              <a:latin typeface="Times New Roman"/>
              <a:cs typeface="Times New Roman"/>
            </a:endParaRPr>
          </a:p>
          <a:p>
            <a:pPr marL="643255" marR="5080" lvl="1" indent="-181610">
              <a:lnSpc>
                <a:spcPct val="79000"/>
              </a:lnSpc>
              <a:spcBef>
                <a:spcPts val="560"/>
              </a:spcBef>
              <a:buFont typeface="Arial"/>
              <a:buChar char="•"/>
              <a:tabLst>
                <a:tab pos="645160" algn="l"/>
              </a:tabLst>
            </a:pPr>
            <a:r>
              <a:rPr sz="2400" dirty="0">
                <a:latin typeface="Times New Roman"/>
                <a:cs typeface="Times New Roman"/>
              </a:rPr>
              <a:t>Cloud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faster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fewer 	</a:t>
            </a:r>
            <a:r>
              <a:rPr sz="2400" dirty="0">
                <a:latin typeface="Times New Roman"/>
                <a:cs typeface="Times New Roman"/>
              </a:rPr>
              <a:t>programs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memory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65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87325" indent="-174625">
              <a:lnSpc>
                <a:spcPts val="3315"/>
              </a:lnSpc>
              <a:spcBef>
                <a:spcPts val="5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Reduced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-20" dirty="0">
                <a:latin typeface="Times New Roman"/>
                <a:cs typeface="Times New Roman"/>
              </a:rPr>
              <a:t> costs</a:t>
            </a:r>
            <a:endParaRPr sz="2800">
              <a:latin typeface="Times New Roman"/>
              <a:cs typeface="Times New Roman"/>
            </a:endParaRPr>
          </a:p>
          <a:p>
            <a:pPr marL="643255" lvl="1" indent="-181610">
              <a:lnSpc>
                <a:spcPts val="2835"/>
              </a:lnSpc>
              <a:buFont typeface="Arial"/>
              <a:buChar char="•"/>
              <a:tabLst>
                <a:tab pos="643255" algn="l"/>
              </a:tabLst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purchase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expensive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>
            <a:off x="4876800" y="6467713"/>
            <a:ext cx="1981199" cy="177800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46</a:t>
            </a:fld>
            <a:endParaRPr lang="en-US"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8781" y="639170"/>
            <a:ext cx="919988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</a:t>
            </a:r>
            <a:r>
              <a:rPr spc="-10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Cloud</a:t>
            </a:r>
            <a:r>
              <a:rPr spc="-10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545" y="1619783"/>
            <a:ext cx="9822180" cy="429260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Instant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updates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Unlimited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storage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capacity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Increased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reliability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(crash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hard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drive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destroy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valuable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data)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Universal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access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Latest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version</a:t>
            </a:r>
            <a:r>
              <a:rPr sz="2800" spc="-10" dirty="0">
                <a:latin typeface="Times New Roman"/>
                <a:cs typeface="Times New Roman"/>
              </a:rPr>
              <a:t> availability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Easier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group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collaboration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187325" algn="l"/>
              </a:tabLst>
            </a:pPr>
            <a:r>
              <a:rPr sz="2800" dirty="0">
                <a:latin typeface="Times New Roman"/>
                <a:cs typeface="Times New Roman"/>
              </a:rPr>
              <a:t>Device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independence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>
            <a:off x="4982673" y="6465471"/>
            <a:ext cx="1785923" cy="177800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47</a:t>
            </a:fld>
            <a:endParaRPr lang="en-US" spc="-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8781" y="639170"/>
            <a:ext cx="89566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Disadvantages</a:t>
            </a:r>
            <a:r>
              <a:rPr spc="-114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dirty="0"/>
              <a:t>Cloud</a:t>
            </a:r>
            <a:r>
              <a:rPr spc="-11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6477" y="1646656"/>
            <a:ext cx="10276205" cy="433705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205104" indent="-192405">
              <a:lnSpc>
                <a:spcPct val="100000"/>
              </a:lnSpc>
              <a:spcBef>
                <a:spcPts val="1280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Requires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constant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internet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connection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Does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not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work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well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with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low-</a:t>
            </a:r>
            <a:r>
              <a:rPr sz="1850" dirty="0">
                <a:latin typeface="Times New Roman"/>
                <a:cs typeface="Times New Roman"/>
              </a:rPr>
              <a:t>speed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connections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Features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might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limited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Application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slow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Stored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might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not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secured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Stored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lost!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Not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clear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you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run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compute-</a:t>
            </a:r>
            <a:r>
              <a:rPr sz="1850" dirty="0">
                <a:latin typeface="Times New Roman"/>
                <a:cs typeface="Times New Roman"/>
              </a:rPr>
              <a:t>intensive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HPC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applications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MPI/OpenMP</a:t>
            </a:r>
            <a:endParaRPr sz="1850">
              <a:latin typeface="Times New Roman"/>
              <a:cs typeface="Times New Roman"/>
            </a:endParaRPr>
          </a:p>
          <a:p>
            <a:pPr marL="205104" indent="-192405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05104" algn="l"/>
              </a:tabLst>
            </a:pPr>
            <a:r>
              <a:rPr sz="1850" dirty="0">
                <a:latin typeface="Times New Roman"/>
                <a:cs typeface="Times New Roman"/>
              </a:rPr>
              <a:t>General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Concerns</a:t>
            </a:r>
            <a:endParaRPr sz="1850">
              <a:latin typeface="Times New Roman"/>
              <a:cs typeface="Times New Roman"/>
            </a:endParaRPr>
          </a:p>
          <a:p>
            <a:pPr marL="661670" lvl="1" indent="-192405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661670" algn="l"/>
              </a:tabLst>
            </a:pPr>
            <a:r>
              <a:rPr sz="1850" dirty="0">
                <a:latin typeface="Times New Roman"/>
                <a:cs typeface="Times New Roman"/>
              </a:rPr>
              <a:t>Each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cloud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different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protocols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different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APIs</a:t>
            </a:r>
            <a:endParaRPr sz="1850">
              <a:latin typeface="Times New Roman"/>
              <a:cs typeface="Times New Roman"/>
            </a:endParaRPr>
          </a:p>
          <a:p>
            <a:pPr marL="1120775" lvl="2" indent="-197485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1120775" algn="l"/>
              </a:tabLst>
            </a:pPr>
            <a:r>
              <a:rPr sz="1650" dirty="0">
                <a:latin typeface="Times New Roman"/>
                <a:cs typeface="Times New Roman"/>
              </a:rPr>
              <a:t>may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not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be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possible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run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applications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between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cloud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based</a:t>
            </a:r>
            <a:r>
              <a:rPr sz="1650" spc="-10" dirty="0">
                <a:latin typeface="Times New Roman"/>
                <a:cs typeface="Times New Roman"/>
              </a:rPr>
              <a:t> systems</a:t>
            </a:r>
            <a:endParaRPr sz="1650">
              <a:latin typeface="Times New Roman"/>
              <a:cs typeface="Times New Roman"/>
            </a:endParaRPr>
          </a:p>
          <a:p>
            <a:pPr marL="661670" marR="5080" lvl="1" indent="-192405">
              <a:lnSpc>
                <a:spcPct val="78800"/>
              </a:lnSpc>
              <a:spcBef>
                <a:spcPts val="535"/>
              </a:spcBef>
              <a:buFont typeface="Arial"/>
              <a:buChar char="•"/>
              <a:tabLst>
                <a:tab pos="662940" algn="l"/>
              </a:tabLst>
            </a:pPr>
            <a:r>
              <a:rPr sz="1850" dirty="0">
                <a:latin typeface="Times New Roman"/>
                <a:cs typeface="Times New Roman"/>
              </a:rPr>
              <a:t>Amazon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has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created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its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own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DB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(not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SQL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92),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workflow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system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(many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popular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workflow 	</a:t>
            </a:r>
            <a:r>
              <a:rPr sz="1850" dirty="0">
                <a:latin typeface="Times New Roman"/>
                <a:cs typeface="Times New Roman"/>
              </a:rPr>
              <a:t>systems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out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there)</a:t>
            </a:r>
            <a:endParaRPr sz="1850">
              <a:latin typeface="Times New Roman"/>
              <a:cs typeface="Times New Roman"/>
            </a:endParaRPr>
          </a:p>
          <a:p>
            <a:pPr marL="1120775" lvl="2" indent="-197485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1120775" algn="l"/>
              </a:tabLst>
            </a:pPr>
            <a:r>
              <a:rPr sz="1650" dirty="0">
                <a:latin typeface="Times New Roman"/>
                <a:cs typeface="Times New Roman"/>
              </a:rPr>
              <a:t>so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your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normal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applications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will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have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be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adapted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execute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on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these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platforms.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>
            <a:off x="4953000" y="6556613"/>
            <a:ext cx="1785923" cy="177800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48</a:t>
            </a:fld>
            <a:endParaRPr lang="en-US"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6000" dirty="0"/>
              <a:t>Thank</a:t>
            </a:r>
            <a:r>
              <a:rPr sz="6000" spc="-25" dirty="0"/>
              <a:t> </a:t>
            </a:r>
            <a:r>
              <a:rPr sz="6000" spc="-20" dirty="0"/>
              <a:t>you!</a:t>
            </a:r>
            <a:endParaRPr sz="6000"/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400" dirty="0">
                <a:solidFill>
                  <a:srgbClr val="878787"/>
                </a:solidFill>
              </a:rPr>
              <a:t>Any</a:t>
            </a:r>
            <a:r>
              <a:rPr sz="2400" spc="-55" dirty="0">
                <a:solidFill>
                  <a:srgbClr val="878787"/>
                </a:solidFill>
              </a:rPr>
              <a:t> </a:t>
            </a:r>
            <a:r>
              <a:rPr sz="2400" spc="-10" dirty="0">
                <a:solidFill>
                  <a:srgbClr val="878787"/>
                </a:solidFill>
              </a:rPr>
              <a:t>Questions???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74" y="228124"/>
            <a:ext cx="1344374" cy="9758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100866" y="6429613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78787"/>
                </a:solidFill>
                <a:latin typeface="Carlito"/>
                <a:cs typeface="Carlito"/>
              </a:rPr>
              <a:t>49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>
            <a:off x="4953000" y="6526718"/>
            <a:ext cx="1785923" cy="153888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20"/>
              <a:t>.</a:t>
            </a:r>
            <a:endParaRPr lang="en-US" spc="-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49</a:t>
            </a:fld>
            <a:endParaRPr lang="en-US"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1109</Words>
  <Application>Microsoft Office PowerPoint</Application>
  <PresentationFormat>Widescreen</PresentationFormat>
  <Paragraphs>297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Carlito</vt:lpstr>
      <vt:lpstr>Times New Roman</vt:lpstr>
      <vt:lpstr>Office Theme</vt:lpstr>
      <vt:lpstr>  Parallel and Distributed/Cloud  Computing</vt:lpstr>
      <vt:lpstr>Recap</vt:lpstr>
      <vt:lpstr>Cloud Computing</vt:lpstr>
      <vt:lpstr>Why Cloud Computing?</vt:lpstr>
      <vt:lpstr>Why Cloud Computing?</vt:lpstr>
      <vt:lpstr>Why Cloud Computing?</vt:lpstr>
      <vt:lpstr>Why Cloud Computing?</vt:lpstr>
      <vt:lpstr>Why Cloud Computing?</vt:lpstr>
      <vt:lpstr>Why Cloud Computing?</vt:lpstr>
      <vt:lpstr>What is Cloud Computing?</vt:lpstr>
      <vt:lpstr>What is Cloud Computing?</vt:lpstr>
      <vt:lpstr>Evolution of Cloud Computing</vt:lpstr>
      <vt:lpstr>Key Enabling Technologies</vt:lpstr>
      <vt:lpstr>Five Key Cloud Characteristics</vt:lpstr>
      <vt:lpstr>Types of Cloud Computing</vt:lpstr>
      <vt:lpstr>Types of Cloud Computing</vt:lpstr>
      <vt:lpstr>Deployment Models</vt:lpstr>
      <vt:lpstr>Deployment Models</vt:lpstr>
      <vt:lpstr>Types of Deployment Models</vt:lpstr>
      <vt:lpstr>Types of Deployment Models</vt:lpstr>
      <vt:lpstr>Public Cloud</vt:lpstr>
      <vt:lpstr>Private Cloud</vt:lpstr>
      <vt:lpstr>Hybrid Cloud</vt:lpstr>
      <vt:lpstr>Service Models</vt:lpstr>
      <vt:lpstr>Types of Service Models</vt:lpstr>
      <vt:lpstr>Types of Service Models</vt:lpstr>
      <vt:lpstr>IaaS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Essentials Characteristics of Cloud Computing</vt:lpstr>
      <vt:lpstr>Common Characteristics</vt:lpstr>
      <vt:lpstr>Typical Computing Pattern</vt:lpstr>
      <vt:lpstr>Typical Computing Pattern</vt:lpstr>
      <vt:lpstr>Typical Computing Pattern</vt:lpstr>
      <vt:lpstr>Typical Computing Pattern</vt:lpstr>
      <vt:lpstr>Cloud Computing Examples</vt:lpstr>
      <vt:lpstr>Cloud Computing Nutshell </vt:lpstr>
      <vt:lpstr>Many Cloud Providers</vt:lpstr>
      <vt:lpstr>Cloud-Sourcing</vt:lpstr>
      <vt:lpstr>Advantages of Cloud Computing</vt:lpstr>
      <vt:lpstr>Advantages of Cloud Computing</vt:lpstr>
      <vt:lpstr>Disadvantages of Cloud Computing</vt:lpstr>
      <vt:lpstr>Thank you! Any Questions???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&amp; Cloud  Computing</dc:title>
  <dc:creator>Raees</dc:creator>
  <cp:lastModifiedBy>Hanseeka Dhingana</cp:lastModifiedBy>
  <cp:revision>13</cp:revision>
  <dcterms:created xsi:type="dcterms:W3CDTF">2024-01-26T02:13:52Z</dcterms:created>
  <dcterms:modified xsi:type="dcterms:W3CDTF">2026-03-11T20:57:11Z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2024-01-26T00:00:00Z</vt:filetime>
  </property>
  <property fmtid="{D5CDD505-2E9C-101B-9397-08002B2CF9AE}" pid="4" name="Producer">
    <vt:lpwstr>3-Heights(TM) PDF Security Shell 4.8.25.2 (http://www.pdf-tools.com)</vt:lpwstr>
  </property>
</Properties>
</file>